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7" r:id="rId6"/>
    <p:sldId id="259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55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764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F2027"/>
            </a:gs>
            <a:gs pos="50000">
              <a:srgbClr val="203A43"/>
            </a:gs>
            <a:gs pos="100000">
              <a:srgbClr val="2C5364"/>
            </a:gs>
          </a:gsLst>
          <a:lin ang="81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8.png"/><Relationship Id="rId3" Type="http://schemas.openxmlformats.org/officeDocument/2006/relationships/image" Target="../media/image69.png"/><Relationship Id="rId7" Type="http://schemas.openxmlformats.org/officeDocument/2006/relationships/image" Target="../media/image6.png"/><Relationship Id="rId12" Type="http://schemas.openxmlformats.org/officeDocument/2006/relationships/image" Target="../media/image77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2.png"/><Relationship Id="rId11" Type="http://schemas.openxmlformats.org/officeDocument/2006/relationships/image" Target="../media/image76.png"/><Relationship Id="rId5" Type="http://schemas.openxmlformats.org/officeDocument/2006/relationships/image" Target="../media/image71.png"/><Relationship Id="rId10" Type="http://schemas.openxmlformats.org/officeDocument/2006/relationships/image" Target="../media/image75.png"/><Relationship Id="rId4" Type="http://schemas.openxmlformats.org/officeDocument/2006/relationships/image" Target="../media/image70.png"/><Relationship Id="rId9" Type="http://schemas.openxmlformats.org/officeDocument/2006/relationships/image" Target="../media/image74.png"/><Relationship Id="rId14" Type="http://schemas.openxmlformats.org/officeDocument/2006/relationships/image" Target="../media/image7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13" Type="http://schemas.openxmlformats.org/officeDocument/2006/relationships/image" Target="../media/image90.png"/><Relationship Id="rId3" Type="http://schemas.openxmlformats.org/officeDocument/2006/relationships/image" Target="../media/image73.png"/><Relationship Id="rId7" Type="http://schemas.openxmlformats.org/officeDocument/2006/relationships/image" Target="../media/image84.png"/><Relationship Id="rId12" Type="http://schemas.openxmlformats.org/officeDocument/2006/relationships/image" Target="../media/image89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11" Type="http://schemas.openxmlformats.org/officeDocument/2006/relationships/image" Target="../media/image88.png"/><Relationship Id="rId5" Type="http://schemas.openxmlformats.org/officeDocument/2006/relationships/image" Target="../media/image82.png"/><Relationship Id="rId15" Type="http://schemas.openxmlformats.org/officeDocument/2006/relationships/image" Target="../media/image92.png"/><Relationship Id="rId10" Type="http://schemas.openxmlformats.org/officeDocument/2006/relationships/image" Target="../media/image87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Relationship Id="rId14" Type="http://schemas.openxmlformats.org/officeDocument/2006/relationships/image" Target="../media/image9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93.png"/><Relationship Id="rId7" Type="http://schemas.openxmlformats.org/officeDocument/2006/relationships/image" Target="../media/image9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11" Type="http://schemas.openxmlformats.org/officeDocument/2006/relationships/image" Target="../media/image79.png"/><Relationship Id="rId5" Type="http://schemas.openxmlformats.org/officeDocument/2006/relationships/image" Target="../media/image95.png"/><Relationship Id="rId10" Type="http://schemas.openxmlformats.org/officeDocument/2006/relationships/image" Target="../media/image100.png"/><Relationship Id="rId4" Type="http://schemas.openxmlformats.org/officeDocument/2006/relationships/image" Target="../media/image94.png"/><Relationship Id="rId9" Type="http://schemas.openxmlformats.org/officeDocument/2006/relationships/image" Target="../media/image9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BCD4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19900"/>
            <a:ext cx="12191695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288D1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181470" y="710971"/>
            <a:ext cx="571485" cy="437744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67253" y="791480"/>
            <a:ext cx="457188" cy="27672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8739" y="710971"/>
            <a:ext cx="571485" cy="4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60058" y="1520481"/>
            <a:ext cx="4071884" cy="93679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5850"/>
              </a:lnSpc>
              <a:spcBef>
                <a:spcPts val="0"/>
              </a:spcBef>
              <a:spcAft>
                <a:spcPts val="1560"/>
              </a:spcAft>
            </a:pPr>
            <a:r>
              <a:rPr sz="7200" b="1" dirty="0" err="1">
                <a:solidFill>
                  <a:srgbClr val="FFFFFF"/>
                </a:solidFill>
                <a:latin typeface="Poppins"/>
              </a:rPr>
              <a:t>Projet</a:t>
            </a:r>
            <a:r>
              <a:rPr sz="7200" b="1" dirty="0">
                <a:solidFill>
                  <a:srgbClr val="FFFFFF"/>
                </a:solidFill>
                <a:latin typeface="Poppins"/>
              </a:rPr>
              <a:t>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6886" y="2965276"/>
            <a:ext cx="11137922" cy="67980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3900"/>
              </a:lnSpc>
              <a:spcBef>
                <a:spcPts val="0"/>
              </a:spcBef>
              <a:spcAft>
                <a:spcPts val="780"/>
              </a:spcAft>
            </a:pPr>
            <a:r>
              <a:rPr sz="5400" b="1" dirty="0" err="1">
                <a:solidFill>
                  <a:srgbClr val="00BCD4"/>
                </a:solidFill>
                <a:latin typeface="Poppins"/>
              </a:rPr>
              <a:t>Prédiction</a:t>
            </a:r>
            <a:r>
              <a:rPr sz="5400" b="1" dirty="0">
                <a:solidFill>
                  <a:srgbClr val="00BCD4"/>
                </a:solidFill>
                <a:latin typeface="Poppins"/>
              </a:rPr>
              <a:t> </a:t>
            </a:r>
            <a:r>
              <a:rPr sz="5400" b="1" dirty="0" err="1">
                <a:solidFill>
                  <a:srgbClr val="00BCD4"/>
                </a:solidFill>
                <a:latin typeface="Poppins"/>
              </a:rPr>
              <a:t>d'Attrition</a:t>
            </a:r>
            <a:r>
              <a:rPr sz="5400" b="1" dirty="0">
                <a:solidFill>
                  <a:srgbClr val="00BCD4"/>
                </a:solidFill>
                <a:latin typeface="Poppins"/>
              </a:rPr>
              <a:t> </a:t>
            </a:r>
            <a:r>
              <a:rPr sz="5400" b="1" dirty="0" err="1">
                <a:solidFill>
                  <a:srgbClr val="00BCD4"/>
                </a:solidFill>
                <a:latin typeface="Poppins"/>
              </a:rPr>
              <a:t>Employés</a:t>
            </a:r>
            <a:endParaRPr sz="5400" b="1" dirty="0">
              <a:solidFill>
                <a:srgbClr val="00BCD4"/>
              </a:solidFill>
              <a:latin typeface="Poppin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876678" y="3705224"/>
            <a:ext cx="2438339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288D1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2" name="TextBox 11"/>
          <p:cNvSpPr txBox="1"/>
          <p:nvPr/>
        </p:nvSpPr>
        <p:spPr>
          <a:xfrm>
            <a:off x="2819699" y="5493353"/>
            <a:ext cx="2189959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Rayan GOUADFEL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9551" y="5493353"/>
            <a:ext cx="234295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BCD4"/>
                </a:solidFill>
                <a:latin typeface="Roboto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2481" y="5493353"/>
            <a:ext cx="1959127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E1F5FE"/>
                </a:solidFill>
                <a:latin typeface="Roboto"/>
              </a:rPr>
              <a:t>Fabien ARRIGHI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1197" y="5493353"/>
            <a:ext cx="234295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BCD4"/>
                </a:solidFill>
                <a:latin typeface="Roboto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8945" y="5493353"/>
            <a:ext cx="1979966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Enzo MARCELLI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68394" y="6181478"/>
            <a:ext cx="190495" cy="15127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07168" y="6123739"/>
            <a:ext cx="2205989" cy="28071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B3E5FC"/>
                </a:solidFill>
                <a:latin typeface="Roboto"/>
              </a:rPr>
              <a:t>Industrie </a:t>
            </a:r>
            <a:r>
              <a:rPr sz="1400" b="0" dirty="0" err="1">
                <a:solidFill>
                  <a:srgbClr val="B3E5FC"/>
                </a:solidFill>
                <a:latin typeface="Roboto"/>
              </a:rPr>
              <a:t>Pharmaceutique</a:t>
            </a:r>
            <a:endParaRPr sz="1400" b="0" dirty="0">
              <a:solidFill>
                <a:srgbClr val="B3E5FC"/>
              </a:solidFill>
              <a:latin typeface="Roboto"/>
            </a:endParaRP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514255" y="6191259"/>
            <a:ext cx="190495" cy="1456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766988" y="6123739"/>
            <a:ext cx="1872564" cy="28071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B3E5FC"/>
                </a:solidFill>
                <a:latin typeface="Roboto"/>
              </a:rPr>
              <a:t>Data Science Pipeline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256893" y="6174450"/>
            <a:ext cx="190495" cy="17929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95668" y="6123739"/>
            <a:ext cx="958852" cy="28071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B3E5FC"/>
                </a:solidFill>
                <a:latin typeface="Roboto"/>
              </a:rPr>
              <a:t>IA </a:t>
            </a:r>
            <a:r>
              <a:rPr sz="1400" b="0" dirty="0" err="1">
                <a:solidFill>
                  <a:srgbClr val="B3E5FC"/>
                </a:solidFill>
                <a:latin typeface="Roboto"/>
              </a:rPr>
              <a:t>Éthique</a:t>
            </a:r>
            <a:endParaRPr sz="1400" b="0" dirty="0">
              <a:solidFill>
                <a:srgbClr val="B3E5FC"/>
              </a:solidFill>
              <a:latin typeface="Roboto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A65FC621-791A-1014-FE90-64F87E61AE13}"/>
              </a:ext>
            </a:extLst>
          </p:cNvPr>
          <p:cNvSpPr txBox="1"/>
          <p:nvPr/>
        </p:nvSpPr>
        <p:spPr>
          <a:xfrm>
            <a:off x="3027641" y="3270510"/>
            <a:ext cx="61390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8" name="Image 27" descr="Une image contenant Graphique, graphism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FC55ED34-4509-8666-E495-DE1D9529F3C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79696" y="3455176"/>
            <a:ext cx="3555574" cy="237038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183104"/>
            <a:ext cx="2359877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 err="1">
                <a:solidFill>
                  <a:srgbClr val="FFFFFF"/>
                </a:solidFill>
                <a:latin typeface="Poppins"/>
              </a:rPr>
              <a:t>Sommaire</a:t>
            </a:r>
            <a:endParaRPr sz="3200" b="1" dirty="0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1980" y="1745501"/>
            <a:ext cx="516423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00BCD4"/>
                </a:solidFill>
                <a:latin typeface="Poppins"/>
              </a:rPr>
              <a:t>01</a:t>
            </a:r>
            <a:endParaRPr sz="3200" b="1" dirty="0">
              <a:solidFill>
                <a:srgbClr val="00BCD4"/>
              </a:solidFill>
              <a:latin typeface="Poppins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19209" y="1911667"/>
            <a:ext cx="228594" cy="1771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2100" y="1810197"/>
            <a:ext cx="116724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234" y="1745501"/>
            <a:ext cx="611001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00BCD4"/>
                </a:solidFill>
                <a:latin typeface="Poppins"/>
              </a:rPr>
              <a:t>06</a:t>
            </a:r>
            <a:endParaRPr sz="3200" b="1" dirty="0">
              <a:solidFill>
                <a:srgbClr val="00BCD4"/>
              </a:solidFill>
              <a:latin typeface="Poppins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6462" y="1917382"/>
            <a:ext cx="228594" cy="1657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29354" y="1810197"/>
            <a:ext cx="281673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Modèles de Régression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80" y="2659901"/>
            <a:ext cx="586956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00BCD4"/>
                </a:solidFill>
                <a:latin typeface="Poppins"/>
              </a:rPr>
              <a:t>02</a:t>
            </a:r>
            <a:endParaRPr sz="3200" b="1" dirty="0">
              <a:solidFill>
                <a:srgbClr val="00BCD4"/>
              </a:solidFill>
              <a:latin typeface="Poppins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91957" y="4644893"/>
            <a:ext cx="228594" cy="1857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34848" y="4547709"/>
            <a:ext cx="2044086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Utilisation de l'IA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234" y="2659901"/>
            <a:ext cx="574132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BCD4"/>
                </a:solidFill>
                <a:latin typeface="Poppins"/>
              </a:rPr>
              <a:t>07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86462" y="2816066"/>
            <a:ext cx="228594" cy="1971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29354" y="2724597"/>
            <a:ext cx="3095656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Modèles de Classification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980" y="3574301"/>
            <a:ext cx="599780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00BCD4"/>
                </a:solidFill>
                <a:latin typeface="Poppins"/>
              </a:rPr>
              <a:t>03</a:t>
            </a:r>
            <a:endParaRPr sz="3200" b="1" dirty="0">
              <a:solidFill>
                <a:srgbClr val="00BCD4"/>
              </a:solidFill>
              <a:latin typeface="Poppins"/>
            </a:endParaRP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91957" y="2831782"/>
            <a:ext cx="228594" cy="16573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34848" y="2724597"/>
            <a:ext cx="2675669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Données à disposition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234" y="3574301"/>
            <a:ext cx="614207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00BCD4"/>
                </a:solidFill>
                <a:latin typeface="Poppins"/>
              </a:rPr>
              <a:t>08</a:t>
            </a:r>
            <a:endParaRPr sz="3200" b="1" dirty="0">
              <a:solidFill>
                <a:srgbClr val="00BCD4"/>
              </a:solidFill>
              <a:latin typeface="Poppins"/>
            </a:endParaRP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486462" y="3720464"/>
            <a:ext cx="228594" cy="21717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829354" y="3638997"/>
            <a:ext cx="1003736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Éthique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980" y="4488701"/>
            <a:ext cx="625428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00BCD4"/>
                </a:solidFill>
                <a:latin typeface="Poppins"/>
              </a:rPr>
              <a:t>04</a:t>
            </a:r>
            <a:endParaRPr sz="3200" b="1" dirty="0">
              <a:solidFill>
                <a:srgbClr val="00BCD4"/>
              </a:solidFill>
              <a:latin typeface="Poppins"/>
            </a:endParaRP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591957" y="3720465"/>
            <a:ext cx="228594" cy="21717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34848" y="3638998"/>
            <a:ext cx="2994666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Préparation des données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234" y="4488701"/>
            <a:ext cx="602986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00BCD4"/>
                </a:solidFill>
                <a:latin typeface="Poppins"/>
              </a:rPr>
              <a:t>09</a:t>
            </a:r>
            <a:endParaRPr sz="3200" b="1" dirty="0">
              <a:solidFill>
                <a:srgbClr val="00BCD4"/>
              </a:solidFill>
              <a:latin typeface="Poppins"/>
            </a:endParaRP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486462" y="4646295"/>
            <a:ext cx="228594" cy="19430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29354" y="4553398"/>
            <a:ext cx="298665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Recommandations client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1980" y="5403101"/>
            <a:ext cx="615810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BCD4"/>
                </a:solidFill>
                <a:latin typeface="Poppins"/>
              </a:rPr>
              <a:t>05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619209" y="5570696"/>
            <a:ext cx="228594" cy="17430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962100" y="5467798"/>
            <a:ext cx="130510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Clustering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234" y="5403101"/>
            <a:ext cx="516423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00BCD4"/>
                </a:solidFill>
                <a:latin typeface="Poppins"/>
              </a:rPr>
              <a:t>10</a:t>
            </a:r>
            <a:endParaRPr sz="3200" b="1" dirty="0">
              <a:solidFill>
                <a:srgbClr val="00BCD4"/>
              </a:solidFill>
              <a:latin typeface="Poppins"/>
            </a:endParaRP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486462" y="5572125"/>
            <a:ext cx="228594" cy="1714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29354" y="5467798"/>
            <a:ext cx="142212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Conclusion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819900"/>
            <a:ext cx="12191695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BCD4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321501D-89A6-58CB-F481-4A467497F264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183105"/>
            <a:ext cx="2704523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FFFFFF"/>
                </a:solidFill>
                <a:latin typeface="Poppins"/>
              </a:rPr>
              <a:t>01. </a:t>
            </a:r>
            <a:r>
              <a:rPr sz="3200" b="1" dirty="0" err="1">
                <a:solidFill>
                  <a:srgbClr val="FFFFFF"/>
                </a:solidFill>
                <a:latin typeface="Poppins"/>
              </a:rPr>
              <a:t>Contexte</a:t>
            </a:r>
            <a:endParaRPr sz="3200" b="1" dirty="0">
              <a:solidFill>
                <a:srgbClr val="FFFFFF"/>
              </a:solidFill>
              <a:latin typeface="Poppins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09584" y="2025817"/>
            <a:ext cx="457188" cy="3489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1070" y="2028825"/>
            <a:ext cx="2076398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1">
                <a:solidFill>
                  <a:srgbClr val="00BCD4"/>
                </a:solidFill>
                <a:latin typeface="Poppins"/>
              </a:rPr>
              <a:t>HumanForYou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2581275"/>
            <a:ext cx="3657508" cy="10191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B3E5FC"/>
                </a:solidFill>
                <a:latin typeface="Roboto"/>
              </a:rPr>
              <a:t> Industrie pharmaceutique</a:t>
            </a:r>
            <a:r>
              <a:rPr sz="1104"/>
              <a:t>
</a:t>
            </a:r>
            <a:r>
              <a:rPr sz="1196" b="0">
                <a:solidFill>
                  <a:srgbClr val="B3E5FC"/>
                </a:solidFill>
                <a:latin typeface="Roboto"/>
              </a:rPr>
              <a:t> Implantation en Inde</a:t>
            </a:r>
            <a:r>
              <a:rPr sz="1104"/>
              <a:t>
</a:t>
            </a:r>
            <a:r>
              <a:rPr sz="1196" b="0">
                <a:solidFill>
                  <a:srgbClr val="B3E5FC"/>
                </a:solidFill>
                <a:latin typeface="Roboto"/>
              </a:rPr>
              <a:t> </a:t>
            </a:r>
            <a:r>
              <a:rPr sz="1435" b="1">
                <a:solidFill>
                  <a:srgbClr val="FFFFFF"/>
                </a:solidFill>
                <a:latin typeface="Roboto"/>
              </a:rPr>
              <a:t>4 410 employés</a:t>
            </a:r>
            <a:r>
              <a:rPr sz="1196" b="0">
                <a:solidFill>
                  <a:srgbClr val="B3E5FC"/>
                </a:solidFill>
                <a:latin typeface="Roboto"/>
              </a:rPr>
              <a:t> 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4276725"/>
            <a:ext cx="3657508" cy="1419225"/>
          </a:xfrm>
          <a:prstGeom prst="roundRect">
            <a:avLst>
              <a:gd name="adj" fmla="val 10738"/>
            </a:avLst>
          </a:prstGeom>
          <a:solidFill>
            <a:srgbClr val="00BCD4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33988" y="4920297"/>
            <a:ext cx="141922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6278" y="4505325"/>
            <a:ext cx="3162220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520"/>
              </a:spcAft>
            </a:pPr>
            <a:r>
              <a:rPr sz="1076" b="0">
                <a:solidFill>
                  <a:srgbClr val="0288D1"/>
                </a:solidFill>
                <a:latin typeface="Roboto"/>
              </a:rPr>
              <a:t>PROBLÈME IDENTIFIÉ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278" y="4848225"/>
            <a:ext cx="3162220" cy="61912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E1F5FE"/>
                </a:solidFill>
                <a:latin typeface="Roboto"/>
              </a:rPr>
              <a:t>Turnover élevé impactant la continuité des projets et les coûts RH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262" y="1419225"/>
            <a:ext cx="6095847" cy="1790700"/>
          </a:xfrm>
          <a:prstGeom prst="roundRect">
            <a:avLst>
              <a:gd name="adj" fmla="val 12765"/>
            </a:avLst>
          </a:prstGeom>
          <a:gradFill rotWithShape="1">
            <a:gsLst>
              <a:gs pos="0">
                <a:srgbClr val="00BCD4">
                  <a:alpha val="15000"/>
                </a:srgbClr>
              </a:gs>
              <a:gs pos="100000">
                <a:srgbClr val="0288D1">
                  <a:alpha val="15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91055" y="1724024"/>
            <a:ext cx="2133546" cy="685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4305" b="1">
                <a:solidFill>
                  <a:srgbClr val="00BCD4"/>
                </a:solidFill>
                <a:latin typeface="Poppins"/>
              </a:rPr>
              <a:t>16.12%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6998" y="2076449"/>
            <a:ext cx="2238319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0">
                <a:solidFill>
                  <a:srgbClr val="FFFFFF"/>
                </a:solidFill>
                <a:latin typeface="Roboto"/>
              </a:rPr>
              <a:t>Taux d'attrition annuel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91055" y="2670809"/>
            <a:ext cx="228594" cy="12572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5847" y="2562224"/>
            <a:ext cx="1190595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794" b="1">
                <a:solidFill>
                  <a:srgbClr val="FFFFFF"/>
                </a:solidFill>
                <a:latin typeface="Roboto"/>
              </a:rPr>
              <a:t>711</a:t>
            </a:r>
            <a:r>
              <a:rPr sz="1196" b="0">
                <a:solidFill>
                  <a:srgbClr val="E1F5FE"/>
                </a:solidFill>
                <a:latin typeface="Roboto"/>
              </a:rPr>
              <a:t> départs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15037" y="2670809"/>
            <a:ext cx="228594" cy="12572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819829" y="2562224"/>
            <a:ext cx="1514437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794" b="1">
                <a:solidFill>
                  <a:srgbClr val="FFFFFF"/>
                </a:solidFill>
                <a:latin typeface="Roboto"/>
              </a:rPr>
              <a:t>3 699</a:t>
            </a:r>
            <a:r>
              <a:rPr sz="1196" b="0">
                <a:solidFill>
                  <a:srgbClr val="E1F5FE"/>
                </a:solidFill>
                <a:latin typeface="Roboto"/>
              </a:rPr>
              <a:t> présents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262" y="3438525"/>
            <a:ext cx="2971725" cy="1000125"/>
          </a:xfrm>
          <a:prstGeom prst="roundRect">
            <a:avLst>
              <a:gd name="adj" fmla="val 15238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76758" y="3692338"/>
            <a:ext cx="190495" cy="14007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43451" y="3629025"/>
            <a:ext cx="552436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B3E5FC"/>
                </a:solidFill>
                <a:latin typeface="Roboto"/>
              </a:rPr>
              <a:t>AVANT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76758" y="3971925"/>
            <a:ext cx="2590735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"/>
              </a:rPr>
              <a:t>Gestion réactive des départs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10384" y="3438525"/>
            <a:ext cx="2971725" cy="1000125"/>
          </a:xfrm>
          <a:prstGeom prst="roundRect">
            <a:avLst>
              <a:gd name="adj" fmla="val 15238"/>
            </a:avLst>
          </a:prstGeom>
          <a:solidFill>
            <a:srgbClr val="00BCD4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800879" y="3692338"/>
            <a:ext cx="190495" cy="140073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67573" y="3629025"/>
            <a:ext cx="533386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B3E5FC"/>
                </a:solidFill>
                <a:latin typeface="Roboto"/>
              </a:rPr>
              <a:t>APRÈS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00879" y="3971925"/>
            <a:ext cx="2590735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"/>
              </a:rPr>
              <a:t>Stratégie de rétention proactive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262" y="4829175"/>
            <a:ext cx="6095847" cy="1419225"/>
          </a:xfrm>
          <a:prstGeom prst="roundRect">
            <a:avLst>
              <a:gd name="adj" fmla="val 10738"/>
            </a:avLst>
          </a:prstGeom>
          <a:solidFill>
            <a:srgbClr val="0288D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 Same Side Corner Rectangle 25"/>
          <p:cNvSpPr/>
          <p:nvPr/>
        </p:nvSpPr>
        <p:spPr>
          <a:xfrm rot="16200000">
            <a:off x="4842690" y="5472747"/>
            <a:ext cx="141922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52956" y="5057775"/>
            <a:ext cx="560055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520"/>
              </a:spcAft>
            </a:pPr>
            <a:r>
              <a:rPr sz="1076" b="0">
                <a:solidFill>
                  <a:srgbClr val="0288D1"/>
                </a:solidFill>
                <a:latin typeface="Roboto"/>
              </a:rPr>
              <a:t>OBJECTIF DU PROJET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52956" y="5400675"/>
            <a:ext cx="5600559" cy="61912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E1F5FE"/>
                </a:solidFill>
                <a:latin typeface="Roboto"/>
              </a:rPr>
              <a:t>Exploiter les données RH pour identifier les facteurs clés d'attrition et construire un modèle prédictif du risque de départ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EF302BD-0991-875D-089D-843E2147FC1E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183104"/>
            <a:ext cx="5501763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FFFFFF"/>
                </a:solidFill>
                <a:latin typeface="Poppins"/>
              </a:rPr>
              <a:t>0</a:t>
            </a:r>
            <a:r>
              <a:rPr lang="fr-FR" sz="3200" b="1" dirty="0">
                <a:solidFill>
                  <a:srgbClr val="FFFFFF"/>
                </a:solidFill>
                <a:latin typeface="Poppins"/>
              </a:rPr>
              <a:t>2</a:t>
            </a:r>
            <a:r>
              <a:rPr sz="3200" b="1" dirty="0">
                <a:solidFill>
                  <a:srgbClr val="FFFFFF"/>
                </a:solidFill>
                <a:latin typeface="Poppins"/>
              </a:rPr>
              <a:t>. Données à disposition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9584" y="1885950"/>
            <a:ext cx="4267093" cy="2514600"/>
          </a:xfrm>
          <a:prstGeom prst="roundRect">
            <a:avLst>
              <a:gd name="adj" fmla="val 9090"/>
            </a:avLst>
          </a:prstGeom>
          <a:gradFill rotWithShape="1">
            <a:gsLst>
              <a:gs pos="0">
                <a:srgbClr val="00BCD4">
                  <a:alpha val="15000"/>
                </a:srgbClr>
              </a:gs>
              <a:gs pos="100000">
                <a:srgbClr val="0288D1">
                  <a:alpha val="15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38179" y="2183852"/>
            <a:ext cx="342891" cy="242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95367" y="2152650"/>
            <a:ext cx="2352616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BCD4"/>
                </a:solidFill>
                <a:latin typeface="Poppins"/>
              </a:rPr>
              <a:t>Sources de Données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8179" y="2686050"/>
            <a:ext cx="1847803" cy="685800"/>
          </a:xfrm>
          <a:prstGeom prst="roundRect">
            <a:avLst>
              <a:gd name="adj" fmla="val 22222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52476" y="2800350"/>
            <a:ext cx="161920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General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476" y="3067050"/>
            <a:ext cx="161920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4410 ×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0279" y="2686050"/>
            <a:ext cx="1847803" cy="685800"/>
          </a:xfrm>
          <a:prstGeom prst="roundRect">
            <a:avLst>
              <a:gd name="adj" fmla="val 22222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14577" y="2800350"/>
            <a:ext cx="161920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Employee Survey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14577" y="3067050"/>
            <a:ext cx="161920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4410 ×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8179" y="3486150"/>
            <a:ext cx="1847803" cy="685800"/>
          </a:xfrm>
          <a:prstGeom prst="roundRect">
            <a:avLst>
              <a:gd name="adj" fmla="val 22222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2476" y="3600450"/>
            <a:ext cx="161920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Manager Survey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476" y="3867149"/>
            <a:ext cx="161920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4410 ×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00279" y="3486150"/>
            <a:ext cx="1847803" cy="685800"/>
          </a:xfrm>
          <a:prstGeom prst="roundRect">
            <a:avLst>
              <a:gd name="adj" fmla="val 22222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14577" y="3600450"/>
            <a:ext cx="161920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In/Out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4577" y="3867149"/>
            <a:ext cx="161920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4410 × 262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584" y="4629150"/>
            <a:ext cx="4267093" cy="1143000"/>
          </a:xfrm>
          <a:prstGeom prst="roundRect">
            <a:avLst>
              <a:gd name="adj" fmla="val 20000"/>
            </a:avLst>
          </a:prstGeom>
          <a:solidFill>
            <a:srgbClr val="0288D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 Same Side Corner Rectangle 18"/>
          <p:cNvSpPr/>
          <p:nvPr/>
        </p:nvSpPr>
        <p:spPr>
          <a:xfrm rot="16200000">
            <a:off x="104124" y="5134610"/>
            <a:ext cx="11430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6278" y="4952999"/>
            <a:ext cx="228594" cy="1143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81070" y="4876800"/>
            <a:ext cx="1809704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0288D1"/>
                </a:solidFill>
                <a:latin typeface="Roboto"/>
              </a:rPr>
              <a:t>Liaison par EmployeeID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278" y="5276850"/>
            <a:ext cx="3771805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FFFFFF"/>
                </a:solidFill>
                <a:latin typeface="Roboto"/>
              </a:rPr>
              <a:t>4 410 employés uniques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470" y="1647825"/>
            <a:ext cx="6400639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1040"/>
              </a:spcAft>
            </a:pPr>
            <a:r>
              <a:rPr sz="1435" b="1">
                <a:solidFill>
                  <a:srgbClr val="FFFFFF"/>
                </a:solidFill>
                <a:latin typeface="Poppins"/>
              </a:rPr>
              <a:t>Déséquilibre des Classes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81470" y="2105024"/>
            <a:ext cx="3124121" cy="1638299"/>
          </a:xfrm>
          <a:prstGeom prst="roundRect">
            <a:avLst>
              <a:gd name="adj" fmla="val 13953"/>
            </a:avLst>
          </a:prstGeom>
          <a:solidFill>
            <a:srgbClr val="00BCD4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71965" y="2388247"/>
            <a:ext cx="285742" cy="15745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733906" y="2333624"/>
            <a:ext cx="1371565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B3E5FC"/>
                </a:solidFill>
                <a:latin typeface="Roboto"/>
              </a:rPr>
              <a:t>Départs (Attrition)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1965" y="2752725"/>
            <a:ext cx="590535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70" b="1">
                <a:solidFill>
                  <a:srgbClr val="00BCD4"/>
                </a:solidFill>
                <a:latin typeface="Poppins"/>
              </a:rPr>
              <a:t>711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8699" y="2933699"/>
            <a:ext cx="81912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FFFFFF"/>
                </a:solidFill>
                <a:latin typeface="Roboto"/>
              </a:rPr>
              <a:t>employés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71965" y="3286125"/>
            <a:ext cx="274313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520"/>
              </a:spcBef>
              <a:spcAft>
                <a:spcPts val="0"/>
              </a:spcAft>
            </a:pPr>
            <a:r>
              <a:rPr sz="1076" b="0">
                <a:solidFill>
                  <a:srgbClr val="E1F5FE"/>
                </a:solidFill>
                <a:latin typeface="Roboto"/>
              </a:rPr>
              <a:t>16.12% du total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57988" y="2105024"/>
            <a:ext cx="3124121" cy="1638299"/>
          </a:xfrm>
          <a:prstGeom prst="roundRect">
            <a:avLst>
              <a:gd name="adj" fmla="val 13953"/>
            </a:avLst>
          </a:prstGeom>
          <a:solidFill>
            <a:srgbClr val="0288D1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648483" y="2388247"/>
            <a:ext cx="285742" cy="15745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10424" y="2333624"/>
            <a:ext cx="1562060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B3E5FC"/>
                </a:solidFill>
                <a:latin typeface="Roboto"/>
              </a:rPr>
              <a:t>Présents (Rétention)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8483" y="2752725"/>
            <a:ext cx="1228694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70" b="1">
                <a:solidFill>
                  <a:srgbClr val="0288D1"/>
                </a:solidFill>
                <a:latin typeface="Poppins"/>
              </a:rPr>
              <a:t>3 699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53376" y="2933699"/>
            <a:ext cx="81912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FFFFFF"/>
                </a:solidFill>
                <a:latin typeface="Roboto"/>
              </a:rPr>
              <a:t>employés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8483" y="3286125"/>
            <a:ext cx="274313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520"/>
              </a:spcBef>
              <a:spcAft>
                <a:spcPts val="0"/>
              </a:spcAft>
            </a:pPr>
            <a:r>
              <a:rPr sz="1076" b="0">
                <a:solidFill>
                  <a:srgbClr val="E1F5FE"/>
                </a:solidFill>
                <a:latin typeface="Roboto"/>
              </a:rPr>
              <a:t>83.88% du total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1470" y="3933824"/>
            <a:ext cx="6400639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780"/>
              </a:spcAft>
            </a:pPr>
            <a:r>
              <a:rPr sz="1435" b="1">
                <a:solidFill>
                  <a:srgbClr val="FFFFFF"/>
                </a:solidFill>
                <a:latin typeface="Poppins"/>
              </a:rPr>
              <a:t>Valeurs Manquantes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181470" y="4352924"/>
            <a:ext cx="2085922" cy="761999"/>
          </a:xfrm>
          <a:prstGeom prst="roundRect">
            <a:avLst>
              <a:gd name="adj" fmla="val 20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295767" y="4467224"/>
            <a:ext cx="185732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26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NumCompaniesWorked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95767" y="4695824"/>
            <a:ext cx="1857328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BCD4"/>
                </a:solidFill>
                <a:latin typeface="Poppins"/>
              </a:rPr>
              <a:t>19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43591" y="4352924"/>
            <a:ext cx="2085922" cy="761999"/>
          </a:xfrm>
          <a:prstGeom prst="roundRect">
            <a:avLst>
              <a:gd name="adj" fmla="val 20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457888" y="4467224"/>
            <a:ext cx="185732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26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TotalWorkingYears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57888" y="4695824"/>
            <a:ext cx="1857328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BCD4"/>
                </a:solidFill>
                <a:latin typeface="Poppins"/>
              </a:rPr>
              <a:t>9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496187" y="4352924"/>
            <a:ext cx="2085922" cy="761999"/>
          </a:xfrm>
          <a:prstGeom prst="roundRect">
            <a:avLst>
              <a:gd name="adj" fmla="val 20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610484" y="4467224"/>
            <a:ext cx="185732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26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EnvironmentSatisfaction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10484" y="4695824"/>
            <a:ext cx="1857328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BCD4"/>
                </a:solidFill>
                <a:latin typeface="Poppins"/>
              </a:rPr>
              <a:t>25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181470" y="5191125"/>
            <a:ext cx="2085922" cy="828675"/>
          </a:xfrm>
          <a:prstGeom prst="roundRect">
            <a:avLst>
              <a:gd name="adj" fmla="val 1839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295767" y="5305425"/>
            <a:ext cx="185732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26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JobSatisfaction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95767" y="5534025"/>
            <a:ext cx="1857328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BCD4"/>
                </a:solidFill>
                <a:latin typeface="Poppins"/>
              </a:rPr>
              <a:t>20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43591" y="5191125"/>
            <a:ext cx="2085922" cy="828675"/>
          </a:xfrm>
          <a:prstGeom prst="roundRect">
            <a:avLst>
              <a:gd name="adj" fmla="val 1839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57888" y="5305425"/>
            <a:ext cx="185732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26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WorkLifeBalance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57888" y="5534025"/>
            <a:ext cx="1857328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BCD4"/>
                </a:solidFill>
                <a:latin typeface="Poppins"/>
              </a:rPr>
              <a:t>38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96187" y="5191125"/>
            <a:ext cx="2085922" cy="828675"/>
          </a:xfrm>
          <a:prstGeom prst="roundRect">
            <a:avLst>
              <a:gd name="adj" fmla="val 18390"/>
            </a:avLst>
          </a:prstGeom>
          <a:solidFill>
            <a:srgbClr val="00BCD4">
              <a:alpha val="10000"/>
            </a:srgbClr>
          </a:solidFill>
          <a:ln w="1651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429614" y="5379720"/>
            <a:ext cx="228594" cy="194309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629534" y="5695949"/>
            <a:ext cx="181922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"/>
              </a:rPr>
              <a:t>9.44% NaN badgeuse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67D7A7E-F5FC-4140-CA59-301F0E4976CF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1">
            <a:extLst>
              <a:ext uri="{FF2B5EF4-FFF2-40B4-BE49-F238E27FC236}">
                <a16:creationId xmlns:a16="http://schemas.microsoft.com/office/drawing/2014/main" id="{01AAD3FD-EAF0-BCE7-F677-CC826BF298C2}"/>
              </a:ext>
            </a:extLst>
          </p:cNvPr>
          <p:cNvSpPr txBox="1"/>
          <p:nvPr/>
        </p:nvSpPr>
        <p:spPr>
          <a:xfrm>
            <a:off x="609584" y="162164"/>
            <a:ext cx="6157391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FFFFFF"/>
                </a:solidFill>
                <a:latin typeface="Poppins"/>
              </a:rPr>
              <a:t>0</a:t>
            </a:r>
            <a:r>
              <a:rPr lang="fr-FR" sz="3200" b="1" dirty="0">
                <a:solidFill>
                  <a:srgbClr val="FFFFFF"/>
                </a:solidFill>
                <a:latin typeface="Poppins"/>
              </a:rPr>
              <a:t>3</a:t>
            </a:r>
            <a:r>
              <a:rPr sz="3200" b="1" dirty="0">
                <a:solidFill>
                  <a:srgbClr val="FFFFFF"/>
                </a:solidFill>
                <a:latin typeface="Poppins"/>
              </a:rPr>
              <a:t>. </a:t>
            </a:r>
            <a:r>
              <a:rPr sz="3200" b="1" dirty="0" err="1">
                <a:solidFill>
                  <a:srgbClr val="FFFFFF"/>
                </a:solidFill>
                <a:latin typeface="Poppins"/>
              </a:rPr>
              <a:t>Préparation</a:t>
            </a:r>
            <a:r>
              <a:rPr sz="3200" b="1" dirty="0">
                <a:solidFill>
                  <a:srgbClr val="FFFFFF"/>
                </a:solidFill>
                <a:latin typeface="Poppins"/>
              </a:rPr>
              <a:t> des données</a:t>
            </a:r>
          </a:p>
        </p:txBody>
      </p:sp>
      <p:sp>
        <p:nvSpPr>
          <p:cNvPr id="57" name="Rounded Rectangle 2">
            <a:extLst>
              <a:ext uri="{FF2B5EF4-FFF2-40B4-BE49-F238E27FC236}">
                <a16:creationId xmlns:a16="http://schemas.microsoft.com/office/drawing/2014/main" id="{795799F4-31C5-6336-5B67-00D23FA396A9}"/>
              </a:ext>
            </a:extLst>
          </p:cNvPr>
          <p:cNvSpPr/>
          <p:nvPr/>
        </p:nvSpPr>
        <p:spPr>
          <a:xfrm>
            <a:off x="609584" y="1038224"/>
            <a:ext cx="4295667" cy="1904999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00BCD4">
                  <a:alpha val="12000"/>
                </a:srgbClr>
              </a:gs>
              <a:gs pos="100000">
                <a:srgbClr val="0288D1">
                  <a:alpha val="12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8" name="Picture 3" descr="image.png">
            <a:extLst>
              <a:ext uri="{FF2B5EF4-FFF2-40B4-BE49-F238E27FC236}">
                <a16:creationId xmlns:a16="http://schemas.microsoft.com/office/drawing/2014/main" id="{98383D88-07AA-A9B7-2244-6769A213AB6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00079" y="1295205"/>
            <a:ext cx="285742" cy="209938"/>
          </a:xfrm>
          <a:prstGeom prst="rect">
            <a:avLst/>
          </a:prstGeom>
        </p:spPr>
      </p:pic>
      <p:sp>
        <p:nvSpPr>
          <p:cNvPr id="59" name="TextBox 4">
            <a:extLst>
              <a:ext uri="{FF2B5EF4-FFF2-40B4-BE49-F238E27FC236}">
                <a16:creationId xmlns:a16="http://schemas.microsoft.com/office/drawing/2014/main" id="{3AFC9A47-B809-4AC7-951E-66960A2DB297}"/>
              </a:ext>
            </a:extLst>
          </p:cNvPr>
          <p:cNvSpPr txBox="1"/>
          <p:nvPr/>
        </p:nvSpPr>
        <p:spPr>
          <a:xfrm>
            <a:off x="1200119" y="1266824"/>
            <a:ext cx="188590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00BCD4"/>
                </a:solidFill>
                <a:latin typeface="Poppins"/>
              </a:rPr>
              <a:t>Fusion &amp; Nettoyage</a:t>
            </a:r>
          </a:p>
        </p:txBody>
      </p:sp>
      <p:pic>
        <p:nvPicPr>
          <p:cNvPr id="60" name="Picture 5" descr="image.png">
            <a:extLst>
              <a:ext uri="{FF2B5EF4-FFF2-40B4-BE49-F238E27FC236}">
                <a16:creationId xmlns:a16="http://schemas.microsoft.com/office/drawing/2014/main" id="{6A85C0C0-18D4-6649-F729-8D2FE11451E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0079" y="1782711"/>
            <a:ext cx="171445" cy="149327"/>
          </a:xfrm>
          <a:prstGeom prst="rect">
            <a:avLst/>
          </a:prstGeom>
        </p:spPr>
      </p:pic>
      <p:sp>
        <p:nvSpPr>
          <p:cNvPr id="61" name="TextBox 6">
            <a:extLst>
              <a:ext uri="{FF2B5EF4-FFF2-40B4-BE49-F238E27FC236}">
                <a16:creationId xmlns:a16="http://schemas.microsoft.com/office/drawing/2014/main" id="{2E006070-9B17-3FEF-C150-FFB3F71D0E05}"/>
              </a:ext>
            </a:extLst>
          </p:cNvPr>
          <p:cNvSpPr txBox="1"/>
          <p:nvPr/>
        </p:nvSpPr>
        <p:spPr>
          <a:xfrm>
            <a:off x="1047723" y="1685925"/>
            <a:ext cx="221926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1F5FE"/>
                </a:solidFill>
                <a:latin typeface="Roboto"/>
              </a:rPr>
              <a:t>Fusion 3 tables RH (EmployeeID)</a:t>
            </a:r>
          </a:p>
        </p:txBody>
      </p:sp>
      <p:pic>
        <p:nvPicPr>
          <p:cNvPr id="62" name="Picture 7" descr="image.png">
            <a:extLst>
              <a:ext uri="{FF2B5EF4-FFF2-40B4-BE49-F238E27FC236}">
                <a16:creationId xmlns:a16="http://schemas.microsoft.com/office/drawing/2014/main" id="{6CC2B207-DA46-B1CB-5CDE-619AB691887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0079" y="2174772"/>
            <a:ext cx="171445" cy="127204"/>
          </a:xfrm>
          <a:prstGeom prst="rect">
            <a:avLst/>
          </a:prstGeom>
        </p:spPr>
      </p:pic>
      <p:sp>
        <p:nvSpPr>
          <p:cNvPr id="63" name="TextBox 8">
            <a:extLst>
              <a:ext uri="{FF2B5EF4-FFF2-40B4-BE49-F238E27FC236}">
                <a16:creationId xmlns:a16="http://schemas.microsoft.com/office/drawing/2014/main" id="{C1D7C0C6-28E4-2FD1-0EF3-1F99AE5CF488}"/>
              </a:ext>
            </a:extLst>
          </p:cNvPr>
          <p:cNvSpPr txBox="1"/>
          <p:nvPr/>
        </p:nvSpPr>
        <p:spPr>
          <a:xfrm>
            <a:off x="1047723" y="2066924"/>
            <a:ext cx="229546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1F5FE"/>
                </a:solidFill>
                <a:latin typeface="Roboto"/>
              </a:rPr>
              <a:t>Suppression colonnes constantes</a:t>
            </a:r>
          </a:p>
        </p:txBody>
      </p:sp>
      <p:pic>
        <p:nvPicPr>
          <p:cNvPr id="64" name="Picture 9" descr="image.png">
            <a:extLst>
              <a:ext uri="{FF2B5EF4-FFF2-40B4-BE49-F238E27FC236}">
                <a16:creationId xmlns:a16="http://schemas.microsoft.com/office/drawing/2014/main" id="{E29D78F4-B896-A926-F61C-D602639DFAD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0079" y="2541945"/>
            <a:ext cx="171445" cy="154858"/>
          </a:xfrm>
          <a:prstGeom prst="rect">
            <a:avLst/>
          </a:prstGeom>
        </p:spPr>
      </p:pic>
      <p:sp>
        <p:nvSpPr>
          <p:cNvPr id="65" name="TextBox 10">
            <a:extLst>
              <a:ext uri="{FF2B5EF4-FFF2-40B4-BE49-F238E27FC236}">
                <a16:creationId xmlns:a16="http://schemas.microsoft.com/office/drawing/2014/main" id="{721B1A5B-784A-9F42-EF23-681BBF008710}"/>
              </a:ext>
            </a:extLst>
          </p:cNvPr>
          <p:cNvSpPr txBox="1"/>
          <p:nvPr/>
        </p:nvSpPr>
        <p:spPr>
          <a:xfrm>
            <a:off x="1047723" y="2447924"/>
            <a:ext cx="249548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1F5FE"/>
                </a:solidFill>
                <a:latin typeface="Roboto"/>
              </a:rPr>
              <a:t>Imputation: médiane/mode → 0 NaN</a:t>
            </a:r>
          </a:p>
        </p:txBody>
      </p:sp>
      <p:sp>
        <p:nvSpPr>
          <p:cNvPr id="66" name="Rounded Rectangle 11">
            <a:extLst>
              <a:ext uri="{FF2B5EF4-FFF2-40B4-BE49-F238E27FC236}">
                <a16:creationId xmlns:a16="http://schemas.microsoft.com/office/drawing/2014/main" id="{3707641F-4003-9CFE-0D9E-AA1FD367157A}"/>
              </a:ext>
            </a:extLst>
          </p:cNvPr>
          <p:cNvSpPr/>
          <p:nvPr/>
        </p:nvSpPr>
        <p:spPr>
          <a:xfrm>
            <a:off x="609584" y="3095625"/>
            <a:ext cx="4295667" cy="2095499"/>
          </a:xfrm>
          <a:prstGeom prst="roundRect">
            <a:avLst>
              <a:gd name="adj" fmla="val 10909"/>
            </a:avLst>
          </a:prstGeom>
          <a:gradFill rotWithShape="1">
            <a:gsLst>
              <a:gs pos="0">
                <a:srgbClr val="0288D1">
                  <a:alpha val="12000"/>
                </a:srgbClr>
              </a:gs>
              <a:gs pos="100000">
                <a:srgbClr val="00BCD4">
                  <a:alpha val="12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7" name="Picture 12" descr="image.png">
            <a:extLst>
              <a:ext uri="{FF2B5EF4-FFF2-40B4-BE49-F238E27FC236}">
                <a16:creationId xmlns:a16="http://schemas.microsoft.com/office/drawing/2014/main" id="{CCC5E7B2-A929-5A19-18A5-ECBEBFE907F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00079" y="3335110"/>
            <a:ext cx="285742" cy="244928"/>
          </a:xfrm>
          <a:prstGeom prst="rect">
            <a:avLst/>
          </a:prstGeom>
        </p:spPr>
      </p:pic>
      <p:sp>
        <p:nvSpPr>
          <p:cNvPr id="68" name="TextBox 13">
            <a:extLst>
              <a:ext uri="{FF2B5EF4-FFF2-40B4-BE49-F238E27FC236}">
                <a16:creationId xmlns:a16="http://schemas.microsoft.com/office/drawing/2014/main" id="{7F1C020D-3398-DB33-C830-38D3DDCEB4F0}"/>
              </a:ext>
            </a:extLst>
          </p:cNvPr>
          <p:cNvSpPr txBox="1"/>
          <p:nvPr/>
        </p:nvSpPr>
        <p:spPr>
          <a:xfrm>
            <a:off x="1200119" y="3294133"/>
            <a:ext cx="1898212" cy="3268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96" b="1" dirty="0">
                <a:solidFill>
                  <a:srgbClr val="0288D1"/>
                </a:solidFill>
                <a:latin typeface="Poppins"/>
              </a:rPr>
              <a:t>Calcul des Badgeages</a:t>
            </a:r>
            <a:endParaRPr sz="1196" b="1" dirty="0">
              <a:solidFill>
                <a:srgbClr val="0288D1"/>
              </a:solidFill>
              <a:latin typeface="Poppins"/>
            </a:endParaRPr>
          </a:p>
        </p:txBody>
      </p:sp>
      <p:sp>
        <p:nvSpPr>
          <p:cNvPr id="69" name="Rounded Rectangle 14">
            <a:extLst>
              <a:ext uri="{FF2B5EF4-FFF2-40B4-BE49-F238E27FC236}">
                <a16:creationId xmlns:a16="http://schemas.microsoft.com/office/drawing/2014/main" id="{6615FB77-673D-B080-33E8-99BCEC4553B5}"/>
              </a:ext>
            </a:extLst>
          </p:cNvPr>
          <p:cNvSpPr/>
          <p:nvPr/>
        </p:nvSpPr>
        <p:spPr>
          <a:xfrm>
            <a:off x="800079" y="3743325"/>
            <a:ext cx="3914677" cy="1257300"/>
          </a:xfrm>
          <a:prstGeom prst="roundRect">
            <a:avLst>
              <a:gd name="adj" fmla="val 12121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15">
            <a:extLst>
              <a:ext uri="{FF2B5EF4-FFF2-40B4-BE49-F238E27FC236}">
                <a16:creationId xmlns:a16="http://schemas.microsoft.com/office/drawing/2014/main" id="{7608E0FE-4656-D037-10D0-95D11BB946B3}"/>
              </a:ext>
            </a:extLst>
          </p:cNvPr>
          <p:cNvSpPr txBox="1"/>
          <p:nvPr/>
        </p:nvSpPr>
        <p:spPr>
          <a:xfrm>
            <a:off x="952476" y="3862356"/>
            <a:ext cx="3302443" cy="29533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>
              <a:lnSpc>
                <a:spcPts val="1560"/>
              </a:lnSpc>
              <a:spcAft>
                <a:spcPts val="520"/>
              </a:spcAft>
            </a:pPr>
            <a:r>
              <a:rPr sz="956" b="0" dirty="0" err="1">
                <a:solidFill>
                  <a:srgbClr val="B3E5FC"/>
                </a:solidFill>
                <a:latin typeface="Roboto"/>
              </a:rPr>
              <a:t>Calcul</a:t>
            </a:r>
            <a:r>
              <a:rPr sz="956" b="0" dirty="0">
                <a:solidFill>
                  <a:srgbClr val="B3E5FC"/>
                </a:solidFill>
                <a:latin typeface="Roboto"/>
              </a:rPr>
              <a:t> </a:t>
            </a:r>
            <a:r>
              <a:rPr sz="956" b="0" dirty="0" err="1">
                <a:solidFill>
                  <a:srgbClr val="B3E5FC"/>
                </a:solidFill>
                <a:latin typeface="Roboto"/>
              </a:rPr>
              <a:t>heures</a:t>
            </a:r>
            <a:r>
              <a:rPr sz="956" b="0" dirty="0">
                <a:solidFill>
                  <a:srgbClr val="B3E5FC"/>
                </a:solidFill>
                <a:latin typeface="Roboto"/>
              </a:rPr>
              <a:t> de travail </a:t>
            </a:r>
            <a:r>
              <a:rPr sz="956" b="0" dirty="0" err="1">
                <a:solidFill>
                  <a:srgbClr val="B3E5FC"/>
                </a:solidFill>
                <a:latin typeface="Roboto"/>
              </a:rPr>
              <a:t>moyennes</a:t>
            </a:r>
            <a:r>
              <a:rPr lang="fr-FR" sz="956" b="0" dirty="0">
                <a:solidFill>
                  <a:srgbClr val="B3E5FC"/>
                </a:solidFill>
                <a:latin typeface="Roboto"/>
              </a:rPr>
              <a:t> </a:t>
            </a:r>
            <a:r>
              <a:rPr lang="fr-FR" sz="956" dirty="0">
                <a:solidFill>
                  <a:srgbClr val="B3E5FC"/>
                </a:solidFill>
                <a:latin typeface="Roboto"/>
              </a:rPr>
              <a:t>sur tout les employés</a:t>
            </a:r>
            <a:endParaRPr sz="956" b="0" dirty="0">
              <a:solidFill>
                <a:srgbClr val="B3E5FC"/>
              </a:solidFill>
              <a:latin typeface="Roboto"/>
            </a:endParaRPr>
          </a:p>
        </p:txBody>
      </p:sp>
      <p:sp>
        <p:nvSpPr>
          <p:cNvPr id="71" name="TextBox 16">
            <a:extLst>
              <a:ext uri="{FF2B5EF4-FFF2-40B4-BE49-F238E27FC236}">
                <a16:creationId xmlns:a16="http://schemas.microsoft.com/office/drawing/2014/main" id="{5738BF63-1392-1810-133C-35D1B36E28DF}"/>
              </a:ext>
            </a:extLst>
          </p:cNvPr>
          <p:cNvSpPr txBox="1"/>
          <p:nvPr/>
        </p:nvSpPr>
        <p:spPr>
          <a:xfrm>
            <a:off x="952476" y="4200525"/>
            <a:ext cx="990575" cy="3809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152" b="1">
                <a:solidFill>
                  <a:srgbClr val="0288D1"/>
                </a:solidFill>
                <a:latin typeface="Poppins"/>
              </a:rPr>
              <a:t>7.70 h</a:t>
            </a: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DC31D4F1-D4F2-4F4D-32CE-6C21F09483D2}"/>
              </a:ext>
            </a:extLst>
          </p:cNvPr>
          <p:cNvSpPr txBox="1"/>
          <p:nvPr/>
        </p:nvSpPr>
        <p:spPr>
          <a:xfrm>
            <a:off x="2019249" y="4343400"/>
            <a:ext cx="137156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moyenne journalière</a:t>
            </a:r>
          </a:p>
        </p:txBody>
      </p:sp>
      <p:sp>
        <p:nvSpPr>
          <p:cNvPr id="73" name="TextBox 18">
            <a:extLst>
              <a:ext uri="{FF2B5EF4-FFF2-40B4-BE49-F238E27FC236}">
                <a16:creationId xmlns:a16="http://schemas.microsoft.com/office/drawing/2014/main" id="{A781E572-0A6D-E0DB-2506-8C30ABE92F1A}"/>
              </a:ext>
            </a:extLst>
          </p:cNvPr>
          <p:cNvSpPr txBox="1"/>
          <p:nvPr/>
        </p:nvSpPr>
        <p:spPr>
          <a:xfrm>
            <a:off x="952476" y="4657725"/>
            <a:ext cx="3609884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Basé sur 261 jours de pointage</a:t>
            </a:r>
          </a:p>
        </p:txBody>
      </p:sp>
      <p:sp>
        <p:nvSpPr>
          <p:cNvPr id="74" name="Rounded Rectangle 19">
            <a:extLst>
              <a:ext uri="{FF2B5EF4-FFF2-40B4-BE49-F238E27FC236}">
                <a16:creationId xmlns:a16="http://schemas.microsoft.com/office/drawing/2014/main" id="{1321D5FB-5475-5F48-4AEC-70B27C478B07}"/>
              </a:ext>
            </a:extLst>
          </p:cNvPr>
          <p:cNvSpPr/>
          <p:nvPr/>
        </p:nvSpPr>
        <p:spPr>
          <a:xfrm>
            <a:off x="609584" y="5343525"/>
            <a:ext cx="4295667" cy="1028700"/>
          </a:xfrm>
          <a:prstGeom prst="roundRect">
            <a:avLst>
              <a:gd name="adj" fmla="val 22222"/>
            </a:avLst>
          </a:prstGeom>
          <a:solidFill>
            <a:srgbClr val="0288D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 Same Side Corner Rectangle 20">
            <a:extLst>
              <a:ext uri="{FF2B5EF4-FFF2-40B4-BE49-F238E27FC236}">
                <a16:creationId xmlns:a16="http://schemas.microsoft.com/office/drawing/2014/main" id="{5968503B-08A9-BB60-9234-5BF762E5C50D}"/>
              </a:ext>
            </a:extLst>
          </p:cNvPr>
          <p:cNvSpPr/>
          <p:nvPr/>
        </p:nvSpPr>
        <p:spPr>
          <a:xfrm rot="16200000">
            <a:off x="161274" y="5791835"/>
            <a:ext cx="10287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6" name="Picture 21" descr="image.png">
            <a:extLst>
              <a:ext uri="{FF2B5EF4-FFF2-40B4-BE49-F238E27FC236}">
                <a16:creationId xmlns:a16="http://schemas.microsoft.com/office/drawing/2014/main" id="{4F70B9D7-0BA8-CDCD-2124-F8B5206589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38179" y="5597842"/>
            <a:ext cx="228594" cy="177164"/>
          </a:xfrm>
          <a:prstGeom prst="rect">
            <a:avLst/>
          </a:prstGeom>
        </p:spPr>
      </p:pic>
      <p:sp>
        <p:nvSpPr>
          <p:cNvPr id="77" name="TextBox 22">
            <a:extLst>
              <a:ext uri="{FF2B5EF4-FFF2-40B4-BE49-F238E27FC236}">
                <a16:creationId xmlns:a16="http://schemas.microsoft.com/office/drawing/2014/main" id="{64958E5E-5C75-EAEE-502D-34591CAC1763}"/>
              </a:ext>
            </a:extLst>
          </p:cNvPr>
          <p:cNvSpPr txBox="1"/>
          <p:nvPr/>
        </p:nvSpPr>
        <p:spPr>
          <a:xfrm>
            <a:off x="1142971" y="5553074"/>
            <a:ext cx="1009624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0288D1"/>
                </a:solidFill>
                <a:latin typeface="Roboto"/>
              </a:rPr>
              <a:t>Dataset Final</a:t>
            </a:r>
          </a:p>
        </p:txBody>
      </p:sp>
      <p:sp>
        <p:nvSpPr>
          <p:cNvPr id="78" name="TextBox 23">
            <a:extLst>
              <a:ext uri="{FF2B5EF4-FFF2-40B4-BE49-F238E27FC236}">
                <a16:creationId xmlns:a16="http://schemas.microsoft.com/office/drawing/2014/main" id="{96B74177-E717-0982-3EA3-ADE5B715383E}"/>
              </a:ext>
            </a:extLst>
          </p:cNvPr>
          <p:cNvSpPr txBox="1"/>
          <p:nvPr/>
        </p:nvSpPr>
        <p:spPr>
          <a:xfrm>
            <a:off x="838179" y="5915025"/>
            <a:ext cx="387657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FFFFFF"/>
                </a:solidFill>
                <a:latin typeface="Roboto"/>
              </a:rPr>
              <a:t>4 410 lignes × 27 colonnes</a:t>
            </a:r>
          </a:p>
        </p:txBody>
      </p:sp>
      <p:sp>
        <p:nvSpPr>
          <p:cNvPr id="79" name="TextBox 24">
            <a:extLst>
              <a:ext uri="{FF2B5EF4-FFF2-40B4-BE49-F238E27FC236}">
                <a16:creationId xmlns:a16="http://schemas.microsoft.com/office/drawing/2014/main" id="{CB029152-0728-90AE-F841-6514EC768CB2}"/>
              </a:ext>
            </a:extLst>
          </p:cNvPr>
          <p:cNvSpPr txBox="1"/>
          <p:nvPr/>
        </p:nvSpPr>
        <p:spPr>
          <a:xfrm>
            <a:off x="5133846" y="1038224"/>
            <a:ext cx="6448263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780"/>
              </a:spcAft>
            </a:pPr>
            <a:r>
              <a:rPr sz="1435" b="1">
                <a:solidFill>
                  <a:srgbClr val="FFFFFF"/>
                </a:solidFill>
                <a:latin typeface="Poppins"/>
              </a:rPr>
              <a:t>Pipeline de Préparation</a:t>
            </a:r>
          </a:p>
        </p:txBody>
      </p:sp>
      <p:sp>
        <p:nvSpPr>
          <p:cNvPr id="80" name="Rounded Rectangle 25">
            <a:extLst>
              <a:ext uri="{FF2B5EF4-FFF2-40B4-BE49-F238E27FC236}">
                <a16:creationId xmlns:a16="http://schemas.microsoft.com/office/drawing/2014/main" id="{CF1EC568-2DCC-89BD-712E-F0B3FE63FF5E}"/>
              </a:ext>
            </a:extLst>
          </p:cNvPr>
          <p:cNvSpPr/>
          <p:nvPr/>
        </p:nvSpPr>
        <p:spPr>
          <a:xfrm>
            <a:off x="5133846" y="1457325"/>
            <a:ext cx="2076398" cy="1104900"/>
          </a:xfrm>
          <a:prstGeom prst="roundRect">
            <a:avLst>
              <a:gd name="adj" fmla="val 13793"/>
            </a:avLst>
          </a:prstGeom>
          <a:solidFill>
            <a:srgbClr val="00BCD4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1" name="Picture 26" descr="image.png">
            <a:extLst>
              <a:ext uri="{FF2B5EF4-FFF2-40B4-BE49-F238E27FC236}">
                <a16:creationId xmlns:a16="http://schemas.microsoft.com/office/drawing/2014/main" id="{F882597D-6556-0DF8-676C-1B1AA10B4C15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286242" y="1679257"/>
            <a:ext cx="228594" cy="165734"/>
          </a:xfrm>
          <a:prstGeom prst="rect">
            <a:avLst/>
          </a:prstGeom>
        </p:spPr>
      </p:pic>
      <p:sp>
        <p:nvSpPr>
          <p:cNvPr id="82" name="TextBox 27">
            <a:extLst>
              <a:ext uri="{FF2B5EF4-FFF2-40B4-BE49-F238E27FC236}">
                <a16:creationId xmlns:a16="http://schemas.microsoft.com/office/drawing/2014/main" id="{221EFAD9-297B-C33F-4843-287F0E180C08}"/>
              </a:ext>
            </a:extLst>
          </p:cNvPr>
          <p:cNvSpPr txBox="1"/>
          <p:nvPr/>
        </p:nvSpPr>
        <p:spPr>
          <a:xfrm>
            <a:off x="5591035" y="1647825"/>
            <a:ext cx="87627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Split Stratifié</a:t>
            </a:r>
          </a:p>
        </p:txBody>
      </p:sp>
      <p:sp>
        <p:nvSpPr>
          <p:cNvPr id="83" name="TextBox 28">
            <a:extLst>
              <a:ext uri="{FF2B5EF4-FFF2-40B4-BE49-F238E27FC236}">
                <a16:creationId xmlns:a16="http://schemas.microsoft.com/office/drawing/2014/main" id="{62D0151B-8558-F906-96E7-B32FB5355B0D}"/>
              </a:ext>
            </a:extLst>
          </p:cNvPr>
          <p:cNvSpPr txBox="1"/>
          <p:nvPr/>
        </p:nvSpPr>
        <p:spPr>
          <a:xfrm>
            <a:off x="5286242" y="1990724"/>
            <a:ext cx="177160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Train 70% | Test 30%</a:t>
            </a:r>
          </a:p>
        </p:txBody>
      </p:sp>
      <p:sp>
        <p:nvSpPr>
          <p:cNvPr id="84" name="TextBox 29">
            <a:extLst>
              <a:ext uri="{FF2B5EF4-FFF2-40B4-BE49-F238E27FC236}">
                <a16:creationId xmlns:a16="http://schemas.microsoft.com/office/drawing/2014/main" id="{1E2A007F-2AC0-8114-DD76-B4C7D9F06274}"/>
              </a:ext>
            </a:extLst>
          </p:cNvPr>
          <p:cNvSpPr txBox="1"/>
          <p:nvPr/>
        </p:nvSpPr>
        <p:spPr>
          <a:xfrm>
            <a:off x="5286242" y="2219324"/>
            <a:ext cx="177160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Ratio conservé 16.13%</a:t>
            </a:r>
          </a:p>
        </p:txBody>
      </p:sp>
      <p:sp>
        <p:nvSpPr>
          <p:cNvPr id="85" name="Rounded Rectangle 30">
            <a:extLst>
              <a:ext uri="{FF2B5EF4-FFF2-40B4-BE49-F238E27FC236}">
                <a16:creationId xmlns:a16="http://schemas.microsoft.com/office/drawing/2014/main" id="{DC15ED82-647A-1E6C-A32D-F7176239C193}"/>
              </a:ext>
            </a:extLst>
          </p:cNvPr>
          <p:cNvSpPr/>
          <p:nvPr/>
        </p:nvSpPr>
        <p:spPr>
          <a:xfrm>
            <a:off x="7324541" y="1457325"/>
            <a:ext cx="2076398" cy="1104900"/>
          </a:xfrm>
          <a:prstGeom prst="roundRect">
            <a:avLst>
              <a:gd name="adj" fmla="val 13793"/>
            </a:avLst>
          </a:prstGeom>
          <a:solidFill>
            <a:srgbClr val="00BCD4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Picture 31" descr="image.png">
            <a:extLst>
              <a:ext uri="{FF2B5EF4-FFF2-40B4-BE49-F238E27FC236}">
                <a16:creationId xmlns:a16="http://schemas.microsoft.com/office/drawing/2014/main" id="{5F7A7638-4056-A1C7-5655-2D3DF162A92B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476938" y="1699260"/>
            <a:ext cx="228594" cy="125729"/>
          </a:xfrm>
          <a:prstGeom prst="rect">
            <a:avLst/>
          </a:prstGeom>
        </p:spPr>
      </p:pic>
      <p:sp>
        <p:nvSpPr>
          <p:cNvPr id="87" name="TextBox 32">
            <a:extLst>
              <a:ext uri="{FF2B5EF4-FFF2-40B4-BE49-F238E27FC236}">
                <a16:creationId xmlns:a16="http://schemas.microsoft.com/office/drawing/2014/main" id="{91E4074A-A8A3-BC3A-6F5A-E3326DD1576F}"/>
              </a:ext>
            </a:extLst>
          </p:cNvPr>
          <p:cNvSpPr txBox="1"/>
          <p:nvPr/>
        </p:nvSpPr>
        <p:spPr>
          <a:xfrm>
            <a:off x="7781730" y="1647825"/>
            <a:ext cx="127631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Encodage One-Hot</a:t>
            </a:r>
          </a:p>
        </p:txBody>
      </p:sp>
      <p:sp>
        <p:nvSpPr>
          <p:cNvPr id="88" name="TextBox 33">
            <a:extLst>
              <a:ext uri="{FF2B5EF4-FFF2-40B4-BE49-F238E27FC236}">
                <a16:creationId xmlns:a16="http://schemas.microsoft.com/office/drawing/2014/main" id="{E8B9C708-72E3-5CD4-EBE3-B6163C3C6A32}"/>
              </a:ext>
            </a:extLst>
          </p:cNvPr>
          <p:cNvSpPr txBox="1"/>
          <p:nvPr/>
        </p:nvSpPr>
        <p:spPr>
          <a:xfrm>
            <a:off x="7476938" y="1990724"/>
            <a:ext cx="177160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Variables catégorielles</a:t>
            </a:r>
          </a:p>
        </p:txBody>
      </p:sp>
      <p:sp>
        <p:nvSpPr>
          <p:cNvPr id="89" name="TextBox 34">
            <a:extLst>
              <a:ext uri="{FF2B5EF4-FFF2-40B4-BE49-F238E27FC236}">
                <a16:creationId xmlns:a16="http://schemas.microsoft.com/office/drawing/2014/main" id="{12A43596-25DA-ABED-C55B-2B33FBFDFA4F}"/>
              </a:ext>
            </a:extLst>
          </p:cNvPr>
          <p:cNvSpPr txBox="1"/>
          <p:nvPr/>
        </p:nvSpPr>
        <p:spPr>
          <a:xfrm>
            <a:off x="7476938" y="2219324"/>
            <a:ext cx="177160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7 variables transformées</a:t>
            </a:r>
          </a:p>
        </p:txBody>
      </p:sp>
      <p:sp>
        <p:nvSpPr>
          <p:cNvPr id="90" name="Rounded Rectangle 35">
            <a:extLst>
              <a:ext uri="{FF2B5EF4-FFF2-40B4-BE49-F238E27FC236}">
                <a16:creationId xmlns:a16="http://schemas.microsoft.com/office/drawing/2014/main" id="{B0C46168-393E-7C92-A053-17A2315366D9}"/>
              </a:ext>
            </a:extLst>
          </p:cNvPr>
          <p:cNvSpPr/>
          <p:nvPr/>
        </p:nvSpPr>
        <p:spPr>
          <a:xfrm>
            <a:off x="9505712" y="1457325"/>
            <a:ext cx="2076398" cy="1104900"/>
          </a:xfrm>
          <a:prstGeom prst="roundRect">
            <a:avLst>
              <a:gd name="adj" fmla="val 13793"/>
            </a:avLst>
          </a:prstGeom>
          <a:solidFill>
            <a:srgbClr val="00BCD4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1" name="Picture 36" descr="image.png">
            <a:extLst>
              <a:ext uri="{FF2B5EF4-FFF2-40B4-BE49-F238E27FC236}">
                <a16:creationId xmlns:a16="http://schemas.microsoft.com/office/drawing/2014/main" id="{123EF61A-53ED-E3D8-E2A3-DD8C29CB95EC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9658108" y="1673542"/>
            <a:ext cx="228594" cy="177164"/>
          </a:xfrm>
          <a:prstGeom prst="rect">
            <a:avLst/>
          </a:prstGeom>
        </p:spPr>
      </p:pic>
      <p:sp>
        <p:nvSpPr>
          <p:cNvPr id="92" name="TextBox 37">
            <a:extLst>
              <a:ext uri="{FF2B5EF4-FFF2-40B4-BE49-F238E27FC236}">
                <a16:creationId xmlns:a16="http://schemas.microsoft.com/office/drawing/2014/main" id="{722188CE-9076-4707-2FB6-FD4199060C1C}"/>
              </a:ext>
            </a:extLst>
          </p:cNvPr>
          <p:cNvSpPr txBox="1"/>
          <p:nvPr/>
        </p:nvSpPr>
        <p:spPr>
          <a:xfrm>
            <a:off x="9962900" y="1647825"/>
            <a:ext cx="96200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Normalisation</a:t>
            </a:r>
          </a:p>
        </p:txBody>
      </p:sp>
      <p:sp>
        <p:nvSpPr>
          <p:cNvPr id="93" name="TextBox 38">
            <a:extLst>
              <a:ext uri="{FF2B5EF4-FFF2-40B4-BE49-F238E27FC236}">
                <a16:creationId xmlns:a16="http://schemas.microsoft.com/office/drawing/2014/main" id="{0707783F-AB8B-5AAB-A4D3-B56FDE17B980}"/>
              </a:ext>
            </a:extLst>
          </p:cNvPr>
          <p:cNvSpPr txBox="1"/>
          <p:nvPr/>
        </p:nvSpPr>
        <p:spPr>
          <a:xfrm>
            <a:off x="9658108" y="1990724"/>
            <a:ext cx="177160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StandardScaler</a:t>
            </a:r>
          </a:p>
        </p:txBody>
      </p:sp>
      <p:sp>
        <p:nvSpPr>
          <p:cNvPr id="94" name="TextBox 39">
            <a:extLst>
              <a:ext uri="{FF2B5EF4-FFF2-40B4-BE49-F238E27FC236}">
                <a16:creationId xmlns:a16="http://schemas.microsoft.com/office/drawing/2014/main" id="{5E3404B0-CFDF-828B-CB70-073872824682}"/>
              </a:ext>
            </a:extLst>
          </p:cNvPr>
          <p:cNvSpPr txBox="1"/>
          <p:nvPr/>
        </p:nvSpPr>
        <p:spPr>
          <a:xfrm>
            <a:off x="9658108" y="2219324"/>
            <a:ext cx="177160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Fit train, transform test</a:t>
            </a:r>
          </a:p>
        </p:txBody>
      </p:sp>
      <p:sp>
        <p:nvSpPr>
          <p:cNvPr id="95" name="TextBox 40">
            <a:extLst>
              <a:ext uri="{FF2B5EF4-FFF2-40B4-BE49-F238E27FC236}">
                <a16:creationId xmlns:a16="http://schemas.microsoft.com/office/drawing/2014/main" id="{A2C2D6D5-6DBA-4E38-5F59-1E4CFDE97EC2}"/>
              </a:ext>
            </a:extLst>
          </p:cNvPr>
          <p:cNvSpPr txBox="1"/>
          <p:nvPr/>
        </p:nvSpPr>
        <p:spPr>
          <a:xfrm>
            <a:off x="5133846" y="2714625"/>
            <a:ext cx="6448263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780"/>
              </a:spcAft>
            </a:pPr>
            <a:r>
              <a:rPr sz="1435" b="1">
                <a:solidFill>
                  <a:srgbClr val="FFFFFF"/>
                </a:solidFill>
                <a:latin typeface="Poppins"/>
              </a:rPr>
              <a:t>Distribution Train/Test</a:t>
            </a:r>
          </a:p>
        </p:txBody>
      </p:sp>
      <p:sp>
        <p:nvSpPr>
          <p:cNvPr id="96" name="Rounded Rectangle 41">
            <a:extLst>
              <a:ext uri="{FF2B5EF4-FFF2-40B4-BE49-F238E27FC236}">
                <a16:creationId xmlns:a16="http://schemas.microsoft.com/office/drawing/2014/main" id="{CEC6D7E8-52CA-7504-3317-C12D700EB58C}"/>
              </a:ext>
            </a:extLst>
          </p:cNvPr>
          <p:cNvSpPr/>
          <p:nvPr/>
        </p:nvSpPr>
        <p:spPr>
          <a:xfrm>
            <a:off x="5133846" y="3133724"/>
            <a:ext cx="3143171" cy="1485900"/>
          </a:xfrm>
          <a:prstGeom prst="roundRect">
            <a:avLst>
              <a:gd name="adj" fmla="val 15384"/>
            </a:avLst>
          </a:prstGeom>
          <a:solidFill>
            <a:srgbClr val="00BCD4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7" name="Picture 42" descr="image.png">
            <a:extLst>
              <a:ext uri="{FF2B5EF4-FFF2-40B4-BE49-F238E27FC236}">
                <a16:creationId xmlns:a16="http://schemas.microsoft.com/office/drawing/2014/main" id="{7B6228E7-B47D-5DCD-B590-12C7E54D1D21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324341" y="3388042"/>
            <a:ext cx="228594" cy="177164"/>
          </a:xfrm>
          <a:prstGeom prst="rect">
            <a:avLst/>
          </a:prstGeom>
        </p:spPr>
      </p:pic>
      <p:sp>
        <p:nvSpPr>
          <p:cNvPr id="98" name="TextBox 43">
            <a:extLst>
              <a:ext uri="{FF2B5EF4-FFF2-40B4-BE49-F238E27FC236}">
                <a16:creationId xmlns:a16="http://schemas.microsoft.com/office/drawing/2014/main" id="{2333B847-9EC5-67B3-17DD-FA87A0C29B7B}"/>
              </a:ext>
            </a:extLst>
          </p:cNvPr>
          <p:cNvSpPr txBox="1"/>
          <p:nvPr/>
        </p:nvSpPr>
        <p:spPr>
          <a:xfrm>
            <a:off x="5629134" y="3343275"/>
            <a:ext cx="147633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"/>
              </a:rPr>
              <a:t>Jeu d'Entraînement</a:t>
            </a:r>
          </a:p>
        </p:txBody>
      </p:sp>
      <p:sp>
        <p:nvSpPr>
          <p:cNvPr id="99" name="TextBox 44">
            <a:extLst>
              <a:ext uri="{FF2B5EF4-FFF2-40B4-BE49-F238E27FC236}">
                <a16:creationId xmlns:a16="http://schemas.microsoft.com/office/drawing/2014/main" id="{D6E9CC09-6409-9476-07C3-6D34723F22BA}"/>
              </a:ext>
            </a:extLst>
          </p:cNvPr>
          <p:cNvSpPr txBox="1"/>
          <p:nvPr/>
        </p:nvSpPr>
        <p:spPr>
          <a:xfrm>
            <a:off x="5324341" y="3743325"/>
            <a:ext cx="761980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1">
                <a:solidFill>
                  <a:srgbClr val="00BCD4"/>
                </a:solidFill>
                <a:latin typeface="Poppins"/>
              </a:rPr>
              <a:t>3 087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4E09D439-8B1D-AB32-0625-A14068C77924}"/>
              </a:ext>
            </a:extLst>
          </p:cNvPr>
          <p:cNvSpPr txBox="1"/>
          <p:nvPr/>
        </p:nvSpPr>
        <p:spPr>
          <a:xfrm>
            <a:off x="6162520" y="3848099"/>
            <a:ext cx="40003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B3E5FC"/>
                </a:solidFill>
                <a:latin typeface="Roboto"/>
              </a:rPr>
              <a:t>lignes</a:t>
            </a:r>
          </a:p>
        </p:txBody>
      </p:sp>
      <p:sp>
        <p:nvSpPr>
          <p:cNvPr id="101" name="Rounded Rectangle 46">
            <a:extLst>
              <a:ext uri="{FF2B5EF4-FFF2-40B4-BE49-F238E27FC236}">
                <a16:creationId xmlns:a16="http://schemas.microsoft.com/office/drawing/2014/main" id="{093792B4-2F81-B92B-A9B6-ACA463A169FC}"/>
              </a:ext>
            </a:extLst>
          </p:cNvPr>
          <p:cNvSpPr/>
          <p:nvPr/>
        </p:nvSpPr>
        <p:spPr>
          <a:xfrm>
            <a:off x="5324341" y="4162424"/>
            <a:ext cx="1238219" cy="266699"/>
          </a:xfrm>
          <a:prstGeom prst="roundRect">
            <a:avLst>
              <a:gd name="adj" fmla="val 28571"/>
            </a:avLst>
          </a:prstGeom>
          <a:solidFill>
            <a:srgbClr val="00BCD4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47">
            <a:extLst>
              <a:ext uri="{FF2B5EF4-FFF2-40B4-BE49-F238E27FC236}">
                <a16:creationId xmlns:a16="http://schemas.microsoft.com/office/drawing/2014/main" id="{B427F7FF-297B-7A86-BD6D-1678CAD5DFBC}"/>
              </a:ext>
            </a:extLst>
          </p:cNvPr>
          <p:cNvSpPr txBox="1"/>
          <p:nvPr/>
        </p:nvSpPr>
        <p:spPr>
          <a:xfrm>
            <a:off x="5324341" y="4162424"/>
            <a:ext cx="123821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E1F5FE"/>
                </a:solidFill>
                <a:latin typeface="Roboto"/>
              </a:rPr>
              <a:t>Attrition 1: 16.13%</a:t>
            </a:r>
          </a:p>
        </p:txBody>
      </p:sp>
      <p:sp>
        <p:nvSpPr>
          <p:cNvPr id="103" name="Rounded Rectangle 48">
            <a:extLst>
              <a:ext uri="{FF2B5EF4-FFF2-40B4-BE49-F238E27FC236}">
                <a16:creationId xmlns:a16="http://schemas.microsoft.com/office/drawing/2014/main" id="{15482A58-D390-6866-D44F-9CF3B85BE228}"/>
              </a:ext>
            </a:extLst>
          </p:cNvPr>
          <p:cNvSpPr/>
          <p:nvPr/>
        </p:nvSpPr>
        <p:spPr>
          <a:xfrm>
            <a:off x="6676858" y="4162424"/>
            <a:ext cx="1238219" cy="266699"/>
          </a:xfrm>
          <a:prstGeom prst="roundRect">
            <a:avLst>
              <a:gd name="adj" fmla="val 28571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49">
            <a:extLst>
              <a:ext uri="{FF2B5EF4-FFF2-40B4-BE49-F238E27FC236}">
                <a16:creationId xmlns:a16="http://schemas.microsoft.com/office/drawing/2014/main" id="{ED967713-D6D9-408F-C4DA-B09ACEF56E55}"/>
              </a:ext>
            </a:extLst>
          </p:cNvPr>
          <p:cNvSpPr txBox="1"/>
          <p:nvPr/>
        </p:nvSpPr>
        <p:spPr>
          <a:xfrm>
            <a:off x="6676858" y="4162424"/>
            <a:ext cx="123821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Attrition 0: 83.87%</a:t>
            </a:r>
          </a:p>
        </p:txBody>
      </p:sp>
      <p:sp>
        <p:nvSpPr>
          <p:cNvPr id="105" name="Rounded Rectangle 50">
            <a:extLst>
              <a:ext uri="{FF2B5EF4-FFF2-40B4-BE49-F238E27FC236}">
                <a16:creationId xmlns:a16="http://schemas.microsoft.com/office/drawing/2014/main" id="{99D17BD9-963C-7395-28C3-B375E368E10C}"/>
              </a:ext>
            </a:extLst>
          </p:cNvPr>
          <p:cNvSpPr/>
          <p:nvPr/>
        </p:nvSpPr>
        <p:spPr>
          <a:xfrm>
            <a:off x="8438939" y="3133724"/>
            <a:ext cx="3143171" cy="1485900"/>
          </a:xfrm>
          <a:prstGeom prst="roundRect">
            <a:avLst>
              <a:gd name="adj" fmla="val 15384"/>
            </a:avLst>
          </a:prstGeom>
          <a:solidFill>
            <a:srgbClr val="0288D1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6" name="Picture 51" descr="image.png">
            <a:extLst>
              <a:ext uri="{FF2B5EF4-FFF2-40B4-BE49-F238E27FC236}">
                <a16:creationId xmlns:a16="http://schemas.microsoft.com/office/drawing/2014/main" id="{5DE6A2B3-DF1D-ED07-2633-B8B8C1B2022C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629434" y="3379470"/>
            <a:ext cx="228594" cy="194309"/>
          </a:xfrm>
          <a:prstGeom prst="rect">
            <a:avLst/>
          </a:prstGeom>
        </p:spPr>
      </p:pic>
      <p:sp>
        <p:nvSpPr>
          <p:cNvPr id="107" name="TextBox 52">
            <a:extLst>
              <a:ext uri="{FF2B5EF4-FFF2-40B4-BE49-F238E27FC236}">
                <a16:creationId xmlns:a16="http://schemas.microsoft.com/office/drawing/2014/main" id="{007D4E79-3F29-3F5F-584F-821D41692888}"/>
              </a:ext>
            </a:extLst>
          </p:cNvPr>
          <p:cNvSpPr txBox="1"/>
          <p:nvPr/>
        </p:nvSpPr>
        <p:spPr>
          <a:xfrm>
            <a:off x="8934226" y="3343275"/>
            <a:ext cx="88580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"/>
              </a:rPr>
              <a:t>Jeu de Test</a:t>
            </a:r>
          </a:p>
        </p:txBody>
      </p:sp>
      <p:sp>
        <p:nvSpPr>
          <p:cNvPr id="108" name="TextBox 53">
            <a:extLst>
              <a:ext uri="{FF2B5EF4-FFF2-40B4-BE49-F238E27FC236}">
                <a16:creationId xmlns:a16="http://schemas.microsoft.com/office/drawing/2014/main" id="{1AC94B67-80E4-4F3B-8B3F-90685EA607C3}"/>
              </a:ext>
            </a:extLst>
          </p:cNvPr>
          <p:cNvSpPr txBox="1"/>
          <p:nvPr/>
        </p:nvSpPr>
        <p:spPr>
          <a:xfrm>
            <a:off x="8629434" y="3743325"/>
            <a:ext cx="676258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1">
                <a:solidFill>
                  <a:srgbClr val="0288D1"/>
                </a:solidFill>
                <a:latin typeface="Poppins"/>
              </a:rPr>
              <a:t>1 323</a:t>
            </a:r>
          </a:p>
        </p:txBody>
      </p:sp>
      <p:sp>
        <p:nvSpPr>
          <p:cNvPr id="109" name="TextBox 54">
            <a:extLst>
              <a:ext uri="{FF2B5EF4-FFF2-40B4-BE49-F238E27FC236}">
                <a16:creationId xmlns:a16="http://schemas.microsoft.com/office/drawing/2014/main" id="{8BC83D01-D2E5-BAD0-87C4-68C2D696F656}"/>
              </a:ext>
            </a:extLst>
          </p:cNvPr>
          <p:cNvSpPr txBox="1"/>
          <p:nvPr/>
        </p:nvSpPr>
        <p:spPr>
          <a:xfrm>
            <a:off x="9381890" y="3848099"/>
            <a:ext cx="40003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B3E5FC"/>
                </a:solidFill>
                <a:latin typeface="Roboto"/>
              </a:rPr>
              <a:t>lignes</a:t>
            </a:r>
          </a:p>
        </p:txBody>
      </p:sp>
      <p:sp>
        <p:nvSpPr>
          <p:cNvPr id="110" name="Rounded Rectangle 55">
            <a:extLst>
              <a:ext uri="{FF2B5EF4-FFF2-40B4-BE49-F238E27FC236}">
                <a16:creationId xmlns:a16="http://schemas.microsoft.com/office/drawing/2014/main" id="{5CE3D90A-5749-8B38-B406-B3FC74823DB0}"/>
              </a:ext>
            </a:extLst>
          </p:cNvPr>
          <p:cNvSpPr/>
          <p:nvPr/>
        </p:nvSpPr>
        <p:spPr>
          <a:xfrm>
            <a:off x="8629434" y="4162424"/>
            <a:ext cx="1238219" cy="266699"/>
          </a:xfrm>
          <a:prstGeom prst="roundRect">
            <a:avLst>
              <a:gd name="adj" fmla="val 28571"/>
            </a:avLst>
          </a:prstGeom>
          <a:solidFill>
            <a:srgbClr val="0288D1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56">
            <a:extLst>
              <a:ext uri="{FF2B5EF4-FFF2-40B4-BE49-F238E27FC236}">
                <a16:creationId xmlns:a16="http://schemas.microsoft.com/office/drawing/2014/main" id="{4728A2E2-E001-4FB3-0C25-04244CD5F701}"/>
              </a:ext>
            </a:extLst>
          </p:cNvPr>
          <p:cNvSpPr txBox="1"/>
          <p:nvPr/>
        </p:nvSpPr>
        <p:spPr>
          <a:xfrm>
            <a:off x="8629434" y="4162424"/>
            <a:ext cx="123821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E1F5FE"/>
                </a:solidFill>
                <a:latin typeface="Roboto"/>
              </a:rPr>
              <a:t>Attrition 1: 16.10%</a:t>
            </a:r>
          </a:p>
        </p:txBody>
      </p:sp>
      <p:sp>
        <p:nvSpPr>
          <p:cNvPr id="112" name="Rounded Rectangle 57">
            <a:extLst>
              <a:ext uri="{FF2B5EF4-FFF2-40B4-BE49-F238E27FC236}">
                <a16:creationId xmlns:a16="http://schemas.microsoft.com/office/drawing/2014/main" id="{C486E4A1-56A4-93AA-31DF-9DE500DAE8B2}"/>
              </a:ext>
            </a:extLst>
          </p:cNvPr>
          <p:cNvSpPr/>
          <p:nvPr/>
        </p:nvSpPr>
        <p:spPr>
          <a:xfrm>
            <a:off x="9972425" y="4162424"/>
            <a:ext cx="1238219" cy="266699"/>
          </a:xfrm>
          <a:prstGeom prst="roundRect">
            <a:avLst>
              <a:gd name="adj" fmla="val 28571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58">
            <a:extLst>
              <a:ext uri="{FF2B5EF4-FFF2-40B4-BE49-F238E27FC236}">
                <a16:creationId xmlns:a16="http://schemas.microsoft.com/office/drawing/2014/main" id="{390D02D5-BC9B-88D6-5C9E-138ABB1F03B2}"/>
              </a:ext>
            </a:extLst>
          </p:cNvPr>
          <p:cNvSpPr txBox="1"/>
          <p:nvPr/>
        </p:nvSpPr>
        <p:spPr>
          <a:xfrm>
            <a:off x="9972425" y="4162424"/>
            <a:ext cx="123821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Attrition 0: 83.90%</a:t>
            </a:r>
          </a:p>
        </p:txBody>
      </p:sp>
      <p:sp>
        <p:nvSpPr>
          <p:cNvPr id="114" name="Rounded Rectangle 59">
            <a:extLst>
              <a:ext uri="{FF2B5EF4-FFF2-40B4-BE49-F238E27FC236}">
                <a16:creationId xmlns:a16="http://schemas.microsoft.com/office/drawing/2014/main" id="{534A3637-7A3A-3A38-7408-C33E1E7EFFCD}"/>
              </a:ext>
            </a:extLst>
          </p:cNvPr>
          <p:cNvSpPr/>
          <p:nvPr/>
        </p:nvSpPr>
        <p:spPr>
          <a:xfrm>
            <a:off x="5133846" y="4772025"/>
            <a:ext cx="6448263" cy="1066799"/>
          </a:xfrm>
          <a:prstGeom prst="roundRect">
            <a:avLst>
              <a:gd name="adj" fmla="val 21428"/>
            </a:avLst>
          </a:prstGeom>
          <a:gradFill rotWithShape="1">
            <a:gsLst>
              <a:gs pos="0">
                <a:srgbClr val="00BCD4">
                  <a:alpha val="20000"/>
                </a:srgbClr>
              </a:gs>
              <a:gs pos="100000">
                <a:srgbClr val="0288D1">
                  <a:alpha val="20000"/>
                </a:srgbClr>
              </a:gs>
            </a:gsLst>
            <a:lin ang="8100000" scaled="0"/>
          </a:gradFill>
          <a:ln w="1651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5" name="Picture 60" descr="image.png">
            <a:extLst>
              <a:ext uri="{FF2B5EF4-FFF2-40B4-BE49-F238E27FC236}">
                <a16:creationId xmlns:a16="http://schemas.microsoft.com/office/drawing/2014/main" id="{5E4151B7-5DE7-AB50-8D7E-A6B3A6E35627}"/>
              </a:ext>
            </a:extLst>
          </p:cNvPr>
          <p:cNvPicPr>
            <a:picLocks noChangeAspect="1"/>
          </p:cNvPicPr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714957" y="5151711"/>
            <a:ext cx="342891" cy="307427"/>
          </a:xfrm>
          <a:prstGeom prst="rect">
            <a:avLst/>
          </a:prstGeom>
        </p:spPr>
      </p:pic>
      <p:sp>
        <p:nvSpPr>
          <p:cNvPr id="116" name="TextBox 61">
            <a:extLst>
              <a:ext uri="{FF2B5EF4-FFF2-40B4-BE49-F238E27FC236}">
                <a16:creationId xmlns:a16="http://schemas.microsoft.com/office/drawing/2014/main" id="{C1747E4A-2457-DE5D-9252-8BC9477EAF07}"/>
              </a:ext>
            </a:extLst>
          </p:cNvPr>
          <p:cNvSpPr txBox="1"/>
          <p:nvPr/>
        </p:nvSpPr>
        <p:spPr>
          <a:xfrm>
            <a:off x="7172145" y="4981574"/>
            <a:ext cx="283837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0">
                <a:solidFill>
                  <a:srgbClr val="B3E5FC"/>
                </a:solidFill>
                <a:latin typeface="Roboto"/>
              </a:rPr>
              <a:t>Dataset Prêt pour Modélisation</a:t>
            </a:r>
          </a:p>
        </p:txBody>
      </p:sp>
      <p:sp>
        <p:nvSpPr>
          <p:cNvPr id="117" name="TextBox 62">
            <a:extLst>
              <a:ext uri="{FF2B5EF4-FFF2-40B4-BE49-F238E27FC236}">
                <a16:creationId xmlns:a16="http://schemas.microsoft.com/office/drawing/2014/main" id="{9A03B7E1-B1AC-CCF4-4FC8-8480BAC9B5E1}"/>
              </a:ext>
            </a:extLst>
          </p:cNvPr>
          <p:cNvSpPr txBox="1"/>
          <p:nvPr/>
        </p:nvSpPr>
        <p:spPr>
          <a:xfrm>
            <a:off x="7172145" y="5286375"/>
            <a:ext cx="2838379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1">
                <a:solidFill>
                  <a:srgbClr val="FFFFFF"/>
                </a:solidFill>
                <a:latin typeface="Poppins"/>
              </a:rPr>
              <a:t>46 Features Finales</a:t>
            </a: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37947191-879E-5981-22D1-FCDB13D6F72D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18448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183104"/>
            <a:ext cx="4394088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FFFFFF"/>
                </a:solidFill>
                <a:latin typeface="Poppins"/>
              </a:rPr>
              <a:t>0</a:t>
            </a:r>
            <a:r>
              <a:rPr lang="fr-FR" sz="3200" b="1" dirty="0">
                <a:solidFill>
                  <a:srgbClr val="FFFFFF"/>
                </a:solidFill>
                <a:latin typeface="Poppins"/>
              </a:rPr>
              <a:t>4</a:t>
            </a:r>
            <a:r>
              <a:rPr sz="3200" b="1" dirty="0">
                <a:solidFill>
                  <a:srgbClr val="FFFFFF"/>
                </a:solidFill>
                <a:latin typeface="Poppins"/>
              </a:rPr>
              <a:t>. </a:t>
            </a:r>
            <a:r>
              <a:rPr sz="3200" b="1" dirty="0" err="1">
                <a:solidFill>
                  <a:srgbClr val="FFFFFF"/>
                </a:solidFill>
                <a:latin typeface="Poppins"/>
              </a:rPr>
              <a:t>Utilisation</a:t>
            </a:r>
            <a:r>
              <a:rPr sz="3200" b="1" dirty="0">
                <a:solidFill>
                  <a:srgbClr val="FFFFFF"/>
                </a:solidFill>
                <a:latin typeface="Poppins"/>
              </a:rPr>
              <a:t> de </a:t>
            </a:r>
            <a:r>
              <a:rPr sz="3200" b="1" dirty="0" err="1">
                <a:solidFill>
                  <a:srgbClr val="FFFFFF"/>
                </a:solidFill>
                <a:latin typeface="Poppins"/>
              </a:rPr>
              <a:t>l'IA</a:t>
            </a:r>
            <a:endParaRPr sz="3200" b="1" dirty="0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09584" y="1314450"/>
            <a:ext cx="4181370" cy="2409825"/>
          </a:xfrm>
          <a:prstGeom prst="roundRect">
            <a:avLst>
              <a:gd name="adj" fmla="val 9486"/>
            </a:avLst>
          </a:prstGeom>
          <a:gradFill rotWithShape="1">
            <a:gsLst>
              <a:gs pos="0">
                <a:srgbClr val="00BCD4">
                  <a:alpha val="12000"/>
                </a:srgbClr>
              </a:gs>
              <a:gs pos="100000">
                <a:srgbClr val="0288D1">
                  <a:alpha val="12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38179" y="1603484"/>
            <a:ext cx="342891" cy="2601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95367" y="1581149"/>
            <a:ext cx="3000299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BCD4"/>
                </a:solidFill>
                <a:latin typeface="Poppins"/>
              </a:rPr>
              <a:t>Approche Non Supervisée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179" y="2076449"/>
            <a:ext cx="3724181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1040"/>
              </a:spcAft>
            </a:pPr>
            <a:r>
              <a:rPr sz="1196" b="0">
                <a:solidFill>
                  <a:srgbClr val="E1F5FE"/>
                </a:solidFill>
                <a:latin typeface="Roboto"/>
              </a:rPr>
              <a:t>KMeans Clustering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179" y="2533649"/>
            <a:ext cx="3724181" cy="2666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B3E5FC"/>
                </a:solidFill>
                <a:latin typeface="Roboto"/>
              </a:rPr>
              <a:t>• Identification de profils employés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179" y="2876549"/>
            <a:ext cx="3724181" cy="2666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520"/>
              </a:spcBef>
              <a:spcAft>
                <a:spcPts val="0"/>
              </a:spcAft>
            </a:pPr>
            <a:r>
              <a:rPr sz="1076" b="0">
                <a:solidFill>
                  <a:srgbClr val="B3E5FC"/>
                </a:solidFill>
                <a:latin typeface="Roboto"/>
              </a:rPr>
              <a:t>• Segmentation comportementale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179" y="3219449"/>
            <a:ext cx="3724181" cy="2666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520"/>
              </a:spcBef>
              <a:spcAft>
                <a:spcPts val="0"/>
              </a:spcAft>
            </a:pPr>
            <a:r>
              <a:rPr sz="1076" b="0">
                <a:solidFill>
                  <a:srgbClr val="B3E5FC"/>
                </a:solidFill>
                <a:latin typeface="Roboto"/>
              </a:rPr>
              <a:t>• Analyse des facteurs discriminants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584" y="3943350"/>
            <a:ext cx="4181370" cy="2409825"/>
          </a:xfrm>
          <a:prstGeom prst="roundRect">
            <a:avLst>
              <a:gd name="adj" fmla="val 9486"/>
            </a:avLst>
          </a:prstGeom>
          <a:gradFill rotWithShape="1">
            <a:gsLst>
              <a:gs pos="0">
                <a:srgbClr val="0288D1">
                  <a:alpha val="12000"/>
                </a:srgbClr>
              </a:gs>
              <a:gs pos="100000">
                <a:srgbClr val="00BCD4">
                  <a:alpha val="12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179" y="4216126"/>
            <a:ext cx="342891" cy="29264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95367" y="4210049"/>
            <a:ext cx="2485962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288D1"/>
                </a:solidFill>
                <a:latin typeface="Poppins"/>
              </a:rPr>
              <a:t>Approche Supervisée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179" y="4705350"/>
            <a:ext cx="3724181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1040"/>
              </a:spcAft>
            </a:pPr>
            <a:r>
              <a:rPr sz="1196" b="0">
                <a:solidFill>
                  <a:srgbClr val="E1F5FE"/>
                </a:solidFill>
                <a:latin typeface="Roboto"/>
              </a:rPr>
              <a:t>Classification Binaire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179" y="5172075"/>
            <a:ext cx="3724181" cy="2666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B3E5FC"/>
                </a:solidFill>
                <a:latin typeface="Roboto"/>
              </a:rPr>
              <a:t>• Prédiction du risque d'attrition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179" y="5514975"/>
            <a:ext cx="3724181" cy="2666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520"/>
              </a:spcBef>
              <a:spcAft>
                <a:spcPts val="0"/>
              </a:spcAft>
            </a:pPr>
            <a:r>
              <a:rPr sz="1076" b="0">
                <a:solidFill>
                  <a:srgbClr val="B3E5FC"/>
                </a:solidFill>
                <a:latin typeface="Roboto"/>
              </a:rPr>
              <a:t>• Apprentissage sur données étiquetées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179" y="5857875"/>
            <a:ext cx="3724181" cy="2666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520"/>
              </a:spcBef>
              <a:spcAft>
                <a:spcPts val="0"/>
              </a:spcAft>
            </a:pPr>
            <a:r>
              <a:rPr sz="1076" b="0">
                <a:solidFill>
                  <a:srgbClr val="B3E5FC"/>
                </a:solidFill>
                <a:latin typeface="Roboto"/>
              </a:rPr>
              <a:t>• Évaluation performance modèles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95747" y="1466849"/>
            <a:ext cx="6486362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1040"/>
              </a:spcAft>
            </a:pPr>
            <a:r>
              <a:rPr sz="1435" b="1">
                <a:solidFill>
                  <a:srgbClr val="FFFFFF"/>
                </a:solidFill>
                <a:latin typeface="Poppins"/>
              </a:rPr>
              <a:t>Pipeline Data Science Complet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5747" y="1924049"/>
            <a:ext cx="1314417" cy="419100"/>
          </a:xfrm>
          <a:prstGeom prst="roundRect">
            <a:avLst>
              <a:gd name="adj" fmla="val 36363"/>
            </a:avLst>
          </a:prstGeom>
          <a:solidFill>
            <a:srgbClr val="00BCD4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48143" y="2058936"/>
            <a:ext cx="171445" cy="14932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95787" y="2019299"/>
            <a:ext cx="76198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Exploration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86362" y="2050732"/>
            <a:ext cx="228594" cy="16573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91155" y="1924049"/>
            <a:ext cx="1333466" cy="419100"/>
          </a:xfrm>
          <a:prstGeom prst="roundRect">
            <a:avLst>
              <a:gd name="adj" fmla="val 36363"/>
            </a:avLst>
          </a:prstGeom>
          <a:solidFill>
            <a:srgbClr val="00BCD4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943551" y="2053405"/>
            <a:ext cx="171445" cy="1603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191195" y="2019299"/>
            <a:ext cx="78103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Préparation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10344" y="2050732"/>
            <a:ext cx="228594" cy="165734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8515137" y="1924049"/>
            <a:ext cx="1428714" cy="419100"/>
          </a:xfrm>
          <a:prstGeom prst="roundRect">
            <a:avLst>
              <a:gd name="adj" fmla="val 36363"/>
            </a:avLst>
          </a:prstGeom>
          <a:solidFill>
            <a:srgbClr val="00BCD4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667533" y="2064466"/>
            <a:ext cx="171445" cy="13826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915177" y="2019299"/>
            <a:ext cx="87627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Modélisation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020049" y="2050732"/>
            <a:ext cx="228594" cy="165734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10324841" y="1924049"/>
            <a:ext cx="1257268" cy="419100"/>
          </a:xfrm>
          <a:prstGeom prst="roundRect">
            <a:avLst>
              <a:gd name="adj" fmla="val 36363"/>
            </a:avLst>
          </a:prstGeom>
          <a:solidFill>
            <a:srgbClr val="00BCD4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0477238" y="2064466"/>
            <a:ext cx="171445" cy="13826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724881" y="2019299"/>
            <a:ext cx="70483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Évaluation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5747" y="2533649"/>
            <a:ext cx="6486362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1040"/>
              </a:spcAft>
            </a:pPr>
            <a:r>
              <a:rPr sz="1435" b="1">
                <a:solidFill>
                  <a:srgbClr val="FFFFFF"/>
                </a:solidFill>
                <a:latin typeface="Poppins"/>
              </a:rPr>
              <a:t>7 Modèles Comparés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95747" y="2990849"/>
            <a:ext cx="2085922" cy="990599"/>
          </a:xfrm>
          <a:prstGeom prst="roundRect">
            <a:avLst>
              <a:gd name="adj" fmla="val 15384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000599" y="3212646"/>
            <a:ext cx="285742" cy="204107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248143" y="3562349"/>
            <a:ext cx="1781130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"/>
              </a:rPr>
              <a:t>Logistic Regression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95967" y="2990849"/>
            <a:ext cx="2085922" cy="990599"/>
          </a:xfrm>
          <a:prstGeom prst="roundRect">
            <a:avLst>
              <a:gd name="adj" fmla="val 15384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200819" y="3192235"/>
            <a:ext cx="285742" cy="244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48363" y="3562349"/>
            <a:ext cx="1781130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"/>
              </a:rPr>
              <a:t>Perceptron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96187" y="2990849"/>
            <a:ext cx="2085922" cy="990599"/>
          </a:xfrm>
          <a:prstGeom prst="roundRect">
            <a:avLst>
              <a:gd name="adj" fmla="val 15384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0401039" y="3192235"/>
            <a:ext cx="285742" cy="24492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648583" y="3562349"/>
            <a:ext cx="1781130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"/>
              </a:rPr>
              <a:t>SVM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95747" y="4095749"/>
            <a:ext cx="2085922" cy="990599"/>
          </a:xfrm>
          <a:prstGeom prst="roundRect">
            <a:avLst>
              <a:gd name="adj" fmla="val 15384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000599" y="4310256"/>
            <a:ext cx="285742" cy="21868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5248143" y="4667249"/>
            <a:ext cx="1781130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"/>
              </a:rPr>
              <a:t>KNN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95967" y="4095749"/>
            <a:ext cx="2085922" cy="990599"/>
          </a:xfrm>
          <a:prstGeom prst="roundRect">
            <a:avLst>
              <a:gd name="adj" fmla="val 15384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200819" y="4335041"/>
            <a:ext cx="285742" cy="169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448363" y="4667249"/>
            <a:ext cx="1781130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"/>
              </a:rPr>
              <a:t>Naive Bayes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96187" y="4095749"/>
            <a:ext cx="2085922" cy="990599"/>
          </a:xfrm>
          <a:prstGeom prst="roundRect">
            <a:avLst>
              <a:gd name="adj" fmla="val 15384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10401039" y="4308798"/>
            <a:ext cx="285742" cy="22160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48583" y="4667249"/>
            <a:ext cx="1781130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"/>
              </a:rPr>
              <a:t>Decision Tree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95747" y="5200650"/>
            <a:ext cx="6486362" cy="990599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00BCD4">
                  <a:alpha val="20000"/>
                </a:srgbClr>
              </a:gs>
              <a:gs pos="100000">
                <a:srgbClr val="0288D1">
                  <a:alpha val="20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8200819" y="5402035"/>
            <a:ext cx="285742" cy="244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7776144" y="5746289"/>
            <a:ext cx="1125565" cy="31842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 dirty="0">
                <a:solidFill>
                  <a:srgbClr val="00BCD4"/>
                </a:solidFill>
                <a:latin typeface="Roboto"/>
              </a:rPr>
              <a:t>Random Forest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9DC0DD2-4305-B849-084D-08C5FBFF8D4E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183104"/>
            <a:ext cx="3098862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FFFFFF"/>
                </a:solidFill>
                <a:latin typeface="Poppins"/>
              </a:rPr>
              <a:t>05. Clustering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9584" y="1000125"/>
            <a:ext cx="3447963" cy="1790700"/>
          </a:xfrm>
          <a:prstGeom prst="roundRect">
            <a:avLst>
              <a:gd name="adj" fmla="val 12765"/>
            </a:avLst>
          </a:prstGeom>
          <a:gradFill rotWithShape="1">
            <a:gsLst>
              <a:gs pos="0">
                <a:srgbClr val="00BCD4">
                  <a:alpha val="15000"/>
                </a:srgbClr>
              </a:gs>
              <a:gs pos="100000">
                <a:srgbClr val="0288D1">
                  <a:alpha val="15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1980" y="1217771"/>
            <a:ext cx="228594" cy="1743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6773" y="1171575"/>
            <a:ext cx="163825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00BCD4"/>
                </a:solidFill>
                <a:latin typeface="Poppins"/>
              </a:rPr>
              <a:t>KMeans Clustering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1980" y="1533525"/>
            <a:ext cx="800079" cy="3809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152" b="1">
                <a:solidFill>
                  <a:srgbClr val="FFFFFF"/>
                </a:solidFill>
                <a:latin typeface="Poppins"/>
              </a:rPr>
              <a:t>k =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38259" y="1609724"/>
            <a:ext cx="51433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B3E5FC"/>
                </a:solidFill>
                <a:latin typeface="Roboto"/>
              </a:rPr>
              <a:t>optimal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1980" y="1990724"/>
            <a:ext cx="3143171" cy="647699"/>
          </a:xfrm>
          <a:prstGeom prst="roundRect">
            <a:avLst>
              <a:gd name="adj" fmla="val 23529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8179" y="2066924"/>
            <a:ext cx="2990775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26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Score Silhouette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179" y="2257425"/>
            <a:ext cx="2990775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BCD4"/>
                </a:solidFill>
                <a:latin typeface="Poppins"/>
              </a:rPr>
              <a:t>0.1366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" y="2905124"/>
            <a:ext cx="344796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520"/>
              </a:spcAft>
            </a:pPr>
            <a:r>
              <a:rPr sz="1076" b="1">
                <a:solidFill>
                  <a:srgbClr val="FFFFFF"/>
                </a:solidFill>
                <a:latin typeface="Poppins"/>
              </a:rPr>
              <a:t>Clusters Identifiés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584" y="3248024"/>
            <a:ext cx="3447963" cy="609600"/>
          </a:xfrm>
          <a:prstGeom prst="roundRect">
            <a:avLst>
              <a:gd name="adj" fmla="val 25000"/>
            </a:avLst>
          </a:prstGeom>
          <a:solidFill>
            <a:srgbClr val="00BCD4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782" y="3362324"/>
            <a:ext cx="53338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"/>
              </a:rPr>
              <a:t>Cluster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508" y="3324225"/>
            <a:ext cx="32384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00BCD4"/>
                </a:solidFill>
                <a:latin typeface="Poppins"/>
              </a:rPr>
              <a:t>642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782" y="3629025"/>
            <a:ext cx="3295567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E1F5FE"/>
                </a:solidFill>
                <a:latin typeface="Roboto"/>
              </a:rPr>
              <a:t>Hautes performances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584" y="3933824"/>
            <a:ext cx="3447963" cy="609600"/>
          </a:xfrm>
          <a:prstGeom prst="roundRect">
            <a:avLst>
              <a:gd name="adj" fmla="val 25000"/>
            </a:avLst>
          </a:prstGeom>
          <a:solidFill>
            <a:srgbClr val="0288D1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782" y="4048124"/>
            <a:ext cx="53338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"/>
              </a:rPr>
              <a:t>Cluster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2260" y="4010024"/>
            <a:ext cx="41908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0288D1"/>
                </a:solidFill>
                <a:latin typeface="Poppins"/>
              </a:rPr>
              <a:t>1 020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782" y="4314825"/>
            <a:ext cx="3295567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E1F5FE"/>
                </a:solidFill>
                <a:latin typeface="Roboto"/>
              </a:rPr>
              <a:t>Profil intermédiaire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584" y="4619625"/>
            <a:ext cx="3447963" cy="609600"/>
          </a:xfrm>
          <a:prstGeom prst="roundRect">
            <a:avLst>
              <a:gd name="adj" fmla="val 2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782" y="4733925"/>
            <a:ext cx="53338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"/>
              </a:rPr>
              <a:t>Cluster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3686" y="4695824"/>
            <a:ext cx="45718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Poppins"/>
              </a:rPr>
              <a:t>2 748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782" y="5000625"/>
            <a:ext cx="3295567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E1F5FE"/>
                </a:solidFill>
                <a:latin typeface="Roboto"/>
              </a:rPr>
              <a:t>Majorité, standard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48043" y="1000125"/>
            <a:ext cx="7334066" cy="3695699"/>
          </a:xfrm>
          <a:prstGeom prst="roundRect">
            <a:avLst>
              <a:gd name="adj" fmla="val 6185"/>
            </a:avLst>
          </a:prstGeom>
          <a:solidFill>
            <a:srgbClr val="FFFFFF">
              <a:alpha val="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00439" y="1210235"/>
            <a:ext cx="190495" cy="15127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667133" y="1152524"/>
            <a:ext cx="3371765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Poppins"/>
              </a:rPr>
              <a:t>Analyse Silhouette &amp; Visualisation PCA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0439" y="1495424"/>
            <a:ext cx="7029274" cy="3047999"/>
          </a:xfrm>
          <a:prstGeom prst="roundRect">
            <a:avLst>
              <a:gd name="adj" fmla="val 7799"/>
            </a:avLst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248043" y="4810124"/>
            <a:ext cx="7334066" cy="990599"/>
          </a:xfrm>
          <a:prstGeom prst="roundRect">
            <a:avLst>
              <a:gd name="adj" fmla="val 23076"/>
            </a:avLst>
          </a:prstGeom>
          <a:solidFill>
            <a:srgbClr val="0288D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 Same Side Corner Rectangle 28"/>
          <p:cNvSpPr/>
          <p:nvPr/>
        </p:nvSpPr>
        <p:spPr>
          <a:xfrm rot="16200000">
            <a:off x="3818784" y="5239383"/>
            <a:ext cx="9905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00439" y="4924424"/>
            <a:ext cx="706737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520"/>
              </a:spcAft>
            </a:pPr>
            <a:r>
              <a:rPr sz="956" b="1">
                <a:solidFill>
                  <a:srgbClr val="0288D1"/>
                </a:solidFill>
                <a:latin typeface="Poppins"/>
              </a:rPr>
              <a:t>Variables Discriminantes (η²)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0439" y="5229225"/>
            <a:ext cx="2276418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26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PerformanceRating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0439" y="5419725"/>
            <a:ext cx="227641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00BCD4"/>
                </a:solidFill>
                <a:latin typeface="Poppins"/>
              </a:rPr>
              <a:t>93.95%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1155" y="5229225"/>
            <a:ext cx="2276418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26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PercentSalaryHike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91155" y="5419725"/>
            <a:ext cx="227641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0288D1"/>
                </a:solidFill>
                <a:latin typeface="Poppins"/>
              </a:rPr>
              <a:t>Élevé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91395" y="5229225"/>
            <a:ext cx="2276418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26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MonthlyIncome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91395" y="5419725"/>
            <a:ext cx="227641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00BCD4"/>
                </a:solidFill>
                <a:latin typeface="Poppins"/>
              </a:rPr>
              <a:t>Fort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C22B3E4-1A4F-4511-460A-8A2EEE1630DF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190084"/>
            <a:ext cx="5706947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FFFFFF"/>
                </a:solidFill>
                <a:latin typeface="Poppins"/>
              </a:rPr>
              <a:t>06. </a:t>
            </a:r>
            <a:r>
              <a:rPr sz="3200" b="1" dirty="0" err="1">
                <a:solidFill>
                  <a:srgbClr val="FFFFFF"/>
                </a:solidFill>
                <a:latin typeface="Poppins"/>
              </a:rPr>
              <a:t>Modèles</a:t>
            </a:r>
            <a:r>
              <a:rPr sz="3200" b="1" dirty="0">
                <a:solidFill>
                  <a:srgbClr val="FFFFFF"/>
                </a:solidFill>
                <a:latin typeface="Poppins"/>
              </a:rPr>
              <a:t> de </a:t>
            </a:r>
            <a:r>
              <a:rPr sz="3200" b="1" dirty="0" err="1">
                <a:solidFill>
                  <a:srgbClr val="FFFFFF"/>
                </a:solidFill>
                <a:latin typeface="Poppins"/>
              </a:rPr>
              <a:t>Régression</a:t>
            </a:r>
            <a:endParaRPr sz="3200" b="1" dirty="0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09584" y="1038224"/>
            <a:ext cx="4295667" cy="1828800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00BCD4">
                  <a:alpha val="15000"/>
                </a:srgbClr>
              </a:gs>
              <a:gs pos="100000">
                <a:srgbClr val="0288D1">
                  <a:alpha val="15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00079" y="1298121"/>
            <a:ext cx="285742" cy="2041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00119" y="1247775"/>
            <a:ext cx="2219269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BCD4"/>
                </a:solidFill>
                <a:latin typeface="Poppins"/>
              </a:rPr>
              <a:t>Logistic Regression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79" y="1724024"/>
            <a:ext cx="39146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780"/>
              </a:spcAft>
            </a:pPr>
            <a:r>
              <a:rPr sz="956" b="0">
                <a:solidFill>
                  <a:srgbClr val="E1F5FE"/>
                </a:solidFill>
                <a:latin typeface="Roboto"/>
              </a:rPr>
              <a:t>Baseline avec coefficients interprétables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79" y="2066924"/>
            <a:ext cx="1257268" cy="609600"/>
          </a:xfrm>
          <a:prstGeom prst="roundRect">
            <a:avLst>
              <a:gd name="adj" fmla="val 25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6278" y="2143125"/>
            <a:ext cx="1104872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26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278" y="2333624"/>
            <a:ext cx="110487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00BCD4"/>
                </a:solidFill>
                <a:latin typeface="Poppins"/>
              </a:rPr>
              <a:t>85.56%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33546" y="2066924"/>
            <a:ext cx="1257268" cy="609600"/>
          </a:xfrm>
          <a:prstGeom prst="roundRect">
            <a:avLst>
              <a:gd name="adj" fmla="val 25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209744" y="2143125"/>
            <a:ext cx="1104872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26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F1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9744" y="2333624"/>
            <a:ext cx="110487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0288D1"/>
                </a:solidFill>
                <a:latin typeface="Poppins"/>
              </a:rPr>
              <a:t>36.96%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7488" y="2066924"/>
            <a:ext cx="1257268" cy="609600"/>
          </a:xfrm>
          <a:prstGeom prst="roundRect">
            <a:avLst>
              <a:gd name="adj" fmla="val 25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33686" y="2143125"/>
            <a:ext cx="1104872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26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AUC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3686" y="2333624"/>
            <a:ext cx="110487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00BCD4"/>
                </a:solidFill>
                <a:latin typeface="Poppins"/>
              </a:rPr>
              <a:t>0.809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" y="3019424"/>
            <a:ext cx="429566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780"/>
              </a:spcAft>
            </a:pPr>
            <a:r>
              <a:rPr sz="1196" b="1">
                <a:solidFill>
                  <a:srgbClr val="FFFFFF"/>
                </a:solidFill>
                <a:latin typeface="Poppins"/>
              </a:rPr>
              <a:t>Top Features Influents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584" y="3400425"/>
            <a:ext cx="4295667" cy="723900"/>
          </a:xfrm>
          <a:prstGeom prst="roundRect">
            <a:avLst>
              <a:gd name="adj" fmla="val 21052"/>
            </a:avLst>
          </a:prstGeom>
          <a:solidFill>
            <a:srgbClr val="00BCD4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 rot="16200000">
            <a:off x="297164" y="3712845"/>
            <a:ext cx="72390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2456" y="3598299"/>
            <a:ext cx="171445" cy="9955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0099" y="3533774"/>
            <a:ext cx="159063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YearsWithCurrManager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6618" y="3514725"/>
            <a:ext cx="51433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00BCD4"/>
                </a:solidFill>
                <a:latin typeface="Poppins"/>
              </a:rPr>
              <a:t>-0.67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56" y="3819524"/>
            <a:ext cx="403849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Réduit le risque d'attrition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584" y="4200525"/>
            <a:ext cx="4295667" cy="723900"/>
          </a:xfrm>
          <a:prstGeom prst="roundRect">
            <a:avLst>
              <a:gd name="adj" fmla="val 21052"/>
            </a:avLst>
          </a:prstGeom>
          <a:solidFill>
            <a:srgbClr val="0288D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 Same Side Corner Rectangle 23"/>
          <p:cNvSpPr/>
          <p:nvPr/>
        </p:nvSpPr>
        <p:spPr>
          <a:xfrm rot="16200000">
            <a:off x="297164" y="4512945"/>
            <a:ext cx="72390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2456" y="4398399"/>
            <a:ext cx="171445" cy="9955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00099" y="4333875"/>
            <a:ext cx="109534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avg_work_hours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7093" y="4314825"/>
            <a:ext cx="52386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0288D1"/>
                </a:solidFill>
                <a:latin typeface="Poppins"/>
              </a:rPr>
              <a:t>+0.62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2456" y="4619625"/>
            <a:ext cx="403849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Augmente le risque d'attrition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584" y="5000625"/>
            <a:ext cx="4295667" cy="723900"/>
          </a:xfrm>
          <a:prstGeom prst="roundRect">
            <a:avLst>
              <a:gd name="adj" fmla="val 21052"/>
            </a:avLst>
          </a:prstGeom>
          <a:solidFill>
            <a:srgbClr val="00BCD4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 Same Side Corner Rectangle 29"/>
          <p:cNvSpPr/>
          <p:nvPr/>
        </p:nvSpPr>
        <p:spPr>
          <a:xfrm rot="16200000">
            <a:off x="297164" y="5313045"/>
            <a:ext cx="72390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2456" y="5198499"/>
            <a:ext cx="171445" cy="9955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00099" y="5133975"/>
            <a:ext cx="128584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TotalWorkingYears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8043" y="5114925"/>
            <a:ext cx="54291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00BCD4"/>
                </a:solidFill>
                <a:latin typeface="Poppins"/>
              </a:rPr>
              <a:t>-0.54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456" y="5419725"/>
            <a:ext cx="403849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Réduit le risque d'attrition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33846" y="1038224"/>
            <a:ext cx="6448263" cy="5591175"/>
          </a:xfrm>
          <a:prstGeom prst="roundRect">
            <a:avLst>
              <a:gd name="adj" fmla="val 4088"/>
            </a:avLst>
          </a:prstGeom>
          <a:solidFill>
            <a:srgbClr val="FFFFFF">
              <a:alpha val="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86242" y="1271587"/>
            <a:ext cx="228594" cy="14287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591035" y="1209674"/>
            <a:ext cx="180017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Poppins"/>
              </a:rPr>
              <a:t>Top 15 Coefficients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86242" y="1609724"/>
            <a:ext cx="6143471" cy="4667249"/>
          </a:xfrm>
          <a:prstGeom prst="roundRect">
            <a:avLst>
              <a:gd name="adj" fmla="val 6317"/>
            </a:avLst>
          </a:prstGeom>
          <a:blipFill>
            <a:blip r:embed="rId6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9711A0D-5B9F-21EC-4276-FE54FA519480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190084"/>
            <a:ext cx="6234335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FFFFFF"/>
                </a:solidFill>
                <a:latin typeface="Poppins"/>
              </a:rPr>
              <a:t>07. </a:t>
            </a:r>
            <a:r>
              <a:rPr sz="3200" b="1" dirty="0" err="1">
                <a:solidFill>
                  <a:srgbClr val="FFFFFF"/>
                </a:solidFill>
                <a:latin typeface="Poppins"/>
              </a:rPr>
              <a:t>Modèles</a:t>
            </a:r>
            <a:r>
              <a:rPr sz="3200" b="1" dirty="0">
                <a:solidFill>
                  <a:srgbClr val="FFFFFF"/>
                </a:solidFill>
                <a:latin typeface="Poppins"/>
              </a:rPr>
              <a:t> de Classification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9584" y="1000125"/>
            <a:ext cx="4095647" cy="2895600"/>
          </a:xfrm>
          <a:prstGeom prst="roundRect">
            <a:avLst>
              <a:gd name="adj" fmla="val 7894"/>
            </a:avLst>
          </a:prstGeom>
          <a:gradFill rotWithShape="1">
            <a:gsLst>
              <a:gs pos="0">
                <a:srgbClr val="00BCD4">
                  <a:alpha val="25000"/>
                </a:srgbClr>
              </a:gs>
              <a:gs pos="100000">
                <a:srgbClr val="0288D1">
                  <a:alpha val="20000"/>
                </a:srgbClr>
              </a:gs>
            </a:gsLst>
            <a:lin ang="8100000" scaled="0"/>
          </a:gradFill>
          <a:ln w="1651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030" y="1232223"/>
            <a:ext cx="285742" cy="2216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2971" y="1209674"/>
            <a:ext cx="267645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00BCD4"/>
                </a:solidFill>
                <a:latin typeface="Poppins"/>
              </a:rPr>
              <a:t>RandomForest - Champion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030" y="1628775"/>
            <a:ext cx="1838279" cy="647699"/>
          </a:xfrm>
          <a:prstGeom prst="roundRect">
            <a:avLst>
              <a:gd name="adj" fmla="val 23529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7228" y="1704975"/>
            <a:ext cx="1685882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26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28" y="1895474"/>
            <a:ext cx="1685882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Poppins"/>
              </a:rPr>
              <a:t>98.87%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5507" y="1628775"/>
            <a:ext cx="1838279" cy="647699"/>
          </a:xfrm>
          <a:prstGeom prst="roundRect">
            <a:avLst>
              <a:gd name="adj" fmla="val 23529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71705" y="1704975"/>
            <a:ext cx="1685882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26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Precision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71705" y="1895474"/>
            <a:ext cx="1685882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Poppins"/>
              </a:rPr>
              <a:t>100%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030" y="2352675"/>
            <a:ext cx="1838279" cy="647699"/>
          </a:xfrm>
          <a:prstGeom prst="roundRect">
            <a:avLst>
              <a:gd name="adj" fmla="val 23529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7228" y="2428875"/>
            <a:ext cx="1685882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26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28" y="2619374"/>
            <a:ext cx="1685882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Poppins"/>
              </a:rPr>
              <a:t>92.96%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95507" y="2352675"/>
            <a:ext cx="1838279" cy="647699"/>
          </a:xfrm>
          <a:prstGeom prst="roundRect">
            <a:avLst>
              <a:gd name="adj" fmla="val 23529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71705" y="2428875"/>
            <a:ext cx="1685882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26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F1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1705" y="2619374"/>
            <a:ext cx="1685882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Poppins"/>
              </a:rPr>
              <a:t>96.35%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030" y="3076574"/>
            <a:ext cx="3752756" cy="647699"/>
          </a:xfrm>
          <a:prstGeom prst="roundRect">
            <a:avLst>
              <a:gd name="adj" fmla="val 23529"/>
            </a:avLst>
          </a:prstGeom>
          <a:solidFill>
            <a:srgbClr val="00BCD4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7228" y="3152775"/>
            <a:ext cx="3600359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26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AUC-ROC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28" y="3343275"/>
            <a:ext cx="3600359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BCD4"/>
                </a:solidFill>
                <a:latin typeface="Poppins"/>
              </a:rPr>
              <a:t>0.995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584" y="4010024"/>
            <a:ext cx="4095647" cy="761999"/>
          </a:xfrm>
          <a:prstGeom prst="roundRect">
            <a:avLst>
              <a:gd name="adj" fmla="val 30000"/>
            </a:avLst>
          </a:prstGeom>
          <a:solidFill>
            <a:srgbClr val="0288D1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 Same Side Corner Rectangle 21"/>
          <p:cNvSpPr/>
          <p:nvPr/>
        </p:nvSpPr>
        <p:spPr>
          <a:xfrm rot="16200000">
            <a:off x="278115" y="4341493"/>
            <a:ext cx="761999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2456" y="4172230"/>
            <a:ext cx="190495" cy="17088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19149" y="4143375"/>
            <a:ext cx="159063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0288D1"/>
                </a:solidFill>
                <a:latin typeface="Poppins"/>
              </a:rPr>
              <a:t>SVM - 2ème Position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456" y="4467224"/>
            <a:ext cx="1485862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E1F5FE"/>
                </a:solidFill>
                <a:latin typeface="Roboto"/>
              </a:rPr>
              <a:t>Acc: 91.31% | AUC: 0.936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584" y="4886325"/>
            <a:ext cx="4095647" cy="761999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278115" y="5217794"/>
            <a:ext cx="761999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2456" y="5052732"/>
            <a:ext cx="190495" cy="16248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149" y="5019675"/>
            <a:ext cx="228594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Poppins"/>
              </a:rPr>
              <a:t>Decision Tree - 3ème 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456" y="5343525"/>
            <a:ext cx="135251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E1F5FC"/>
                </a:solidFill>
                <a:latin typeface="Roboto"/>
              </a:rPr>
              <a:t>Acc: 97.96% | F1: Élevé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9584" y="5762625"/>
            <a:ext cx="4095647" cy="952499"/>
          </a:xfrm>
          <a:prstGeom prst="roundRect">
            <a:avLst>
              <a:gd name="adj" fmla="val 24000"/>
            </a:avLst>
          </a:prstGeom>
          <a:solidFill>
            <a:srgbClr val="00BCD4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 rot="16200000">
            <a:off x="182865" y="6189344"/>
            <a:ext cx="952499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52456" y="5876925"/>
            <a:ext cx="383847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520"/>
              </a:spcAft>
            </a:pPr>
            <a:r>
              <a:rPr sz="837" b="1">
                <a:solidFill>
                  <a:srgbClr val="00BCD4"/>
                </a:solidFill>
                <a:latin typeface="Poppins"/>
              </a:rPr>
              <a:t>Cross-Validation RandomForest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456" y="6143625"/>
            <a:ext cx="1885902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26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F1 Mean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2456" y="6334125"/>
            <a:ext cx="188590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Poppins"/>
              </a:rPr>
              <a:t>0.891 ± 0.019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14557" y="6143625"/>
            <a:ext cx="1885902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26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AUC Mean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14557" y="6334125"/>
            <a:ext cx="188590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Poppins"/>
              </a:rPr>
              <a:t>0.986 ± 0.003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95727" y="1000125"/>
            <a:ext cx="3286042" cy="2286000"/>
          </a:xfrm>
          <a:prstGeom prst="roundRect">
            <a:avLst>
              <a:gd name="adj" fmla="val 6666"/>
            </a:avLst>
          </a:prstGeom>
          <a:solidFill>
            <a:srgbClr val="FFFFFF">
              <a:alpha val="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895727" y="1000125"/>
            <a:ext cx="3286042" cy="2286000"/>
          </a:xfrm>
          <a:prstGeom prst="rect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8296067" y="1000125"/>
            <a:ext cx="3286042" cy="2286000"/>
          </a:xfrm>
          <a:prstGeom prst="roundRect">
            <a:avLst>
              <a:gd name="adj" fmla="val 6666"/>
            </a:avLst>
          </a:prstGeom>
          <a:solidFill>
            <a:srgbClr val="FFFFFF">
              <a:alpha val="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296067" y="1000125"/>
            <a:ext cx="3286042" cy="2286000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4895727" y="3400425"/>
            <a:ext cx="3286042" cy="2286000"/>
          </a:xfrm>
          <a:prstGeom prst="roundRect">
            <a:avLst>
              <a:gd name="adj" fmla="val 6666"/>
            </a:avLst>
          </a:prstGeom>
          <a:solidFill>
            <a:srgbClr val="FFFFFF">
              <a:alpha val="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895727" y="3400425"/>
            <a:ext cx="3286042" cy="2286000"/>
          </a:xfrm>
          <a:prstGeom prst="rect">
            <a:avLst/>
          </a:prstGeom>
          <a:blipFill>
            <a:blip r:embed="rId7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8296067" y="3400425"/>
            <a:ext cx="3286042" cy="2286000"/>
          </a:xfrm>
          <a:prstGeom prst="roundRect">
            <a:avLst>
              <a:gd name="adj" fmla="val 6666"/>
            </a:avLst>
          </a:prstGeom>
          <a:solidFill>
            <a:srgbClr val="FFFFFF">
              <a:alpha val="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296067" y="3400425"/>
            <a:ext cx="3286042" cy="2286000"/>
          </a:xfrm>
          <a:prstGeom prst="rect">
            <a:avLst/>
          </a:prstGeom>
          <a:blipFill>
            <a:blip r:embed="rId8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25F9EAB-315C-99C1-2584-31F54072A297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190084"/>
            <a:ext cx="2480103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FFFFFF"/>
                </a:solidFill>
                <a:latin typeface="Poppins"/>
              </a:rPr>
              <a:t>08. </a:t>
            </a:r>
            <a:r>
              <a:rPr sz="3200" b="1" dirty="0" err="1">
                <a:solidFill>
                  <a:srgbClr val="FFFFFF"/>
                </a:solidFill>
                <a:latin typeface="Poppins"/>
              </a:rPr>
              <a:t>Éthique</a:t>
            </a:r>
            <a:endParaRPr sz="3200" b="1" dirty="0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09584" y="1038224"/>
            <a:ext cx="4838579" cy="1638299"/>
          </a:xfrm>
          <a:prstGeom prst="roundRect">
            <a:avLst>
              <a:gd name="adj" fmla="val 13953"/>
            </a:avLst>
          </a:prstGeom>
          <a:gradFill rotWithShape="1">
            <a:gsLst>
              <a:gs pos="0">
                <a:srgbClr val="00BCD4">
                  <a:alpha val="15000"/>
                </a:srgbClr>
              </a:gs>
              <a:gs pos="100000">
                <a:srgbClr val="0288D1">
                  <a:alpha val="15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00079" y="1373899"/>
            <a:ext cx="342891" cy="3192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7268" y="1228725"/>
            <a:ext cx="4000399" cy="609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BCD4"/>
                </a:solidFill>
                <a:latin typeface="Poppins"/>
              </a:rPr>
              <a:t>Exigences UE d'IA digne de confiance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79" y="1990724"/>
            <a:ext cx="4457588" cy="49529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1F5FE"/>
                </a:solidFill>
                <a:latin typeface="Roboto"/>
              </a:rPr>
              <a:t>Conformité aux principes européens d'IA de confiance pour une utilisation responsable et éthique des technologies.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584" y="2828925"/>
            <a:ext cx="4838579" cy="2400300"/>
          </a:xfrm>
          <a:prstGeom prst="roundRect">
            <a:avLst>
              <a:gd name="adj" fmla="val 9523"/>
            </a:avLst>
          </a:prstGeom>
          <a:solidFill>
            <a:srgbClr val="0288D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 Same Side Corner Rectangle 7"/>
          <p:cNvSpPr/>
          <p:nvPr/>
        </p:nvSpPr>
        <p:spPr>
          <a:xfrm rot="16200000">
            <a:off x="-524526" y="3963035"/>
            <a:ext cx="24003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8179" y="3019424"/>
            <a:ext cx="441948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780"/>
              </a:spcAft>
            </a:pPr>
            <a:r>
              <a:rPr sz="1196" b="1">
                <a:solidFill>
                  <a:srgbClr val="0288D1"/>
                </a:solidFill>
                <a:latin typeface="Poppins"/>
              </a:rPr>
              <a:t>Piliers Éthiques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179" y="3444127"/>
            <a:ext cx="190495" cy="1792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2971" y="3419474"/>
            <a:ext cx="189542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Transparence algorithmique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8179" y="3787027"/>
            <a:ext cx="190495" cy="1792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42971" y="3762374"/>
            <a:ext cx="119059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Respect du RGPD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38179" y="4141133"/>
            <a:ext cx="190495" cy="15688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42971" y="4105274"/>
            <a:ext cx="189542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Équité et non-discrimination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8179" y="4481232"/>
            <a:ext cx="190495" cy="1624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42971" y="4448175"/>
            <a:ext cx="127631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Droit à l'explication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38179" y="4815727"/>
            <a:ext cx="190495" cy="17929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42971" y="4791075"/>
            <a:ext cx="145728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Sécurité des données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76758" y="1038224"/>
            <a:ext cx="5905352" cy="1523999"/>
          </a:xfrm>
          <a:prstGeom prst="roundRect">
            <a:avLst>
              <a:gd name="adj" fmla="val 15000"/>
            </a:avLst>
          </a:prstGeom>
          <a:solidFill>
            <a:srgbClr val="00BCD4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 Same Side Corner Rectangle 20"/>
          <p:cNvSpPr/>
          <p:nvPr/>
        </p:nvSpPr>
        <p:spPr>
          <a:xfrm rot="16200000">
            <a:off x="4980799" y="1734183"/>
            <a:ext cx="15239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05352" y="1228725"/>
            <a:ext cx="548626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780"/>
              </a:spcAft>
            </a:pPr>
            <a:r>
              <a:rPr sz="1196" b="1">
                <a:solidFill>
                  <a:srgbClr val="00BCD4"/>
                </a:solidFill>
                <a:latin typeface="Poppins"/>
              </a:rPr>
              <a:t>Garde-fous contre les Biais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05352" y="1609724"/>
            <a:ext cx="2685982" cy="761999"/>
          </a:xfrm>
          <a:prstGeom prst="roundRect">
            <a:avLst>
              <a:gd name="adj" fmla="val 20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019649" y="1799303"/>
            <a:ext cx="171445" cy="11614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67293" y="1743075"/>
            <a:ext cx="96200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Audit Régulier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19649" y="2066924"/>
            <a:ext cx="245738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Surveillance continue des biais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05632" y="1609724"/>
            <a:ext cx="2685982" cy="761999"/>
          </a:xfrm>
          <a:prstGeom prst="roundRect">
            <a:avLst>
              <a:gd name="adj" fmla="val 20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819929" y="1788241"/>
            <a:ext cx="171445" cy="13826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67573" y="1743075"/>
            <a:ext cx="104772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Documentation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19929" y="2066924"/>
            <a:ext cx="245738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Traçabilité complète du modèle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76758" y="2714625"/>
            <a:ext cx="5905352" cy="1981199"/>
          </a:xfrm>
          <a:prstGeom prst="roundRect">
            <a:avLst>
              <a:gd name="adj" fmla="val 11538"/>
            </a:avLst>
          </a:prstGeom>
          <a:solidFill>
            <a:srgbClr val="0288D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 rot="16200000">
            <a:off x="4752199" y="3639184"/>
            <a:ext cx="19811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905352" y="2905124"/>
            <a:ext cx="548626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780"/>
              </a:spcAft>
            </a:pPr>
            <a:r>
              <a:rPr sz="1196" b="1">
                <a:solidFill>
                  <a:srgbClr val="0288D1"/>
                </a:solidFill>
                <a:latin typeface="Poppins"/>
              </a:rPr>
              <a:t>Bonnes Pratiques Implémentées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05352" y="3286125"/>
            <a:ext cx="2705032" cy="571500"/>
          </a:xfrm>
          <a:prstGeom prst="roundRect">
            <a:avLst>
              <a:gd name="adj" fmla="val 26666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981550" y="3407228"/>
            <a:ext cx="152396" cy="13879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10144" y="3381375"/>
            <a:ext cx="895327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"/>
              </a:rPr>
              <a:t>Anonymisation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1550" y="3629025"/>
            <a:ext cx="2552636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Protection des données personnelles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582" y="3286125"/>
            <a:ext cx="2705032" cy="571500"/>
          </a:xfrm>
          <a:prstGeom prst="roundRect">
            <a:avLst>
              <a:gd name="adj" fmla="val 26666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8762780" y="3433082"/>
            <a:ext cx="152396" cy="87085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991375" y="3381375"/>
            <a:ext cx="628634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"/>
              </a:rPr>
              <a:t>Traçabilité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62780" y="3629025"/>
            <a:ext cx="2552636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Historique des décisions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05352" y="3933824"/>
            <a:ext cx="2705032" cy="571500"/>
          </a:xfrm>
          <a:prstGeom prst="roundRect">
            <a:avLst>
              <a:gd name="adj" fmla="val 26666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5981550" y="4067174"/>
            <a:ext cx="152396" cy="1143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210144" y="4029075"/>
            <a:ext cx="37146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"/>
              </a:rPr>
              <a:t>Équité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1550" y="4276725"/>
            <a:ext cx="2552636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Traitement équitable des employés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86582" y="3933824"/>
            <a:ext cx="2705032" cy="571500"/>
          </a:xfrm>
          <a:prstGeom prst="roundRect">
            <a:avLst>
              <a:gd name="adj" fmla="val 26666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762780" y="4050846"/>
            <a:ext cx="152396" cy="14695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991375" y="4029075"/>
            <a:ext cx="67625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"/>
              </a:rPr>
              <a:t>Conformité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62780" y="4276725"/>
            <a:ext cx="2552636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Respect réglementations européennes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676758" y="4848225"/>
            <a:ext cx="5905352" cy="685800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00BCD4">
                  <a:alpha val="20000"/>
                </a:srgbClr>
              </a:gs>
              <a:gs pos="100000">
                <a:srgbClr val="0288D1">
                  <a:alpha val="20000"/>
                </a:srgbClr>
              </a:gs>
            </a:gsLst>
            <a:lin ang="8100000" scaled="0"/>
          </a:gradFill>
          <a:ln w="1651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6362540" y="5062829"/>
            <a:ext cx="285742" cy="25659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762580" y="5057775"/>
            <a:ext cx="4133746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"/>
              </a:rPr>
              <a:t>Approche éthique intégrée dès la conception du projet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3C7D531-0C12-2DB4-916F-72F0ECABA912}"/>
              </a:ext>
            </a:extLst>
          </p:cNvPr>
          <p:cNvSpPr/>
          <p:nvPr/>
        </p:nvSpPr>
        <p:spPr>
          <a:xfrm>
            <a:off x="0" y="688967"/>
            <a:ext cx="12191695" cy="45719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288D1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183104"/>
            <a:ext cx="4939109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FFFFFF"/>
                </a:solidFill>
                <a:latin typeface="Poppins"/>
              </a:rPr>
              <a:t>09. </a:t>
            </a:r>
            <a:r>
              <a:rPr sz="3200" b="1" dirty="0" err="1">
                <a:solidFill>
                  <a:srgbClr val="FFFFFF"/>
                </a:solidFill>
                <a:latin typeface="Poppins"/>
              </a:rPr>
              <a:t>Recommandations</a:t>
            </a:r>
            <a:endParaRPr sz="3200" b="1" dirty="0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09584" y="1038224"/>
            <a:ext cx="5905352" cy="1962149"/>
          </a:xfrm>
          <a:prstGeom prst="roundRect">
            <a:avLst>
              <a:gd name="adj" fmla="val 11650"/>
            </a:avLst>
          </a:prstGeom>
          <a:gradFill rotWithShape="1">
            <a:gsLst>
              <a:gs pos="0">
                <a:srgbClr val="00BCD4">
                  <a:alpha val="15000"/>
                </a:srgbClr>
              </a:gs>
              <a:gs pos="100000">
                <a:srgbClr val="0288D1">
                  <a:alpha val="15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00079" y="1309784"/>
            <a:ext cx="285742" cy="180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00119" y="1247775"/>
            <a:ext cx="2495487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BCD4"/>
                </a:solidFill>
                <a:latin typeface="Poppins"/>
              </a:rPr>
              <a:t>Actions RH Concrètes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079" y="1685925"/>
            <a:ext cx="2724081" cy="609600"/>
          </a:xfrm>
          <a:prstGeom prst="roundRect">
            <a:avLst>
              <a:gd name="adj" fmla="val 25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6278" y="1856453"/>
            <a:ext cx="171445" cy="1161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3921" y="1762125"/>
            <a:ext cx="208592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Surveillance employés à risque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0359" y="1685925"/>
            <a:ext cx="2724081" cy="609600"/>
          </a:xfrm>
          <a:prstGeom prst="roundRect">
            <a:avLst>
              <a:gd name="adj" fmla="val 25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76558" y="1842626"/>
            <a:ext cx="171445" cy="1437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24201" y="1762125"/>
            <a:ext cx="2324041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Programmes rétention personnalisés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079" y="2371725"/>
            <a:ext cx="2724081" cy="438149"/>
          </a:xfrm>
          <a:prstGeom prst="roundRect">
            <a:avLst>
              <a:gd name="adj" fmla="val 34782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76278" y="2550549"/>
            <a:ext cx="171445" cy="995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23921" y="2447924"/>
            <a:ext cx="205734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Amélioration conditions travail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359" y="2371725"/>
            <a:ext cx="2724081" cy="438149"/>
          </a:xfrm>
          <a:prstGeom prst="roundRect">
            <a:avLst>
              <a:gd name="adj" fmla="val 34782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676558" y="2531191"/>
            <a:ext cx="171445" cy="13826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24201" y="2447924"/>
            <a:ext cx="160968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Développement carrière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584" y="3114675"/>
            <a:ext cx="5905352" cy="1981199"/>
          </a:xfrm>
          <a:prstGeom prst="roundRect">
            <a:avLst>
              <a:gd name="adj" fmla="val 11538"/>
            </a:avLst>
          </a:prstGeom>
          <a:solidFill>
            <a:srgbClr val="0288D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 Same Side Corner Rectangle 18"/>
          <p:cNvSpPr/>
          <p:nvPr/>
        </p:nvSpPr>
        <p:spPr>
          <a:xfrm rot="16200000">
            <a:off x="-314975" y="4039234"/>
            <a:ext cx="19811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38179" y="3357076"/>
            <a:ext cx="285742" cy="2390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38219" y="3324225"/>
            <a:ext cx="2762180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288D1"/>
                </a:solidFill>
                <a:latin typeface="Poppins"/>
              </a:rPr>
              <a:t>Déploiement du Modèle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38179" y="3809999"/>
            <a:ext cx="152396" cy="13334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66773" y="3762374"/>
            <a:ext cx="231451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Intégration systèmes RH existants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38179" y="4137932"/>
            <a:ext cx="152396" cy="870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66773" y="4067174"/>
            <a:ext cx="150491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Formation équipes RH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38179" y="4426403"/>
            <a:ext cx="152396" cy="11974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66773" y="4371975"/>
            <a:ext cx="19144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Tableaux de bord temps réel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838179" y="4725760"/>
            <a:ext cx="152396" cy="1306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66773" y="4676775"/>
            <a:ext cx="145728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Alertes automatiques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43531" y="1038224"/>
            <a:ext cx="4838579" cy="1904999"/>
          </a:xfrm>
          <a:prstGeom prst="roundRect">
            <a:avLst>
              <a:gd name="adj" fmla="val 12000"/>
            </a:avLst>
          </a:prstGeom>
          <a:solidFill>
            <a:srgbClr val="00BCD4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 Same Side Corner Rectangle 30"/>
          <p:cNvSpPr/>
          <p:nvPr/>
        </p:nvSpPr>
        <p:spPr>
          <a:xfrm rot="16200000">
            <a:off x="5857072" y="1924683"/>
            <a:ext cx="19049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972125" y="1289373"/>
            <a:ext cx="285742" cy="22160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372165" y="1247775"/>
            <a:ext cx="1533486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BCD4"/>
                </a:solidFill>
                <a:latin typeface="Poppins"/>
              </a:rPr>
              <a:t>Suivi Continu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72125" y="1685925"/>
            <a:ext cx="2171645" cy="761999"/>
          </a:xfrm>
          <a:prstGeom prst="roundRect">
            <a:avLst>
              <a:gd name="adj" fmla="val 20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7943651" y="1871186"/>
            <a:ext cx="228594" cy="162877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086422" y="2143125"/>
            <a:ext cx="194305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"/>
              </a:rPr>
              <a:t>Évaluation Performance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19969" y="1685925"/>
            <a:ext cx="2171645" cy="761999"/>
          </a:xfrm>
          <a:prstGeom prst="roundRect">
            <a:avLst>
              <a:gd name="adj" fmla="val 20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10191495" y="1864042"/>
            <a:ext cx="228594" cy="17716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334266" y="2143125"/>
            <a:ext cx="194305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"/>
              </a:rPr>
              <a:t>Mise à Jour Régulière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72125" y="2562224"/>
            <a:ext cx="441948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780"/>
              </a:spcBef>
              <a:spcAft>
                <a:spcPts val="0"/>
              </a:spcAft>
            </a:pPr>
            <a:r>
              <a:rPr sz="837" b="0">
                <a:solidFill>
                  <a:srgbClr val="B3E5FC"/>
                </a:solidFill>
                <a:latin typeface="Roboto"/>
              </a:rPr>
              <a:t>Feedback continu des équipes terrain pour ajustement du modèle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743531" y="3057525"/>
            <a:ext cx="4838579" cy="2247899"/>
          </a:xfrm>
          <a:prstGeom prst="roundRect">
            <a:avLst>
              <a:gd name="adj" fmla="val 10169"/>
            </a:avLst>
          </a:prstGeom>
          <a:gradFill rotWithShape="1">
            <a:gsLst>
              <a:gs pos="0">
                <a:srgbClr val="00BCD4">
                  <a:alpha val="15000"/>
                </a:srgbClr>
              </a:gs>
              <a:gs pos="100000">
                <a:srgbClr val="0288D1">
                  <a:alpha val="15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6934026" y="3302842"/>
            <a:ext cx="285742" cy="233265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334066" y="3267075"/>
            <a:ext cx="1828754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BCD4"/>
                </a:solidFill>
                <a:latin typeface="Poppins"/>
              </a:rPr>
              <a:t>Impact Attendu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34026" y="3705224"/>
            <a:ext cx="4457588" cy="419100"/>
          </a:xfrm>
          <a:prstGeom prst="roundRect">
            <a:avLst>
              <a:gd name="adj" fmla="val 36363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010224" y="3800475"/>
            <a:ext cx="158111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Réduction taux attrition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48703" y="3781424"/>
            <a:ext cx="46671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00BCD4"/>
                </a:solidFill>
                <a:latin typeface="Poppins"/>
              </a:rPr>
              <a:t>-30%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934026" y="4200525"/>
            <a:ext cx="4457588" cy="419100"/>
          </a:xfrm>
          <a:prstGeom prst="roundRect">
            <a:avLst>
              <a:gd name="adj" fmla="val 36363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010224" y="4295774"/>
            <a:ext cx="164778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Économies RH estimées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15297" y="4276725"/>
            <a:ext cx="120011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00BCD4"/>
                </a:solidFill>
                <a:latin typeface="Poppins"/>
              </a:rPr>
              <a:t>Significatives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934026" y="4695824"/>
            <a:ext cx="4457588" cy="419100"/>
          </a:xfrm>
          <a:prstGeom prst="roundRect">
            <a:avLst>
              <a:gd name="adj" fmla="val 36363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010224" y="4791075"/>
            <a:ext cx="150491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Satisfaction employés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48703" y="4772025"/>
            <a:ext cx="46671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00BCD4"/>
                </a:solidFill>
                <a:latin typeface="Poppins"/>
              </a:rPr>
              <a:t>+25%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3D31D87-9121-11B8-774A-733623B27B1C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190084"/>
            <a:ext cx="3159776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FFFFFF"/>
                </a:solidFill>
                <a:latin typeface="Poppins"/>
              </a:rPr>
              <a:t>10. Conclusion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9584" y="1000125"/>
            <a:ext cx="4314717" cy="1066799"/>
          </a:xfrm>
          <a:prstGeom prst="roundRect">
            <a:avLst>
              <a:gd name="adj" fmla="val 21428"/>
            </a:avLst>
          </a:prstGeom>
          <a:gradFill rotWithShape="1">
            <a:gsLst>
              <a:gs pos="0">
                <a:srgbClr val="00BCD4">
                  <a:alpha val="20000"/>
                </a:srgbClr>
              </a:gs>
              <a:gs pos="100000">
                <a:srgbClr val="0288D1">
                  <a:alpha val="15000"/>
                </a:srgbClr>
              </a:gs>
            </a:gsLst>
            <a:lin ang="8100000" scaled="0"/>
          </a:gradFill>
          <a:ln w="1651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030" y="1232223"/>
            <a:ext cx="285742" cy="2216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2971" y="1209674"/>
            <a:ext cx="241928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00BCD4"/>
                </a:solidFill>
                <a:latin typeface="Poppins"/>
              </a:rPr>
              <a:t>Pipeline Complet Réalisé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030" y="1628775"/>
            <a:ext cx="895327" cy="266699"/>
          </a:xfrm>
          <a:prstGeom prst="roundRect">
            <a:avLst>
              <a:gd name="adj" fmla="val 71421428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030" y="1628775"/>
            <a:ext cx="89532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"/>
              </a:rPr>
              <a:t>Exploration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52556" y="1628775"/>
            <a:ext cx="914377" cy="266699"/>
          </a:xfrm>
          <a:prstGeom prst="roundRect">
            <a:avLst>
              <a:gd name="adj" fmla="val 71421428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52556" y="1628775"/>
            <a:ext cx="91437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"/>
              </a:rPr>
              <a:t>Préparation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131" y="1628775"/>
            <a:ext cx="828654" cy="266699"/>
          </a:xfrm>
          <a:prstGeom prst="roundRect">
            <a:avLst>
              <a:gd name="adj" fmla="val 71421428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131" y="1628775"/>
            <a:ext cx="828654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"/>
              </a:rPr>
              <a:t>Clustering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47983" y="1628775"/>
            <a:ext cx="1028674" cy="266699"/>
          </a:xfrm>
          <a:prstGeom prst="roundRect">
            <a:avLst>
              <a:gd name="adj" fmla="val 71421428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47983" y="1628775"/>
            <a:ext cx="1028674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"/>
              </a:rPr>
              <a:t>Classification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584" y="2181225"/>
            <a:ext cx="4314717" cy="1523999"/>
          </a:xfrm>
          <a:prstGeom prst="roundRect">
            <a:avLst>
              <a:gd name="adj" fmla="val 15000"/>
            </a:avLst>
          </a:prstGeom>
          <a:solidFill>
            <a:srgbClr val="0288D1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 Same Side Corner Rectangle 14"/>
          <p:cNvSpPr/>
          <p:nvPr/>
        </p:nvSpPr>
        <p:spPr>
          <a:xfrm rot="16200000">
            <a:off x="-86375" y="2877184"/>
            <a:ext cx="15239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0079" y="2333624"/>
            <a:ext cx="3971825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780"/>
              </a:spcAft>
            </a:pPr>
            <a:r>
              <a:rPr sz="1076" b="1">
                <a:solidFill>
                  <a:srgbClr val="0288D1"/>
                </a:solidFill>
                <a:latin typeface="Poppins"/>
              </a:rPr>
              <a:t>Facteurs Clés d'Attrition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0079" y="2785382"/>
            <a:ext cx="152396" cy="870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28674" y="2714625"/>
            <a:ext cx="165730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Durée manager actuel </a:t>
            </a:r>
            <a:r>
              <a:rPr sz="837" b="0">
                <a:solidFill>
                  <a:srgbClr val="00BCD4"/>
                </a:solidFill>
                <a:latin typeface="Roboto"/>
              </a:rPr>
              <a:t>(-)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0079" y="3090182"/>
            <a:ext cx="152396" cy="8708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28674" y="3019424"/>
            <a:ext cx="134299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Heures de travail </a:t>
            </a:r>
            <a:r>
              <a:rPr sz="837" b="0">
                <a:solidFill>
                  <a:srgbClr val="00BCD4"/>
                </a:solidFill>
                <a:latin typeface="Roboto"/>
              </a:rPr>
              <a:t>(+)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0079" y="3394982"/>
            <a:ext cx="152396" cy="870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28674" y="3324225"/>
            <a:ext cx="133346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Expérience totale </a:t>
            </a:r>
            <a:r>
              <a:rPr sz="837" b="0">
                <a:solidFill>
                  <a:srgbClr val="00BCD4"/>
                </a:solidFill>
                <a:latin typeface="Roboto"/>
              </a:rPr>
              <a:t>(-)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584" y="3819524"/>
            <a:ext cx="4314717" cy="1485900"/>
          </a:xfrm>
          <a:prstGeom prst="roundRect">
            <a:avLst>
              <a:gd name="adj" fmla="val 15384"/>
            </a:avLst>
          </a:prstGeom>
          <a:solidFill>
            <a:srgbClr val="00BCD4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 Same Side Corner Rectangle 23"/>
          <p:cNvSpPr/>
          <p:nvPr/>
        </p:nvSpPr>
        <p:spPr>
          <a:xfrm rot="16200000">
            <a:off x="-67326" y="4496434"/>
            <a:ext cx="14859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0079" y="3971925"/>
            <a:ext cx="3971825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520"/>
              </a:spcAft>
            </a:pPr>
            <a:r>
              <a:rPr sz="1076" b="1">
                <a:solidFill>
                  <a:srgbClr val="00BCD4"/>
                </a:solidFill>
                <a:latin typeface="Poppins"/>
              </a:rPr>
              <a:t>Impact Business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0079" y="4369253"/>
            <a:ext cx="152396" cy="11974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28674" y="4314825"/>
            <a:ext cx="142871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Aide à la décision RH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00079" y="4671332"/>
            <a:ext cx="152396" cy="12518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28674" y="4619625"/>
            <a:ext cx="169540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Réduction coûts turnover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00079" y="4980214"/>
            <a:ext cx="152396" cy="11702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28674" y="4924424"/>
            <a:ext cx="184780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Actions préventives ciblées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14797" y="1000125"/>
            <a:ext cx="6467313" cy="1828800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00BCD4">
                  <a:alpha val="20000"/>
                </a:srgbClr>
              </a:gs>
              <a:gs pos="100000">
                <a:srgbClr val="0288D1">
                  <a:alpha val="15000"/>
                </a:srgbClr>
              </a:gs>
            </a:gsLst>
            <a:lin ang="8100000" scaled="0"/>
          </a:gradFill>
          <a:ln w="1651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324341" y="1394591"/>
            <a:ext cx="342891" cy="277867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781530" y="1247775"/>
            <a:ext cx="3209844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Poppins"/>
              </a:rPr>
              <a:t>RandomForest - Champion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81530" y="1590675"/>
            <a:ext cx="320984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260"/>
              </a:spcBef>
              <a:spcAft>
                <a:spcPts val="0"/>
              </a:spcAft>
            </a:pPr>
            <a:r>
              <a:rPr sz="956" b="0">
                <a:solidFill>
                  <a:srgbClr val="B3E5FC"/>
                </a:solidFill>
                <a:latin typeface="Roboto"/>
              </a:rPr>
              <a:t>Modèle le plus performant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24781" y="1209674"/>
            <a:ext cx="1647783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70" b="1">
                <a:solidFill>
                  <a:srgbClr val="00BCD4"/>
                </a:solidFill>
                <a:latin typeface="Poppins"/>
              </a:rPr>
              <a:t>98.87%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24781" y="1666874"/>
            <a:ext cx="1647783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E1F5FE"/>
                </a:solidFill>
                <a:latin typeface="Roboto"/>
              </a:rPr>
              <a:t>Accuracy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24341" y="2009774"/>
            <a:ext cx="1962100" cy="609600"/>
          </a:xfrm>
          <a:prstGeom prst="roundRect">
            <a:avLst>
              <a:gd name="adj" fmla="val 25000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400539" y="2085975"/>
            <a:ext cx="1809704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26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Precision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00539" y="2276474"/>
            <a:ext cx="1809704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Poppins"/>
              </a:rPr>
              <a:t>100%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62640" y="2009774"/>
            <a:ext cx="1962100" cy="609600"/>
          </a:xfrm>
          <a:prstGeom prst="roundRect">
            <a:avLst>
              <a:gd name="adj" fmla="val 25000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38839" y="2085975"/>
            <a:ext cx="1809704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26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Recall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38839" y="2276474"/>
            <a:ext cx="1809704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Poppins"/>
              </a:rPr>
              <a:t>92.96%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10464" y="2009774"/>
            <a:ext cx="1962100" cy="609600"/>
          </a:xfrm>
          <a:prstGeom prst="roundRect">
            <a:avLst>
              <a:gd name="adj" fmla="val 25000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486662" y="2085975"/>
            <a:ext cx="1809704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260"/>
              </a:spcAft>
            </a:pPr>
            <a:r>
              <a:rPr sz="717" b="0">
                <a:solidFill>
                  <a:srgbClr val="B3E5FC"/>
                </a:solidFill>
                <a:latin typeface="Roboto"/>
              </a:rPr>
              <a:t>AUC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6662" y="2276474"/>
            <a:ext cx="1809704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Poppins"/>
              </a:rPr>
              <a:t>0.995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114797" y="2943225"/>
            <a:ext cx="3181270" cy="1295399"/>
          </a:xfrm>
          <a:prstGeom prst="roundRect">
            <a:avLst>
              <a:gd name="adj" fmla="val 17647"/>
            </a:avLst>
          </a:prstGeom>
          <a:solidFill>
            <a:srgbClr val="0288D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 Same Side Corner Rectangle 47"/>
          <p:cNvSpPr/>
          <p:nvPr/>
        </p:nvSpPr>
        <p:spPr>
          <a:xfrm rot="16200000">
            <a:off x="4533138" y="3524884"/>
            <a:ext cx="12953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05292" y="3150533"/>
            <a:ext cx="190495" cy="15688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5305292" y="3438525"/>
            <a:ext cx="283837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E1F5FC"/>
                </a:solidFill>
                <a:latin typeface="Roboto"/>
              </a:rPr>
              <a:t>• Données déséquilibrées (16%)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5292" y="3667124"/>
            <a:ext cx="283837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E1F5FC"/>
                </a:solidFill>
                <a:latin typeface="Roboto"/>
              </a:rPr>
              <a:t>• Modèle binaire simple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5292" y="3895724"/>
            <a:ext cx="283837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E1F5FC"/>
                </a:solidFill>
                <a:latin typeface="Roboto"/>
              </a:rPr>
              <a:t>• Absence données temporelles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0839" y="2943225"/>
            <a:ext cx="3181270" cy="1295399"/>
          </a:xfrm>
          <a:prstGeom prst="roundRect">
            <a:avLst>
              <a:gd name="adj" fmla="val 17647"/>
            </a:avLst>
          </a:prstGeom>
          <a:solidFill>
            <a:srgbClr val="00BCD4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 Same Side Corner Rectangle 53"/>
          <p:cNvSpPr/>
          <p:nvPr/>
        </p:nvSpPr>
        <p:spPr>
          <a:xfrm rot="16200000">
            <a:off x="7819180" y="3524884"/>
            <a:ext cx="12953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591335" y="3147732"/>
            <a:ext cx="190495" cy="162485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591335" y="3438525"/>
            <a:ext cx="283837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E1F5FC"/>
                </a:solidFill>
                <a:latin typeface="Roboto"/>
              </a:rPr>
              <a:t>• Enrichissement données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91335" y="3667124"/>
            <a:ext cx="283837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E1F5FC"/>
                </a:solidFill>
                <a:latin typeface="Roboto"/>
              </a:rPr>
              <a:t>• Modèles ensemble avancés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91335" y="3895724"/>
            <a:ext cx="283837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E1F5FC"/>
                </a:solidFill>
                <a:latin typeface="Roboto"/>
              </a:rPr>
              <a:t>• Prédiction temporelle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114797" y="4352924"/>
            <a:ext cx="6467313" cy="647699"/>
          </a:xfrm>
          <a:prstGeom prst="roundRect">
            <a:avLst>
              <a:gd name="adj" fmla="val 35294"/>
            </a:avLst>
          </a:prstGeom>
          <a:gradFill rotWithShape="1">
            <a:gsLst>
              <a:gs pos="0">
                <a:srgbClr val="00BCD4">
                  <a:alpha val="15000"/>
                </a:srgbClr>
              </a:gs>
              <a:gs pos="100000">
                <a:srgbClr val="0288D1">
                  <a:alpha val="15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305292" y="4548479"/>
            <a:ext cx="285742" cy="256591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5705332" y="4543425"/>
            <a:ext cx="568628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"/>
              </a:rPr>
              <a:t>Solution data science robuste et déployable pour optimiser la rétention RH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9B271B2-DB8A-F503-0208-DAE3C29B3870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799</Words>
  <Application>Microsoft Office PowerPoint</Application>
  <PresentationFormat>Grand écran</PresentationFormat>
  <Paragraphs>280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Arial</vt:lpstr>
      <vt:lpstr>Calibri</vt:lpstr>
      <vt:lpstr>Poppins</vt:lpstr>
      <vt:lpstr>Roboto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GOUADFEL RAYAN</cp:lastModifiedBy>
  <cp:revision>4</cp:revision>
  <dcterms:created xsi:type="dcterms:W3CDTF">2013-01-27T09:14:16Z</dcterms:created>
  <dcterms:modified xsi:type="dcterms:W3CDTF">2026-02-25T15:10:41Z</dcterms:modified>
  <cp:category/>
</cp:coreProperties>
</file>