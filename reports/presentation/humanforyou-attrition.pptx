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4"/>
  </p:notesMasterIdLst>
  <p:handoutMasterIdLst>
    <p:handoutMasterId r:id="rId45"/>
  </p:handoutMasterIdLst>
  <p:sldIdLst>
    <p:sldId id="302" r:id="rId5"/>
    <p:sldId id="257" r:id="rId6"/>
    <p:sldId id="290" r:id="rId7"/>
    <p:sldId id="275" r:id="rId8"/>
    <p:sldId id="292" r:id="rId9"/>
    <p:sldId id="276" r:id="rId10"/>
    <p:sldId id="272" r:id="rId11"/>
    <p:sldId id="282" r:id="rId12"/>
    <p:sldId id="279" r:id="rId13"/>
    <p:sldId id="293" r:id="rId14"/>
    <p:sldId id="280" r:id="rId15"/>
    <p:sldId id="277" r:id="rId16"/>
    <p:sldId id="273" r:id="rId17"/>
    <p:sldId id="278" r:id="rId18"/>
    <p:sldId id="281" r:id="rId19"/>
    <p:sldId id="287" r:id="rId20"/>
    <p:sldId id="283" r:id="rId21"/>
    <p:sldId id="284" r:id="rId22"/>
    <p:sldId id="288" r:id="rId23"/>
    <p:sldId id="261" r:id="rId24"/>
    <p:sldId id="289" r:id="rId25"/>
    <p:sldId id="271" r:id="rId26"/>
    <p:sldId id="285" r:id="rId27"/>
    <p:sldId id="286" r:id="rId28"/>
    <p:sldId id="294" r:id="rId29"/>
    <p:sldId id="298" r:id="rId30"/>
    <p:sldId id="309" r:id="rId31"/>
    <p:sldId id="295" r:id="rId32"/>
    <p:sldId id="299" r:id="rId33"/>
    <p:sldId id="310" r:id="rId34"/>
    <p:sldId id="307" r:id="rId35"/>
    <p:sldId id="263" r:id="rId36"/>
    <p:sldId id="305" r:id="rId37"/>
    <p:sldId id="296" r:id="rId38"/>
    <p:sldId id="264" r:id="rId39"/>
    <p:sldId id="304" r:id="rId40"/>
    <p:sldId id="297" r:id="rId41"/>
    <p:sldId id="266" r:id="rId42"/>
    <p:sldId id="30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8D1"/>
    <a:srgbClr val="205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6C4302-E756-4553-99DC-E5E3BB5B2498}" v="700" dt="2026-02-27T07:47:31.570"/>
    <p1510:client id="{B89E1F90-9CFB-4C70-8C0D-63EA826CDF31}" v="2076" dt="2026-02-27T08:09:51.407"/>
    <p1510:client id="{BD46037F-4058-4267-AA8C-87F2B3030C92}" v="963" dt="2026-02-27T07:59:51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352" autoAdjust="0"/>
  </p:normalViewPr>
  <p:slideViewPr>
    <p:cSldViewPr snapToGrid="0">
      <p:cViewPr varScale="1">
        <p:scale>
          <a:sx n="53" d="100"/>
          <a:sy n="53" d="100"/>
        </p:scale>
        <p:origin x="68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255544B-7C8C-7F98-7F1B-B1BD717B33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29C42F-292F-62A7-6842-036B2E910F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3BCE5-7EBE-4A66-9404-CE83A992B231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2218EB-872D-5A8A-7900-AEB5C76ABF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FB1C5D-D846-8F43-6FC6-403B66730F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CAA95-AA5D-43E9-B0F0-950E01D336C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2288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EDA91-88AE-4F94-925E-07FFB80B5969}" type="datetimeFigureOut">
              <a:rPr lang="fr-FR" smtClean="0"/>
              <a:t>27/02/2026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2B670-D7FF-4D2A-A702-B36F595A107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30680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Aujourd’hui nous allons vous présenter notre projet d’intelligence artificielle réalisé pour l’entreprise </a:t>
            </a:r>
            <a:r>
              <a:rPr lang="fr-FR" b="1" dirty="0" err="1"/>
              <a:t>HumanForYou</a:t>
            </a:r>
            <a:r>
              <a:rPr lang="fr-FR" dirty="0"/>
              <a:t>.</a:t>
            </a:r>
          </a:p>
          <a:p>
            <a:r>
              <a:rPr lang="fr-FR" dirty="0"/>
              <a:t>Ce projet porte sur l’analyse du </a:t>
            </a:r>
            <a:r>
              <a:rPr lang="fr-FR" b="1" dirty="0"/>
              <a:t>phénomène d’attrition des employés</a:t>
            </a:r>
            <a:r>
              <a:rPr lang="fr-FR" dirty="0"/>
              <a:t>, c’est-à-dire le départ volontaire des salariés, à travers une approche basée sur la data science et le machine </a:t>
            </a:r>
            <a:r>
              <a:rPr lang="fr-FR" dirty="0" err="1"/>
              <a:t>learning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66390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Notre </a:t>
            </a:r>
            <a:r>
              <a:rPr lang="fr-FR" dirty="0" err="1"/>
              <a:t>presentation</a:t>
            </a:r>
            <a:r>
              <a:rPr lang="fr-FR" dirty="0"/>
              <a:t> est organisée en plusieurs étapes :</a:t>
            </a:r>
          </a:p>
          <a:p>
            <a:r>
              <a:rPr lang="fr-FR" dirty="0"/>
              <a:t>compréhension du contexte,</a:t>
            </a:r>
          </a:p>
          <a:p>
            <a:r>
              <a:rPr lang="fr-FR" dirty="0"/>
              <a:t>analyse des données disponibles,</a:t>
            </a:r>
          </a:p>
          <a:p>
            <a:r>
              <a:rPr lang="fr-FR" dirty="0"/>
              <a:t>préparation et transformation,</a:t>
            </a:r>
          </a:p>
          <a:p>
            <a:r>
              <a:rPr lang="fr-FR" dirty="0"/>
              <a:t>clustering,</a:t>
            </a:r>
          </a:p>
          <a:p>
            <a:r>
              <a:rPr lang="fr-FR" dirty="0"/>
              <a:t>modélisation,</a:t>
            </a:r>
          </a:p>
          <a:p>
            <a:r>
              <a:rPr lang="fr-FR" dirty="0"/>
              <a:t>réflexion éthique,</a:t>
            </a:r>
          </a:p>
          <a:p>
            <a:r>
              <a:rPr lang="fr-FR" dirty="0"/>
              <a:t>puis conclusion.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8836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Je vais présenter la première partie correspondant au </a:t>
            </a:r>
            <a:r>
              <a:rPr lang="fr-FR" b="1" dirty="0"/>
              <a:t>contexte</a:t>
            </a:r>
            <a:r>
              <a:rPr lang="fr-FR" dirty="0"/>
              <a:t>, aux </a:t>
            </a:r>
            <a:r>
              <a:rPr lang="fr-FR" b="1" dirty="0"/>
              <a:t>données</a:t>
            </a:r>
            <a:r>
              <a:rPr lang="fr-FR" dirty="0"/>
              <a:t>, et à la </a:t>
            </a:r>
            <a:r>
              <a:rPr lang="fr-FR" b="1" dirty="0"/>
              <a:t>préparation du jeu de données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689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1D11-415F-80CD-CDFA-81B49757D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B5A64C1-7132-E0E9-0395-7CBC36382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6DD6BD6-1247-44CA-D3BA-49AF75D26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HumanForYou</a:t>
            </a:r>
            <a:r>
              <a:rPr lang="fr-FR" dirty="0"/>
              <a:t> est une entreprise du secteur </a:t>
            </a:r>
            <a:r>
              <a:rPr lang="fr-FR" b="1" dirty="0"/>
              <a:t>pharmaceutique</a:t>
            </a:r>
            <a:r>
              <a:rPr lang="fr-FR" dirty="0"/>
              <a:t>, implantée en Inde, comptant </a:t>
            </a:r>
            <a:r>
              <a:rPr lang="fr-FR" b="1" dirty="0"/>
              <a:t>4 410 employés</a:t>
            </a:r>
            <a:r>
              <a:rPr lang="fr-FR" dirty="0"/>
              <a:t>.</a:t>
            </a:r>
          </a:p>
          <a:p>
            <a:r>
              <a:rPr lang="fr-FR" dirty="0"/>
              <a:t>L’entreprise observe un </a:t>
            </a:r>
            <a:r>
              <a:rPr lang="fr-FR" b="1" dirty="0"/>
              <a:t>taux d’attrition annuel de 16,12 %</a:t>
            </a:r>
            <a:r>
              <a:rPr lang="fr-FR" dirty="0"/>
              <a:t>, soit </a:t>
            </a:r>
            <a:r>
              <a:rPr lang="fr-FR" b="1" dirty="0"/>
              <a:t>711 départs sur une seule année</a:t>
            </a:r>
            <a:r>
              <a:rPr lang="fr-FR" dirty="0"/>
              <a:t>, contre </a:t>
            </a:r>
            <a:r>
              <a:rPr lang="fr-FR" b="1" dirty="0"/>
              <a:t>3 699 employés restés en poste</a:t>
            </a:r>
            <a:r>
              <a:rPr lang="fr-FR" dirty="0"/>
              <a:t>.</a:t>
            </a:r>
            <a:br>
              <a:rPr lang="fr-FR" dirty="0"/>
            </a:br>
            <a:endParaRPr lang="fr-FR" dirty="0"/>
          </a:p>
          <a:p>
            <a:r>
              <a:rPr lang="fr-FR" dirty="0"/>
              <a:t>Ce taux représente un enjeu majeur pour l’entreprise car il entraîne :</a:t>
            </a:r>
          </a:p>
          <a:p>
            <a:r>
              <a:rPr lang="fr-FR" dirty="0"/>
              <a:t>une perte de compétences,</a:t>
            </a:r>
          </a:p>
          <a:p>
            <a:r>
              <a:rPr lang="fr-FR" dirty="0"/>
              <a:t>un ralentissement des projets,</a:t>
            </a:r>
          </a:p>
          <a:p>
            <a:r>
              <a:rPr lang="fr-FR" dirty="0"/>
              <a:t>et des coûts importants liés au recrutement et à la formation.</a:t>
            </a:r>
            <a:br>
              <a:rPr lang="fr-FR" dirty="0"/>
            </a:br>
            <a:endParaRPr lang="fr-FR" dirty="0"/>
          </a:p>
          <a:p>
            <a:r>
              <a:rPr lang="fr-FR" dirty="0"/>
              <a:t>L’objectif du projet est donc d’exploiter les données RH afin </a:t>
            </a:r>
            <a:r>
              <a:rPr lang="fr-FR" b="1" dirty="0"/>
              <a:t>d’identifier les facteurs influençant l’attrition et prédire le risque de départ des employés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EAC86-C8FD-1B1E-F499-FAC6316CE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3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Dans cette seconde partie, nous allons présenter les différentes sources de données utilisées dans le projet.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8323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Quatre sources principales nous ont été fournies.</a:t>
            </a:r>
            <a:br>
              <a:rPr lang="fr-FR" dirty="0"/>
            </a:br>
            <a:endParaRPr lang="fr-FR" dirty="0"/>
          </a:p>
          <a:p>
            <a:r>
              <a:rPr lang="fr-FR" dirty="0"/>
              <a:t>Premièrement, le fichier </a:t>
            </a:r>
            <a:r>
              <a:rPr lang="fr-FR" b="1" dirty="0"/>
              <a:t>General Data</a:t>
            </a:r>
            <a:r>
              <a:rPr lang="fr-FR" dirty="0"/>
              <a:t>, contenant les informations principales des employés : âge, salaire, poste ou expérience professionnelle.</a:t>
            </a:r>
            <a:br>
              <a:rPr lang="fr-FR" dirty="0"/>
            </a:br>
            <a:endParaRPr lang="fr-FR" dirty="0"/>
          </a:p>
          <a:p>
            <a:r>
              <a:rPr lang="fr-FR" dirty="0"/>
              <a:t>Deuxièmement, </a:t>
            </a:r>
            <a:r>
              <a:rPr lang="fr-FR" b="1" dirty="0" err="1"/>
              <a:t>Employee</a:t>
            </a:r>
            <a:r>
              <a:rPr lang="fr-FR" b="1" dirty="0"/>
              <a:t> Survey</a:t>
            </a:r>
            <a:r>
              <a:rPr lang="fr-FR" dirty="0"/>
              <a:t>, une enquête interne mesurant la satisfaction et l’équilibre vie professionnelle / vie personnelle.</a:t>
            </a:r>
            <a:br>
              <a:rPr lang="fr-FR" dirty="0"/>
            </a:br>
            <a:endParaRPr lang="fr-FR" dirty="0"/>
          </a:p>
          <a:p>
            <a:r>
              <a:rPr lang="fr-FR" dirty="0"/>
              <a:t>Troisièmement, </a:t>
            </a:r>
            <a:r>
              <a:rPr lang="fr-FR" b="1" dirty="0"/>
              <a:t>Manager Survey</a:t>
            </a:r>
            <a:r>
              <a:rPr lang="fr-FR" dirty="0"/>
              <a:t>, regroupant les évaluations réalisées par les managers concernant la performance et l’implication.</a:t>
            </a:r>
            <a:br>
              <a:rPr lang="fr-FR" dirty="0"/>
            </a:br>
            <a:endParaRPr lang="fr-FR" dirty="0"/>
          </a:p>
          <a:p>
            <a:r>
              <a:rPr lang="fr-FR" dirty="0"/>
              <a:t>Enfin, les données </a:t>
            </a:r>
            <a:r>
              <a:rPr lang="fr-FR" b="1" dirty="0"/>
              <a:t>In/Out Time</a:t>
            </a:r>
            <a:r>
              <a:rPr lang="fr-FR" dirty="0"/>
              <a:t>, issues des badgeuses, représentant les horaires journaliers de présence sur </a:t>
            </a:r>
            <a:r>
              <a:rPr lang="fr-FR" b="1" dirty="0"/>
              <a:t>262 jours ouvrés</a:t>
            </a:r>
            <a:r>
              <a:rPr lang="fr-FR" dirty="0"/>
              <a:t>.</a:t>
            </a:r>
          </a:p>
          <a:p>
            <a:r>
              <a:rPr lang="fr-FR" dirty="0"/>
              <a:t>Au total, cela représente </a:t>
            </a:r>
            <a:r>
              <a:rPr lang="fr-FR" b="1" dirty="0"/>
              <a:t>4 410 employés pour 293 variables brutes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663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Cette étape consiste à analyser la qualité initiale des données.</a:t>
            </a:r>
          </a:p>
          <a:p>
            <a:r>
              <a:rPr lang="fr-FR" dirty="0"/>
              <a:t>Certaines valeurs manquantes apparaissent principalement dans les enquêtes de satisfaction, car la participation des employés n’était pas obligatoire.</a:t>
            </a:r>
          </a:p>
          <a:p>
            <a:r>
              <a:rPr lang="fr-FR" dirty="0"/>
              <a:t>Nous avons donc identifié puis traité ces valeurs afin d’éviter toute dégradation des modèles futurs.</a:t>
            </a:r>
          </a:p>
          <a:p>
            <a:r>
              <a:rPr lang="fr-FR" dirty="0"/>
              <a:t>Les choix d’imputation seront détaillés dans la phase de préparation des données.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05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ensuite réalisé une analyse statistique des principales variables numériques.</a:t>
            </a:r>
            <a:br>
              <a:rPr lang="fr-FR" dirty="0"/>
            </a:br>
            <a:endParaRPr lang="fr-FR" dirty="0"/>
          </a:p>
          <a:p>
            <a:r>
              <a:rPr lang="fr-FR" dirty="0"/>
              <a:t>On observe notamment :</a:t>
            </a:r>
          </a:p>
          <a:p>
            <a:r>
              <a:rPr lang="fr-FR" dirty="0"/>
              <a:t>un âge moyen d’environ </a:t>
            </a:r>
            <a:r>
              <a:rPr lang="fr-FR" b="1" dirty="0"/>
              <a:t>37 ans</a:t>
            </a:r>
            <a:r>
              <a:rPr lang="fr-FR" dirty="0"/>
              <a:t>,</a:t>
            </a:r>
          </a:p>
          <a:p>
            <a:r>
              <a:rPr lang="fr-FR" dirty="0"/>
              <a:t>un revenu mensuel très dispersé,</a:t>
            </a:r>
          </a:p>
          <a:p>
            <a:r>
              <a:rPr lang="fr-FR" dirty="0"/>
              <a:t>une ancienneté moyenne proche de </a:t>
            </a:r>
            <a:r>
              <a:rPr lang="fr-FR" b="1" dirty="0"/>
              <a:t>7 ans</a:t>
            </a:r>
            <a:r>
              <a:rPr lang="fr-FR" dirty="0"/>
              <a:t>,</a:t>
            </a:r>
          </a:p>
          <a:p>
            <a:r>
              <a:rPr lang="fr-FR" dirty="0"/>
              <a:t>et une distance domicile-travail moyenne de </a:t>
            </a:r>
            <a:r>
              <a:rPr lang="fr-FR" b="1" dirty="0"/>
              <a:t>9 km</a:t>
            </a:r>
            <a:r>
              <a:rPr lang="fr-FR" dirty="0"/>
              <a:t>.</a:t>
            </a:r>
            <a:br>
              <a:rPr lang="fr-FR" dirty="0"/>
            </a:br>
            <a:endParaRPr lang="fr-FR" dirty="0"/>
          </a:p>
          <a:p>
            <a:r>
              <a:rPr lang="fr-FR" dirty="0"/>
              <a:t>Cette analyse permet de mieux comprendre la structure globale de la population étudiée avant toute phase de modélisation.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321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également étudié la répartition des variables qualitatives.</a:t>
            </a:r>
          </a:p>
          <a:p>
            <a:endParaRPr lang="fr-FR" dirty="0"/>
          </a:p>
          <a:p>
            <a:r>
              <a:rPr lang="fr-FR" dirty="0"/>
              <a:t>Le </a:t>
            </a:r>
            <a:r>
              <a:rPr lang="fr-FR" dirty="0" err="1"/>
              <a:t>dataset</a:t>
            </a:r>
            <a:r>
              <a:rPr lang="fr-FR" dirty="0"/>
              <a:t> montre :</a:t>
            </a:r>
          </a:p>
          <a:p>
            <a:r>
              <a:rPr lang="fr-FR" dirty="0"/>
              <a:t>un taux d’attrition de </a:t>
            </a:r>
            <a:r>
              <a:rPr lang="fr-FR" b="1" dirty="0"/>
              <a:t>16,1 %</a:t>
            </a:r>
            <a:r>
              <a:rPr lang="fr-FR" dirty="0"/>
              <a:t>,</a:t>
            </a:r>
          </a:p>
          <a:p>
            <a:r>
              <a:rPr lang="fr-FR" dirty="0"/>
              <a:t>une majorité d’employés travaillant en </a:t>
            </a:r>
            <a:r>
              <a:rPr lang="fr-FR" b="1" dirty="0"/>
              <a:t>R&amp;D</a:t>
            </a:r>
            <a:r>
              <a:rPr lang="fr-FR" dirty="0"/>
              <a:t>,</a:t>
            </a:r>
          </a:p>
          <a:p>
            <a:r>
              <a:rPr lang="fr-FR" dirty="0"/>
              <a:t>une population composée d’environ </a:t>
            </a:r>
            <a:r>
              <a:rPr lang="fr-FR" b="1" dirty="0"/>
              <a:t>60 % d’hommes</a:t>
            </a:r>
            <a:r>
              <a:rPr lang="fr-FR" dirty="0"/>
              <a:t>,</a:t>
            </a:r>
          </a:p>
          <a:p>
            <a:r>
              <a:rPr lang="fr-FR" dirty="0"/>
              <a:t>une proportion importante d’employés mariés,</a:t>
            </a:r>
          </a:p>
          <a:p>
            <a:endParaRPr lang="fr-FR" dirty="0"/>
          </a:p>
          <a:p>
            <a:r>
              <a:rPr lang="fr-FR" dirty="0"/>
              <a:t>et des déplacements professionnels majoritairement occasionnels.</a:t>
            </a:r>
          </a:p>
          <a:p>
            <a:r>
              <a:rPr lang="fr-FR" dirty="0"/>
              <a:t>Cette étape permet d’identifier les premières tendances comportementales présentes dans les données.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0462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Après l’exploration initiale, la phase suivante consiste à transformer les données brutes en un jeu exploitable pour le machine </a:t>
            </a:r>
            <a:r>
              <a:rPr lang="fr-FR" dirty="0" err="1"/>
              <a:t>learning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000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Plusieurs opérations ont été réalisées.</a:t>
            </a:r>
          </a:p>
          <a:p>
            <a:r>
              <a:rPr lang="fr-FR" dirty="0"/>
              <a:t>Les trois tables RH ont été </a:t>
            </a:r>
            <a:r>
              <a:rPr lang="fr-FR" b="1" dirty="0"/>
              <a:t>fusionnées via la clé </a:t>
            </a:r>
            <a:r>
              <a:rPr lang="fr-FR" b="1" dirty="0" err="1"/>
              <a:t>EmployeeID</a:t>
            </a:r>
            <a:r>
              <a:rPr lang="fr-FR" dirty="0"/>
              <a:t> afin d’obtenir une vision unifiée de chaque employé.</a:t>
            </a:r>
          </a:p>
          <a:p>
            <a:r>
              <a:rPr lang="fr-FR" dirty="0"/>
              <a:t>Certaines colonnes constantes, comme </a:t>
            </a:r>
            <a:r>
              <a:rPr lang="fr-FR" i="1" dirty="0" err="1"/>
              <a:t>EmployeeCount</a:t>
            </a:r>
            <a:r>
              <a:rPr lang="fr-FR" dirty="0"/>
              <a:t>, </a:t>
            </a:r>
            <a:r>
              <a:rPr lang="fr-FR" i="1" dirty="0"/>
              <a:t>Over18</a:t>
            </a:r>
            <a:r>
              <a:rPr lang="fr-FR" dirty="0"/>
              <a:t> ou </a:t>
            </a:r>
            <a:r>
              <a:rPr lang="fr-FR" i="1" dirty="0" err="1"/>
              <a:t>StandardHours</a:t>
            </a:r>
            <a:r>
              <a:rPr lang="fr-FR" dirty="0"/>
              <a:t>, ont été supprimées car elles n’apportaient aucune information utile.</a:t>
            </a:r>
          </a:p>
          <a:p>
            <a:endParaRPr lang="fr-FR" dirty="0"/>
          </a:p>
          <a:p>
            <a:r>
              <a:rPr lang="fr-FR" dirty="0"/>
              <a:t>Les valeurs manquantes ont été imputées :</a:t>
            </a:r>
          </a:p>
          <a:p>
            <a:r>
              <a:rPr lang="fr-FR" dirty="0"/>
              <a:t>médiane pour les variables numériques,</a:t>
            </a:r>
          </a:p>
          <a:p>
            <a:r>
              <a:rPr lang="fr-FR" dirty="0"/>
              <a:t>mode pour les variables catégorielles.</a:t>
            </a:r>
          </a:p>
          <a:p>
            <a:endParaRPr lang="fr-FR" dirty="0"/>
          </a:p>
          <a:p>
            <a:r>
              <a:rPr lang="fr-FR" dirty="0"/>
              <a:t>Un travail de </a:t>
            </a:r>
            <a:r>
              <a:rPr lang="fr-FR" b="1" dirty="0" err="1"/>
              <a:t>feature</a:t>
            </a:r>
            <a:r>
              <a:rPr lang="fr-FR" b="1" dirty="0"/>
              <a:t> engineering</a:t>
            </a:r>
            <a:r>
              <a:rPr lang="fr-FR" dirty="0"/>
              <a:t> a également été réalisé sur les données de badgeuse.</a:t>
            </a:r>
          </a:p>
          <a:p>
            <a:r>
              <a:rPr lang="fr-FR" dirty="0"/>
              <a:t>Le </a:t>
            </a:r>
            <a:r>
              <a:rPr lang="fr-FR" dirty="0" err="1"/>
              <a:t>dataset</a:t>
            </a:r>
            <a:r>
              <a:rPr lang="fr-FR" dirty="0"/>
              <a:t> final contient </a:t>
            </a:r>
            <a:r>
              <a:rPr lang="fr-FR" b="1" dirty="0"/>
              <a:t>4 410 lignes et 27 colonnes</a:t>
            </a:r>
            <a:r>
              <a:rPr lang="fr-FR" dirty="0"/>
              <a:t>, sans aucune valeur manquante.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158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Afin d’assurer la reproductibilité du projet, nous avons structuré un pipeline clair comprenant :</a:t>
            </a:r>
          </a:p>
          <a:p>
            <a:r>
              <a:rPr lang="fr-FR" dirty="0"/>
              <a:t>fusion des données,</a:t>
            </a:r>
          </a:p>
          <a:p>
            <a:r>
              <a:rPr lang="fr-FR" dirty="0"/>
              <a:t>nettoyage,</a:t>
            </a:r>
          </a:p>
          <a:p>
            <a:r>
              <a:rPr lang="fr-FR" dirty="0"/>
              <a:t>imputation,</a:t>
            </a:r>
          </a:p>
          <a:p>
            <a:r>
              <a:rPr lang="fr-FR" dirty="0"/>
              <a:t>transformation,</a:t>
            </a:r>
          </a:p>
          <a:p>
            <a:r>
              <a:rPr lang="fr-FR" dirty="0"/>
              <a:t>puis préparation pour les algorithmes.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0434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données badgeuses initiales contenaient plusieurs centaines de mesures journalières.</a:t>
            </a:r>
          </a:p>
          <a:p>
            <a:r>
              <a:rPr lang="fr-FR" dirty="0"/>
              <a:t>Nous avons donc réalisé une agrégation statistique permettant de calculer une </a:t>
            </a:r>
            <a:r>
              <a:rPr lang="fr-FR" b="1" dirty="0"/>
              <a:t>moyenne de temps de travail journalier</a:t>
            </a:r>
            <a:r>
              <a:rPr lang="fr-FR" dirty="0"/>
              <a:t>.</a:t>
            </a:r>
            <a:br>
              <a:rPr lang="fr-FR" dirty="0"/>
            </a:br>
            <a:endParaRPr lang="fr-FR" dirty="0"/>
          </a:p>
          <a:p>
            <a:r>
              <a:rPr lang="fr-FR" dirty="0"/>
              <a:t>Cette approche permet :</a:t>
            </a:r>
          </a:p>
          <a:p>
            <a:r>
              <a:rPr lang="fr-FR" dirty="0"/>
              <a:t>de réduire la dimensionnalité,</a:t>
            </a:r>
          </a:p>
          <a:p>
            <a:r>
              <a:rPr lang="fr-FR" dirty="0"/>
              <a:t>limiter le bruit,</a:t>
            </a:r>
          </a:p>
          <a:p>
            <a:r>
              <a:rPr lang="fr-FR" dirty="0"/>
              <a:t>tout en conservant une information comportementale pertinente.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3882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variables catégorielles ont ensuite été transformées via un </a:t>
            </a:r>
            <a:r>
              <a:rPr lang="fr-FR" b="1" dirty="0"/>
              <a:t>encodage </a:t>
            </a:r>
            <a:r>
              <a:rPr lang="fr-FR" b="1" dirty="0" err="1"/>
              <a:t>One-Hot</a:t>
            </a:r>
            <a:r>
              <a:rPr lang="fr-FR" dirty="0"/>
              <a:t>.</a:t>
            </a:r>
          </a:p>
          <a:p>
            <a:r>
              <a:rPr lang="fr-FR" dirty="0"/>
              <a:t>Cela permet aux algorithmes de machine </a:t>
            </a:r>
            <a:r>
              <a:rPr lang="fr-FR" dirty="0" err="1"/>
              <a:t>learning</a:t>
            </a:r>
            <a:r>
              <a:rPr lang="fr-FR" dirty="0"/>
              <a:t> de traiter correctement les catégories sans introduire de hiérarchie artificielle entre elles.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579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dataset</a:t>
            </a:r>
            <a:r>
              <a:rPr lang="fr-FR" dirty="0"/>
              <a:t> final a été séparé en deux parties :</a:t>
            </a:r>
          </a:p>
          <a:p>
            <a:r>
              <a:rPr lang="fr-FR" dirty="0"/>
              <a:t>un jeu d’entraînement pour apprendre les modèles,</a:t>
            </a:r>
          </a:p>
          <a:p>
            <a:r>
              <a:rPr lang="fr-FR" dirty="0"/>
              <a:t>un jeu de test pour évaluer leurs performances.</a:t>
            </a:r>
          </a:p>
          <a:p>
            <a:endParaRPr lang="fr-FR" dirty="0"/>
          </a:p>
          <a:p>
            <a:r>
              <a:rPr lang="fr-FR" dirty="0"/>
              <a:t>Cette séparation garantit une évaluation fiable et évite les biais liés au sur-apprentissage.</a:t>
            </a:r>
          </a:p>
          <a:p>
            <a:r>
              <a:rPr lang="fr-FR" dirty="0"/>
              <a:t>À ce stade, nous disposons donc d’un jeu de données propre, structuré et prêt pour l’analyse avancée.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764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3EA9-9ECD-85F9-3411-389CD1F9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6BBB464-E182-20E7-F341-1D7B6C80E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0362060-D9E0-D602-941F-895AC161C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1539BD-60E5-79C5-EA84-36DC7C50C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F002F-B568-44C2-9E9E-0E4628F991D9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585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3F002F-B568-44C2-9E9E-0E4628F991D9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95233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ROC: </a:t>
            </a:r>
            <a:r>
              <a:rPr lang="fr-FR"/>
              <a:t>Mesurer la performance du modèle</a:t>
            </a:r>
            <a:br>
              <a:rPr lang="fr-FR"/>
            </a:br>
            <a:r>
              <a:rPr lang="fr-FR"/>
              <a:t>Évaluer le compromis entre :</a:t>
            </a:r>
          </a:p>
          <a:p>
            <a:r>
              <a:rPr lang="fr-FR" b="1"/>
              <a:t>Précision</a:t>
            </a:r>
            <a:r>
              <a:rPr lang="fr-FR"/>
              <a:t> (qualité des alertes)</a:t>
            </a:r>
          </a:p>
          <a:p>
            <a:r>
              <a:rPr lang="fr-FR" b="1" err="1"/>
              <a:t>Recall</a:t>
            </a:r>
            <a:r>
              <a:rPr lang="fr-FR"/>
              <a:t> (capacité à détecter les départs)</a:t>
            </a:r>
          </a:p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107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Évaluer </a:t>
            </a:r>
            <a:r>
              <a:rPr lang="fr-FR" b="1"/>
              <a:t>comment le modèle classe réellement les observations</a:t>
            </a:r>
            <a:r>
              <a:rPr lang="fr-FR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3775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9444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2B670-D7FF-4D2A-A702-B36F595A107F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67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21D6E-CD47-4B91-A47A-50DCCC0FB770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096EA-A286-40FC-ABD8-D087C2570E29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656BB-3D0C-402E-8213-799B42F18E5A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9E933-E3B1-406C-84F9-C2E08C4A31D9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F93FC-1F33-4BCF-9B80-0F2DC3B629D6}" type="datetime1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309C-512F-4EBD-9B58-A4C452EEA957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3F819-19B0-4626-BC15-BC8678CE5965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8C07F-5C50-4E47-B475-41E513968AF0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0CBB8-41AB-4AEF-85CB-C9FEB599EFDB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A673-AFA1-4402-BA92-0B9D69D79E61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A709-E8F2-4798-9B1F-9D04F0AEA11C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2027"/>
            </a:gs>
            <a:gs pos="50000">
              <a:srgbClr val="203A43"/>
            </a:gs>
            <a:gs pos="100000">
              <a:srgbClr val="2C5364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6BC23-1F78-4FD0-B126-97053EC1F3FC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image.png">
            <a:extLst>
              <a:ext uri="{FF2B5EF4-FFF2-40B4-BE49-F238E27FC236}">
                <a16:creationId xmlns:a16="http://schemas.microsoft.com/office/drawing/2014/main" id="{73364429-D03A-71F8-D5A3-605ABB5843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441" y="1183059"/>
            <a:ext cx="1010812" cy="767154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DEB5A7E5-236C-A3EA-E28C-E41E401168A5}"/>
              </a:ext>
            </a:extLst>
          </p:cNvPr>
          <p:cNvSpPr txBox="1"/>
          <p:nvPr/>
        </p:nvSpPr>
        <p:spPr>
          <a:xfrm>
            <a:off x="4194558" y="2435234"/>
            <a:ext cx="3802579" cy="72398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5400" b="1">
                <a:solidFill>
                  <a:srgbClr val="FFFFFF"/>
                </a:solidFill>
                <a:latin typeface="Roboto Slab"/>
              </a:rPr>
              <a:t>PROJET 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82D230-EDA2-389F-684A-EA60C434BE6B}"/>
              </a:ext>
            </a:extLst>
          </p:cNvPr>
          <p:cNvSpPr/>
          <p:nvPr/>
        </p:nvSpPr>
        <p:spPr>
          <a:xfrm>
            <a:off x="5638659" y="3359200"/>
            <a:ext cx="914377" cy="381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20D8F26-1603-E054-1070-5959450BE99A}"/>
              </a:ext>
            </a:extLst>
          </p:cNvPr>
          <p:cNvSpPr txBox="1"/>
          <p:nvPr/>
        </p:nvSpPr>
        <p:spPr>
          <a:xfrm>
            <a:off x="3567783" y="3883924"/>
            <a:ext cx="5056128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3120"/>
              </a:spcAft>
            </a:pPr>
            <a:r>
              <a:rPr sz="2800" b="0" err="1">
                <a:solidFill>
                  <a:srgbClr val="E5E7EB"/>
                </a:solidFill>
                <a:latin typeface="Roboto"/>
              </a:rPr>
              <a:t>Prédiction</a:t>
            </a:r>
            <a:r>
              <a:rPr sz="2800" b="0">
                <a:solidFill>
                  <a:srgbClr val="E5E7EB"/>
                </a:solidFill>
                <a:latin typeface="Roboto"/>
              </a:rPr>
              <a:t> </a:t>
            </a:r>
            <a:r>
              <a:rPr sz="2800" b="0" err="1">
                <a:solidFill>
                  <a:srgbClr val="E5E7EB"/>
                </a:solidFill>
                <a:latin typeface="Roboto"/>
              </a:rPr>
              <a:t>d'Attrition</a:t>
            </a:r>
            <a:r>
              <a:rPr sz="2800" b="0">
                <a:solidFill>
                  <a:srgbClr val="E5E7EB"/>
                </a:solidFill>
                <a:latin typeface="Roboto"/>
              </a:rPr>
              <a:t> </a:t>
            </a:r>
            <a:r>
              <a:rPr sz="2800" b="0" err="1">
                <a:solidFill>
                  <a:srgbClr val="E5E7EB"/>
                </a:solidFill>
                <a:latin typeface="Roboto"/>
              </a:rPr>
              <a:t>Employés</a:t>
            </a:r>
            <a:endParaRPr sz="2800" b="0">
              <a:solidFill>
                <a:srgbClr val="E5E7EB"/>
              </a:solidFill>
              <a:latin typeface="Roboto"/>
            </a:endParaRPr>
          </a:p>
        </p:txBody>
      </p:sp>
      <p:pic>
        <p:nvPicPr>
          <p:cNvPr id="7" name="Picture 5" descr="image.png">
            <a:extLst>
              <a:ext uri="{FF2B5EF4-FFF2-40B4-BE49-F238E27FC236}">
                <a16:creationId xmlns:a16="http://schemas.microsoft.com/office/drawing/2014/main" id="{89B0F1BD-495B-7024-3696-9597CAFECC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2774" y="4832618"/>
            <a:ext cx="436363" cy="341509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FABB5EA7-40C1-59D9-2FC4-4CE640636A4E}"/>
              </a:ext>
            </a:extLst>
          </p:cNvPr>
          <p:cNvSpPr txBox="1"/>
          <p:nvPr/>
        </p:nvSpPr>
        <p:spPr>
          <a:xfrm>
            <a:off x="5603354" y="4847025"/>
            <a:ext cx="1628907" cy="36728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b="0" err="1">
                <a:solidFill>
                  <a:srgbClr val="D1D5DB"/>
                </a:solidFill>
                <a:latin typeface="Roboto"/>
              </a:rPr>
              <a:t>HumanForYou</a:t>
            </a:r>
            <a:endParaRPr b="0">
              <a:solidFill>
                <a:srgbClr val="D1D5DB"/>
              </a:solidFill>
              <a:latin typeface="Roboto"/>
            </a:endParaRPr>
          </a:p>
        </p:txBody>
      </p:sp>
      <p:pic>
        <p:nvPicPr>
          <p:cNvPr id="9" name="Picture 7" descr="image.png">
            <a:extLst>
              <a:ext uri="{FF2B5EF4-FFF2-40B4-BE49-F238E27FC236}">
                <a16:creationId xmlns:a16="http://schemas.microsoft.com/office/drawing/2014/main" id="{041920AD-996E-E3BD-CE89-DF579E39645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2827" y="6045473"/>
            <a:ext cx="309875" cy="227854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639A257C-304C-C401-FABF-559FF468A769}"/>
              </a:ext>
            </a:extLst>
          </p:cNvPr>
          <p:cNvSpPr txBox="1"/>
          <p:nvPr/>
        </p:nvSpPr>
        <p:spPr>
          <a:xfrm>
            <a:off x="2922702" y="5993804"/>
            <a:ext cx="1786002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1D5DB"/>
                </a:solidFill>
                <a:latin typeface="Roboto"/>
              </a:rPr>
              <a:t>Rayan GOUADFEL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9BD43860-4BD7-B6C3-13CA-2CA4D2A9D732}"/>
              </a:ext>
            </a:extLst>
          </p:cNvPr>
          <p:cNvSpPr txBox="1"/>
          <p:nvPr/>
        </p:nvSpPr>
        <p:spPr>
          <a:xfrm>
            <a:off x="7058589" y="6007238"/>
            <a:ext cx="199029" cy="3031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Roboto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6D524A-12F7-C97B-8C8C-C97A259B0A8A}"/>
              </a:ext>
            </a:extLst>
          </p:cNvPr>
          <p:cNvSpPr txBox="1"/>
          <p:nvPr/>
        </p:nvSpPr>
        <p:spPr>
          <a:xfrm>
            <a:off x="5410694" y="5998568"/>
            <a:ext cx="159845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1D5DB"/>
                </a:solidFill>
                <a:latin typeface="Roboto"/>
              </a:rPr>
              <a:t>Fabien ARRIGHI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31B835-BC2D-4C15-AADA-F69860D7B26D}"/>
              </a:ext>
            </a:extLst>
          </p:cNvPr>
          <p:cNvSpPr txBox="1"/>
          <p:nvPr/>
        </p:nvSpPr>
        <p:spPr>
          <a:xfrm>
            <a:off x="4811224" y="6017804"/>
            <a:ext cx="199029" cy="3031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Roboto"/>
              </a:rPr>
              <a:t>•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9608352-FF4C-70ED-E302-C357F68AB98D}"/>
              </a:ext>
            </a:extLst>
          </p:cNvPr>
          <p:cNvSpPr txBox="1"/>
          <p:nvPr/>
        </p:nvSpPr>
        <p:spPr>
          <a:xfrm>
            <a:off x="7616939" y="5988002"/>
            <a:ext cx="161768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1D5DB"/>
                </a:solidFill>
                <a:latin typeface="Roboto"/>
              </a:rPr>
              <a:t>Enzo MARCELLI</a:t>
            </a:r>
          </a:p>
        </p:txBody>
      </p:sp>
      <p:pic>
        <p:nvPicPr>
          <p:cNvPr id="15" name="Picture 7" descr="image.png">
            <a:extLst>
              <a:ext uri="{FF2B5EF4-FFF2-40B4-BE49-F238E27FC236}">
                <a16:creationId xmlns:a16="http://schemas.microsoft.com/office/drawing/2014/main" id="{4E1EB940-3390-A16C-1857-F5CC99A0380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2774" y="6045473"/>
            <a:ext cx="309875" cy="227854"/>
          </a:xfrm>
          <a:prstGeom prst="rect">
            <a:avLst/>
          </a:prstGeom>
        </p:spPr>
      </p:pic>
      <p:pic>
        <p:nvPicPr>
          <p:cNvPr id="16" name="Picture 7" descr="image.png">
            <a:extLst>
              <a:ext uri="{FF2B5EF4-FFF2-40B4-BE49-F238E27FC236}">
                <a16:creationId xmlns:a16="http://schemas.microsoft.com/office/drawing/2014/main" id="{75E9ACE4-64A4-34B1-4E4A-3F7FD82FC6F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7064" y="6044891"/>
            <a:ext cx="309875" cy="2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92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83104"/>
            <a:ext cx="2359877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err="1">
                <a:solidFill>
                  <a:srgbClr val="FFFFFF"/>
                </a:solidFill>
                <a:latin typeface="Poppins"/>
              </a:rPr>
              <a:t>Sommaire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21501D-89A6-58CB-F481-4A467497F264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2F6541E5-BB44-3E0D-87C1-BA449ECE9631}"/>
              </a:ext>
            </a:extLst>
          </p:cNvPr>
          <p:cNvSpPr txBox="1"/>
          <p:nvPr/>
        </p:nvSpPr>
        <p:spPr>
          <a:xfrm>
            <a:off x="761980" y="1745501"/>
            <a:ext cx="516423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CD4"/>
                </a:solidFill>
                <a:latin typeface="Poppins"/>
              </a:rPr>
              <a:t>01</a:t>
            </a:r>
            <a:endParaRPr sz="3200" b="1">
              <a:solidFill>
                <a:srgbClr val="00BCD4"/>
              </a:solidFill>
              <a:latin typeface="Poppins"/>
            </a:endParaRPr>
          </a:p>
        </p:txBody>
      </p:sp>
      <p:pic>
        <p:nvPicPr>
          <p:cNvPr id="7" name="Picture 3" descr="image.png">
            <a:extLst>
              <a:ext uri="{FF2B5EF4-FFF2-40B4-BE49-F238E27FC236}">
                <a16:creationId xmlns:a16="http://schemas.microsoft.com/office/drawing/2014/main" id="{F672924F-6031-2D08-308D-CEB9540873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09" y="1911667"/>
            <a:ext cx="228594" cy="177164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8DC3A941-83A3-7EAA-7365-DBBBB1534D9A}"/>
              </a:ext>
            </a:extLst>
          </p:cNvPr>
          <p:cNvSpPr txBox="1"/>
          <p:nvPr/>
        </p:nvSpPr>
        <p:spPr>
          <a:xfrm>
            <a:off x="1962100" y="1810197"/>
            <a:ext cx="116724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err="1">
                <a:solidFill>
                  <a:srgbClr val="E1F5FE"/>
                </a:solidFill>
                <a:latin typeface="Roboto"/>
              </a:rPr>
              <a:t>Contexte</a:t>
            </a:r>
            <a:endParaRPr sz="2000" b="0">
              <a:solidFill>
                <a:srgbClr val="E1F5FE"/>
              </a:solidFill>
              <a:latin typeface="Roboto"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C9445F60-CE35-E00E-16B5-61520D3380C5}"/>
              </a:ext>
            </a:extLst>
          </p:cNvPr>
          <p:cNvSpPr txBox="1"/>
          <p:nvPr/>
        </p:nvSpPr>
        <p:spPr>
          <a:xfrm>
            <a:off x="6609960" y="2320619"/>
            <a:ext cx="611001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CD4"/>
                </a:solidFill>
                <a:latin typeface="Poppins"/>
              </a:rPr>
              <a:t>06</a:t>
            </a:r>
            <a:endParaRPr sz="3200" b="1">
              <a:solidFill>
                <a:srgbClr val="00BCD4"/>
              </a:solidFill>
              <a:latin typeface="Poppins"/>
            </a:endParaRPr>
          </a:p>
        </p:txBody>
      </p:sp>
      <p:pic>
        <p:nvPicPr>
          <p:cNvPr id="16" name="Picture 6" descr="image.png">
            <a:extLst>
              <a:ext uri="{FF2B5EF4-FFF2-40B4-BE49-F238E27FC236}">
                <a16:creationId xmlns:a16="http://schemas.microsoft.com/office/drawing/2014/main" id="{6515334A-25FE-07B8-DE66-B319FF33608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7188" y="2492500"/>
            <a:ext cx="228594" cy="165734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3C49FDD7-B8DD-F71F-EAB1-C3BBBB422A23}"/>
              </a:ext>
            </a:extLst>
          </p:cNvPr>
          <p:cNvSpPr txBox="1"/>
          <p:nvPr/>
        </p:nvSpPr>
        <p:spPr>
          <a:xfrm>
            <a:off x="7810080" y="2385315"/>
            <a:ext cx="281673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1F5FE"/>
                </a:solidFill>
                <a:latin typeface="Roboto"/>
              </a:rPr>
              <a:t>Modèles de Régression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2FD6EAB5-6A15-E0F7-6C5C-8B2D4CF4E0F8}"/>
              </a:ext>
            </a:extLst>
          </p:cNvPr>
          <p:cNvSpPr txBox="1"/>
          <p:nvPr/>
        </p:nvSpPr>
        <p:spPr>
          <a:xfrm>
            <a:off x="761980" y="2659901"/>
            <a:ext cx="586956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CD4"/>
                </a:solidFill>
                <a:latin typeface="Poppins"/>
              </a:rPr>
              <a:t>02</a:t>
            </a:r>
            <a:endParaRPr sz="3200" b="1">
              <a:solidFill>
                <a:srgbClr val="00BCD4"/>
              </a:solidFill>
              <a:latin typeface="Poppins"/>
            </a:endParaRPr>
          </a:p>
        </p:txBody>
      </p:sp>
      <p:pic>
        <p:nvPicPr>
          <p:cNvPr id="25" name="Picture 9" descr="image.png">
            <a:extLst>
              <a:ext uri="{FF2B5EF4-FFF2-40B4-BE49-F238E27FC236}">
                <a16:creationId xmlns:a16="http://schemas.microsoft.com/office/drawing/2014/main" id="{5D6539F0-8464-3CE2-78E4-EB679E732D6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1957" y="4644893"/>
            <a:ext cx="228594" cy="185737"/>
          </a:xfrm>
          <a:prstGeom prst="rect">
            <a:avLst/>
          </a:prstGeom>
        </p:spPr>
      </p:pic>
      <p:sp>
        <p:nvSpPr>
          <p:cNvPr id="28" name="TextBox 10">
            <a:extLst>
              <a:ext uri="{FF2B5EF4-FFF2-40B4-BE49-F238E27FC236}">
                <a16:creationId xmlns:a16="http://schemas.microsoft.com/office/drawing/2014/main" id="{549B641B-0A6C-EDCD-F6A4-470400CA2924}"/>
              </a:ext>
            </a:extLst>
          </p:cNvPr>
          <p:cNvSpPr txBox="1"/>
          <p:nvPr/>
        </p:nvSpPr>
        <p:spPr>
          <a:xfrm>
            <a:off x="1934848" y="4547709"/>
            <a:ext cx="2002408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00" b="0">
                <a:solidFill>
                  <a:srgbClr val="E1F5FE"/>
                </a:solidFill>
                <a:latin typeface="Roboto"/>
              </a:rPr>
              <a:t>Méthodologie IA</a:t>
            </a:r>
            <a:endParaRPr sz="2000" b="0">
              <a:solidFill>
                <a:srgbClr val="E1F5FE"/>
              </a:solidFill>
              <a:latin typeface="Roboto"/>
            </a:endParaRP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E6E9784D-E20C-033A-EBFB-AE0C996DFEE5}"/>
              </a:ext>
            </a:extLst>
          </p:cNvPr>
          <p:cNvSpPr txBox="1"/>
          <p:nvPr/>
        </p:nvSpPr>
        <p:spPr>
          <a:xfrm>
            <a:off x="6609960" y="3235019"/>
            <a:ext cx="574132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CD4"/>
                </a:solidFill>
                <a:latin typeface="Poppins"/>
              </a:rPr>
              <a:t>07</a:t>
            </a:r>
          </a:p>
        </p:txBody>
      </p:sp>
      <p:pic>
        <p:nvPicPr>
          <p:cNvPr id="31" name="Picture 12" descr="image.png">
            <a:extLst>
              <a:ext uri="{FF2B5EF4-FFF2-40B4-BE49-F238E27FC236}">
                <a16:creationId xmlns:a16="http://schemas.microsoft.com/office/drawing/2014/main" id="{7795E78D-BF10-A2F1-00C4-9096C31B6B3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67188" y="3391184"/>
            <a:ext cx="228594" cy="197167"/>
          </a:xfrm>
          <a:prstGeom prst="rect">
            <a:avLst/>
          </a:prstGeom>
        </p:spPr>
      </p:pic>
      <p:sp>
        <p:nvSpPr>
          <p:cNvPr id="32" name="TextBox 13">
            <a:extLst>
              <a:ext uri="{FF2B5EF4-FFF2-40B4-BE49-F238E27FC236}">
                <a16:creationId xmlns:a16="http://schemas.microsoft.com/office/drawing/2014/main" id="{68FAB451-44AC-53E0-EAD5-60D78BEBDA0C}"/>
              </a:ext>
            </a:extLst>
          </p:cNvPr>
          <p:cNvSpPr txBox="1"/>
          <p:nvPr/>
        </p:nvSpPr>
        <p:spPr>
          <a:xfrm>
            <a:off x="7810080" y="3299715"/>
            <a:ext cx="309565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1F5FE"/>
                </a:solidFill>
                <a:latin typeface="Roboto"/>
              </a:rPr>
              <a:t>Modèles de Classification</a:t>
            </a: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452227A-D0F6-3FEE-FBF7-BF0E095486CD}"/>
              </a:ext>
            </a:extLst>
          </p:cNvPr>
          <p:cNvSpPr txBox="1"/>
          <p:nvPr/>
        </p:nvSpPr>
        <p:spPr>
          <a:xfrm>
            <a:off x="761980" y="3574301"/>
            <a:ext cx="599780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CD4"/>
                </a:solidFill>
                <a:latin typeface="Poppins"/>
              </a:rPr>
              <a:t>03</a:t>
            </a:r>
            <a:endParaRPr sz="3200" b="1">
              <a:solidFill>
                <a:srgbClr val="00BCD4"/>
              </a:solidFill>
              <a:latin typeface="Poppins"/>
            </a:endParaRPr>
          </a:p>
        </p:txBody>
      </p:sp>
      <p:pic>
        <p:nvPicPr>
          <p:cNvPr id="36" name="Picture 15" descr="image.png">
            <a:extLst>
              <a:ext uri="{FF2B5EF4-FFF2-40B4-BE49-F238E27FC236}">
                <a16:creationId xmlns:a16="http://schemas.microsoft.com/office/drawing/2014/main" id="{5337297B-2675-6F7E-6814-9F911DA0A91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1957" y="2831782"/>
            <a:ext cx="228594" cy="165734"/>
          </a:xfrm>
          <a:prstGeom prst="rect">
            <a:avLst/>
          </a:prstGeom>
        </p:spPr>
      </p:pic>
      <p:sp>
        <p:nvSpPr>
          <p:cNvPr id="37" name="TextBox 16">
            <a:extLst>
              <a:ext uri="{FF2B5EF4-FFF2-40B4-BE49-F238E27FC236}">
                <a16:creationId xmlns:a16="http://schemas.microsoft.com/office/drawing/2014/main" id="{D429994A-9025-B0BF-3949-8A01E1486581}"/>
              </a:ext>
            </a:extLst>
          </p:cNvPr>
          <p:cNvSpPr txBox="1"/>
          <p:nvPr/>
        </p:nvSpPr>
        <p:spPr>
          <a:xfrm>
            <a:off x="1934848" y="2724597"/>
            <a:ext cx="2675669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1F5FE"/>
                </a:solidFill>
                <a:latin typeface="Roboto"/>
              </a:rPr>
              <a:t>Données à disposition</a:t>
            </a:r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3D8FF0BF-E32D-BE2A-DE44-F0FCF52878AB}"/>
              </a:ext>
            </a:extLst>
          </p:cNvPr>
          <p:cNvSpPr txBox="1"/>
          <p:nvPr/>
        </p:nvSpPr>
        <p:spPr>
          <a:xfrm>
            <a:off x="6609960" y="4149419"/>
            <a:ext cx="614207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CD4"/>
                </a:solidFill>
                <a:latin typeface="Poppins"/>
              </a:rPr>
              <a:t>08</a:t>
            </a:r>
            <a:endParaRPr sz="3200" b="1">
              <a:solidFill>
                <a:srgbClr val="00BCD4"/>
              </a:solidFill>
              <a:latin typeface="Poppins"/>
            </a:endParaRPr>
          </a:p>
        </p:txBody>
      </p:sp>
      <p:pic>
        <p:nvPicPr>
          <p:cNvPr id="39" name="Picture 18" descr="image.png">
            <a:extLst>
              <a:ext uri="{FF2B5EF4-FFF2-40B4-BE49-F238E27FC236}">
                <a16:creationId xmlns:a16="http://schemas.microsoft.com/office/drawing/2014/main" id="{C8645989-1502-A7AD-A86B-B845F6C1CCA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67188" y="4295582"/>
            <a:ext cx="228594" cy="217170"/>
          </a:xfrm>
          <a:prstGeom prst="rect">
            <a:avLst/>
          </a:prstGeom>
        </p:spPr>
      </p:pic>
      <p:sp>
        <p:nvSpPr>
          <p:cNvPr id="40" name="TextBox 19">
            <a:extLst>
              <a:ext uri="{FF2B5EF4-FFF2-40B4-BE49-F238E27FC236}">
                <a16:creationId xmlns:a16="http://schemas.microsoft.com/office/drawing/2014/main" id="{315DA397-30F6-0FEE-ADF8-9320B0575C4F}"/>
              </a:ext>
            </a:extLst>
          </p:cNvPr>
          <p:cNvSpPr txBox="1"/>
          <p:nvPr/>
        </p:nvSpPr>
        <p:spPr>
          <a:xfrm>
            <a:off x="7810080" y="4214115"/>
            <a:ext cx="100373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1F5FE"/>
                </a:solidFill>
                <a:latin typeface="Roboto"/>
              </a:rPr>
              <a:t>Éthique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1A6D4EB2-F0F8-6515-8A25-D037B841FECC}"/>
              </a:ext>
            </a:extLst>
          </p:cNvPr>
          <p:cNvSpPr txBox="1"/>
          <p:nvPr/>
        </p:nvSpPr>
        <p:spPr>
          <a:xfrm>
            <a:off x="761980" y="4488701"/>
            <a:ext cx="625428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CD4"/>
                </a:solidFill>
                <a:latin typeface="Poppins"/>
              </a:rPr>
              <a:t>04</a:t>
            </a:r>
            <a:endParaRPr sz="3200" b="1">
              <a:solidFill>
                <a:srgbClr val="00BCD4"/>
              </a:solidFill>
              <a:latin typeface="Poppins"/>
            </a:endParaRPr>
          </a:p>
        </p:txBody>
      </p:sp>
      <p:pic>
        <p:nvPicPr>
          <p:cNvPr id="42" name="Picture 21" descr="image.png">
            <a:extLst>
              <a:ext uri="{FF2B5EF4-FFF2-40B4-BE49-F238E27FC236}">
                <a16:creationId xmlns:a16="http://schemas.microsoft.com/office/drawing/2014/main" id="{356631E5-B1F4-49FC-8F00-E424C81D9F16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91957" y="3720465"/>
            <a:ext cx="228594" cy="217170"/>
          </a:xfrm>
          <a:prstGeom prst="rect">
            <a:avLst/>
          </a:prstGeom>
        </p:spPr>
      </p:pic>
      <p:sp>
        <p:nvSpPr>
          <p:cNvPr id="43" name="TextBox 22">
            <a:extLst>
              <a:ext uri="{FF2B5EF4-FFF2-40B4-BE49-F238E27FC236}">
                <a16:creationId xmlns:a16="http://schemas.microsoft.com/office/drawing/2014/main" id="{705AD989-019A-6DD7-A98B-432ED31800D2}"/>
              </a:ext>
            </a:extLst>
          </p:cNvPr>
          <p:cNvSpPr txBox="1"/>
          <p:nvPr/>
        </p:nvSpPr>
        <p:spPr>
          <a:xfrm>
            <a:off x="1934848" y="3638998"/>
            <a:ext cx="2994666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1F5FE"/>
                </a:solidFill>
                <a:latin typeface="Roboto"/>
              </a:rPr>
              <a:t>Préparation des données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C08F439B-1B72-D434-C35E-E550478211FD}"/>
              </a:ext>
            </a:extLst>
          </p:cNvPr>
          <p:cNvSpPr txBox="1"/>
          <p:nvPr/>
        </p:nvSpPr>
        <p:spPr>
          <a:xfrm>
            <a:off x="761980" y="5403101"/>
            <a:ext cx="615810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BCD4"/>
                </a:solidFill>
                <a:latin typeface="Poppins"/>
              </a:rPr>
              <a:t>05</a:t>
            </a:r>
          </a:p>
        </p:txBody>
      </p:sp>
      <p:pic>
        <p:nvPicPr>
          <p:cNvPr id="48" name="Picture 27" descr="image.png">
            <a:extLst>
              <a:ext uri="{FF2B5EF4-FFF2-40B4-BE49-F238E27FC236}">
                <a16:creationId xmlns:a16="http://schemas.microsoft.com/office/drawing/2014/main" id="{2AA30377-6A12-4254-5D83-9E826353849C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19209" y="5570696"/>
            <a:ext cx="228594" cy="174307"/>
          </a:xfrm>
          <a:prstGeom prst="rect">
            <a:avLst/>
          </a:prstGeom>
        </p:spPr>
      </p:pic>
      <p:sp>
        <p:nvSpPr>
          <p:cNvPr id="49" name="TextBox 28">
            <a:extLst>
              <a:ext uri="{FF2B5EF4-FFF2-40B4-BE49-F238E27FC236}">
                <a16:creationId xmlns:a16="http://schemas.microsoft.com/office/drawing/2014/main" id="{B5F2A4E1-9805-9D20-604A-85D7C9CCB6F5}"/>
              </a:ext>
            </a:extLst>
          </p:cNvPr>
          <p:cNvSpPr txBox="1"/>
          <p:nvPr/>
        </p:nvSpPr>
        <p:spPr>
          <a:xfrm>
            <a:off x="1962100" y="5467798"/>
            <a:ext cx="130510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1F5FE"/>
                </a:solidFill>
                <a:latin typeface="Roboto"/>
              </a:rPr>
              <a:t>Clustering</a:t>
            </a:r>
          </a:p>
        </p:txBody>
      </p:sp>
      <p:sp>
        <p:nvSpPr>
          <p:cNvPr id="50" name="TextBox 29">
            <a:extLst>
              <a:ext uri="{FF2B5EF4-FFF2-40B4-BE49-F238E27FC236}">
                <a16:creationId xmlns:a16="http://schemas.microsoft.com/office/drawing/2014/main" id="{058CC1BB-B268-AAEB-9527-A6A99ABFD1FF}"/>
              </a:ext>
            </a:extLst>
          </p:cNvPr>
          <p:cNvSpPr txBox="1"/>
          <p:nvPr/>
        </p:nvSpPr>
        <p:spPr>
          <a:xfrm>
            <a:off x="6609960" y="5046701"/>
            <a:ext cx="602986" cy="50949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800" b="1" dirty="0">
                <a:solidFill>
                  <a:srgbClr val="00BCD4"/>
                </a:solidFill>
                <a:latin typeface="Poppins"/>
              </a:rPr>
              <a:t>09</a:t>
            </a:r>
            <a:endParaRPr sz="3200" b="1" dirty="0">
              <a:solidFill>
                <a:srgbClr val="00BCD4"/>
              </a:solidFill>
              <a:latin typeface="Poppins"/>
            </a:endParaRPr>
          </a:p>
        </p:txBody>
      </p:sp>
      <p:pic>
        <p:nvPicPr>
          <p:cNvPr id="51" name="Picture 30" descr="image.png">
            <a:extLst>
              <a:ext uri="{FF2B5EF4-FFF2-40B4-BE49-F238E27FC236}">
                <a16:creationId xmlns:a16="http://schemas.microsoft.com/office/drawing/2014/main" id="{FF852FA6-7CA1-0A8D-AD51-D64157DC0F29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467188" y="5215725"/>
            <a:ext cx="228594" cy="171450"/>
          </a:xfrm>
          <a:prstGeom prst="rect">
            <a:avLst/>
          </a:prstGeom>
        </p:spPr>
      </p:pic>
      <p:sp>
        <p:nvSpPr>
          <p:cNvPr id="52" name="TextBox 31">
            <a:extLst>
              <a:ext uri="{FF2B5EF4-FFF2-40B4-BE49-F238E27FC236}">
                <a16:creationId xmlns:a16="http://schemas.microsoft.com/office/drawing/2014/main" id="{D84E7D51-65FB-F46B-3879-4B0BE87161EA}"/>
              </a:ext>
            </a:extLst>
          </p:cNvPr>
          <p:cNvSpPr txBox="1"/>
          <p:nvPr/>
        </p:nvSpPr>
        <p:spPr>
          <a:xfrm>
            <a:off x="7810080" y="5111398"/>
            <a:ext cx="1422121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1F5FE"/>
                </a:solidFill>
                <a:latin typeface="Roboto"/>
              </a:rPr>
              <a:t>Conclusion</a:t>
            </a:r>
          </a:p>
        </p:txBody>
      </p:sp>
      <p:sp>
        <p:nvSpPr>
          <p:cNvPr id="59" name="Rounded Rectangle 37">
            <a:extLst>
              <a:ext uri="{FF2B5EF4-FFF2-40B4-BE49-F238E27FC236}">
                <a16:creationId xmlns:a16="http://schemas.microsoft.com/office/drawing/2014/main" id="{7A94B83B-3597-8EBD-A96D-E5712C5A61BC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38">
            <a:extLst>
              <a:ext uri="{FF2B5EF4-FFF2-40B4-BE49-F238E27FC236}">
                <a16:creationId xmlns:a16="http://schemas.microsoft.com/office/drawing/2014/main" id="{AE8A395A-F082-CBF7-B5AB-7A55AE933E97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FFFFFF"/>
                </a:solidFill>
                <a:latin typeface="Roboto Slab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image.png">
            <a:extLst>
              <a:ext uri="{FF2B5EF4-FFF2-40B4-BE49-F238E27FC236}">
                <a16:creationId xmlns:a16="http://schemas.microsoft.com/office/drawing/2014/main" id="{4B56C213-923C-3764-1021-050BFA36D1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2918" y="1986412"/>
            <a:ext cx="805252" cy="624083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B81CE52-90D9-D942-2BB2-1A1B5B80EA2C}"/>
              </a:ext>
            </a:extLst>
          </p:cNvPr>
          <p:cNvSpPr txBox="1"/>
          <p:nvPr/>
        </p:nvSpPr>
        <p:spPr>
          <a:xfrm>
            <a:off x="5720615" y="3101627"/>
            <a:ext cx="750462" cy="8071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>
                <a:solidFill>
                  <a:srgbClr val="FFFFFF"/>
                </a:solidFill>
                <a:latin typeface="Poppins"/>
              </a:rPr>
              <a:t>01.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0D0FC4-6E48-6F2B-FA75-4314A754BF17}"/>
              </a:ext>
            </a:extLst>
          </p:cNvPr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2AEB08F-C5F6-CBDA-FF56-931F9ECCC157}"/>
              </a:ext>
            </a:extLst>
          </p:cNvPr>
          <p:cNvSpPr txBox="1"/>
          <p:nvPr/>
        </p:nvSpPr>
        <p:spPr>
          <a:xfrm>
            <a:off x="5050610" y="4042950"/>
            <a:ext cx="2080955" cy="6104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200" b="1">
                <a:solidFill>
                  <a:srgbClr val="0288D1"/>
                </a:solidFill>
                <a:latin typeface="Poppins"/>
              </a:rPr>
              <a:t>Contexte</a:t>
            </a:r>
          </a:p>
        </p:txBody>
      </p:sp>
      <p:sp>
        <p:nvSpPr>
          <p:cNvPr id="27" name="Rounded Rectangle 37">
            <a:extLst>
              <a:ext uri="{FF2B5EF4-FFF2-40B4-BE49-F238E27FC236}">
                <a16:creationId xmlns:a16="http://schemas.microsoft.com/office/drawing/2014/main" id="{53A5F210-FAFC-7E33-0A64-067E1249C0ED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38">
            <a:extLst>
              <a:ext uri="{FF2B5EF4-FFF2-40B4-BE49-F238E27FC236}">
                <a16:creationId xmlns:a16="http://schemas.microsoft.com/office/drawing/2014/main" id="{5EB92D22-8AE1-6EBB-CF71-6B0A9D2BB1C1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03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356211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72EAA-1A0B-7E83-43AA-AA4CF164F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ABA36-F64B-9F4C-06ED-E982ECC33ABB}"/>
              </a:ext>
            </a:extLst>
          </p:cNvPr>
          <p:cNvSpPr txBox="1"/>
          <p:nvPr/>
        </p:nvSpPr>
        <p:spPr>
          <a:xfrm>
            <a:off x="609584" y="183105"/>
            <a:ext cx="2080954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Contexte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709C9E-DC02-5EA8-6C6A-1B5CC307D722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870C19AB-535C-BDB2-07D4-542CA0DAFCCC}"/>
              </a:ext>
            </a:extLst>
          </p:cNvPr>
          <p:cNvSpPr/>
          <p:nvPr/>
        </p:nvSpPr>
        <p:spPr>
          <a:xfrm>
            <a:off x="609584" y="2552700"/>
            <a:ext cx="4733806" cy="2562224"/>
          </a:xfrm>
          <a:prstGeom prst="roundRect">
            <a:avLst>
              <a:gd name="adj" fmla="val 11895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7" name="Picture 3" descr="image.png">
            <a:extLst>
              <a:ext uri="{FF2B5EF4-FFF2-40B4-BE49-F238E27FC236}">
                <a16:creationId xmlns:a16="http://schemas.microsoft.com/office/drawing/2014/main" id="{16FA6D9C-4C8F-24EC-9F08-E82B44C09A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01" y="2921167"/>
            <a:ext cx="457188" cy="348915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8B408349-FBA3-1BF2-51EB-86512F96A35C}"/>
              </a:ext>
            </a:extLst>
          </p:cNvPr>
          <p:cNvSpPr txBox="1"/>
          <p:nvPr/>
        </p:nvSpPr>
        <p:spPr>
          <a:xfrm>
            <a:off x="1533486" y="2853188"/>
            <a:ext cx="2327817" cy="48487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400" b="1">
                <a:solidFill>
                  <a:srgbClr val="FFFFFF"/>
                </a:solidFill>
                <a:latin typeface="Roboto Slab"/>
              </a:rPr>
              <a:t>HumanForYou</a:t>
            </a:r>
          </a:p>
        </p:txBody>
      </p:sp>
      <p:pic>
        <p:nvPicPr>
          <p:cNvPr id="9" name="Picture 5" descr="image.png">
            <a:extLst>
              <a:ext uri="{FF2B5EF4-FFF2-40B4-BE49-F238E27FC236}">
                <a16:creationId xmlns:a16="http://schemas.microsoft.com/office/drawing/2014/main" id="{3555C0EA-C67C-B84E-85C7-97E71B17E7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01" y="3619085"/>
            <a:ext cx="266693" cy="191328"/>
          </a:xfrm>
          <a:prstGeom prst="rect">
            <a:avLst/>
          </a:prstGeom>
        </p:spPr>
      </p:pic>
      <p:sp>
        <p:nvSpPr>
          <p:cNvPr id="17" name="TextBox 6">
            <a:extLst>
              <a:ext uri="{FF2B5EF4-FFF2-40B4-BE49-F238E27FC236}">
                <a16:creationId xmlns:a16="http://schemas.microsoft.com/office/drawing/2014/main" id="{B0C63D1F-DD3B-ACDF-116A-6BB32B9721E5}"/>
              </a:ext>
            </a:extLst>
          </p:cNvPr>
          <p:cNvSpPr txBox="1"/>
          <p:nvPr/>
        </p:nvSpPr>
        <p:spPr>
          <a:xfrm>
            <a:off x="1304892" y="3527951"/>
            <a:ext cx="2488117" cy="364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00" b="0">
                <a:solidFill>
                  <a:srgbClr val="E5E7EB"/>
                </a:solidFill>
                <a:latin typeface="Roboto"/>
              </a:rPr>
              <a:t>Industrie </a:t>
            </a:r>
            <a:r>
              <a:rPr lang="fr-FR" sz="1600" b="0" err="1">
                <a:solidFill>
                  <a:srgbClr val="E5E7EB"/>
                </a:solidFill>
                <a:latin typeface="Roboto"/>
              </a:rPr>
              <a:t>pharmaceutique</a:t>
            </a:r>
            <a:endParaRPr lang="fr-FR" sz="1600" b="0">
              <a:solidFill>
                <a:srgbClr val="E5E7EB"/>
              </a:solidFill>
              <a:latin typeface="Roboto"/>
            </a:endParaRPr>
          </a:p>
        </p:txBody>
      </p:sp>
      <p:pic>
        <p:nvPicPr>
          <p:cNvPr id="18" name="Picture 7" descr="image.png">
            <a:extLst>
              <a:ext uri="{FF2B5EF4-FFF2-40B4-BE49-F238E27FC236}">
                <a16:creationId xmlns:a16="http://schemas.microsoft.com/office/drawing/2014/main" id="{267AB9BC-ACE7-F140-7E2A-8CF2A77539E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3901" y="4058892"/>
            <a:ext cx="266693" cy="226115"/>
          </a:xfrm>
          <a:prstGeom prst="rect">
            <a:avLst/>
          </a:prstGeom>
        </p:spPr>
      </p:pic>
      <p:sp>
        <p:nvSpPr>
          <p:cNvPr id="19" name="TextBox 8">
            <a:extLst>
              <a:ext uri="{FF2B5EF4-FFF2-40B4-BE49-F238E27FC236}">
                <a16:creationId xmlns:a16="http://schemas.microsoft.com/office/drawing/2014/main" id="{D367D2AC-C81A-EA79-8B67-828BF681D980}"/>
              </a:ext>
            </a:extLst>
          </p:cNvPr>
          <p:cNvSpPr txBox="1"/>
          <p:nvPr/>
        </p:nvSpPr>
        <p:spPr>
          <a:xfrm>
            <a:off x="1304892" y="3994675"/>
            <a:ext cx="2021644" cy="364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00" b="0">
                <a:solidFill>
                  <a:srgbClr val="E5E7EB"/>
                </a:solidFill>
                <a:latin typeface="Roboto"/>
              </a:rPr>
              <a:t>Implantation </a:t>
            </a:r>
            <a:r>
              <a:rPr lang="fr-FR" sz="1600" b="0" err="1">
                <a:solidFill>
                  <a:srgbClr val="E5E7EB"/>
                </a:solidFill>
                <a:latin typeface="Roboto"/>
              </a:rPr>
              <a:t>en</a:t>
            </a:r>
            <a:r>
              <a:rPr lang="fr-FR" sz="1600" b="0">
                <a:solidFill>
                  <a:srgbClr val="E5E7EB"/>
                </a:solidFill>
                <a:latin typeface="Roboto"/>
              </a:rPr>
              <a:t> Inde</a:t>
            </a:r>
          </a:p>
        </p:txBody>
      </p:sp>
      <p:pic>
        <p:nvPicPr>
          <p:cNvPr id="20" name="Picture 9" descr="image.png">
            <a:extLst>
              <a:ext uri="{FF2B5EF4-FFF2-40B4-BE49-F238E27FC236}">
                <a16:creationId xmlns:a16="http://schemas.microsoft.com/office/drawing/2014/main" id="{FD33E622-2097-D8E3-67D5-AC53FE0E6B5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901" y="4575727"/>
            <a:ext cx="266693" cy="144945"/>
          </a:xfrm>
          <a:prstGeom prst="rect">
            <a:avLst/>
          </a:prstGeom>
        </p:spPr>
      </p:pic>
      <p:sp>
        <p:nvSpPr>
          <p:cNvPr id="21" name="TextBox 10">
            <a:extLst>
              <a:ext uri="{FF2B5EF4-FFF2-40B4-BE49-F238E27FC236}">
                <a16:creationId xmlns:a16="http://schemas.microsoft.com/office/drawing/2014/main" id="{5A957AB0-6CF1-21CD-F911-41262B01EF80}"/>
              </a:ext>
            </a:extLst>
          </p:cNvPr>
          <p:cNvSpPr txBox="1"/>
          <p:nvPr/>
        </p:nvSpPr>
        <p:spPr>
          <a:xfrm>
            <a:off x="1304892" y="4461401"/>
            <a:ext cx="1601657" cy="364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00" b="1">
                <a:solidFill>
                  <a:srgbClr val="5EEAD4"/>
                </a:solidFill>
                <a:latin typeface="Roboto"/>
              </a:rPr>
              <a:t>4 410</a:t>
            </a:r>
            <a:r>
              <a:rPr lang="fr-FR" sz="1600" b="0">
                <a:solidFill>
                  <a:srgbClr val="E5E7EB"/>
                </a:solidFill>
                <a:latin typeface="Roboto"/>
              </a:rPr>
              <a:t> employés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866E5018-0830-9826-1922-5BE4E6FCC058}"/>
              </a:ext>
            </a:extLst>
          </p:cNvPr>
          <p:cNvSpPr/>
          <p:nvPr/>
        </p:nvSpPr>
        <p:spPr>
          <a:xfrm>
            <a:off x="5800579" y="1571625"/>
            <a:ext cx="5781530" cy="2457450"/>
          </a:xfrm>
          <a:prstGeom prst="roundRect">
            <a:avLst>
              <a:gd name="adj" fmla="val 12403"/>
            </a:avLst>
          </a:prstGeom>
          <a:gradFill rotWithShape="1">
            <a:gsLst>
              <a:gs pos="0">
                <a:srgbClr val="F97316">
                  <a:alpha val="20000"/>
                </a:srgbClr>
              </a:gs>
              <a:gs pos="100000">
                <a:srgbClr val="EA580C">
                  <a:alpha val="20000"/>
                </a:srgbClr>
              </a:gs>
            </a:gsLst>
            <a:lin ang="8100000" scaled="0"/>
          </a:gradFill>
          <a:ln w="1651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23" name="Picture 12" descr="image.png">
            <a:extLst>
              <a:ext uri="{FF2B5EF4-FFF2-40B4-BE49-F238E27FC236}">
                <a16:creationId xmlns:a16="http://schemas.microsoft.com/office/drawing/2014/main" id="{5BF8CAF1-10B0-28CC-C432-22083D14E22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24421" y="2194321"/>
            <a:ext cx="380990" cy="202406"/>
          </a:xfrm>
          <a:prstGeom prst="rect">
            <a:avLst/>
          </a:prstGeom>
        </p:spPr>
      </p:pic>
      <p:sp>
        <p:nvSpPr>
          <p:cNvPr id="24" name="TextBox 13">
            <a:extLst>
              <a:ext uri="{FF2B5EF4-FFF2-40B4-BE49-F238E27FC236}">
                <a16:creationId xmlns:a16="http://schemas.microsoft.com/office/drawing/2014/main" id="{E0CCFD5D-6960-50DC-2F5C-8D09D192BD2E}"/>
              </a:ext>
            </a:extLst>
          </p:cNvPr>
          <p:cNvSpPr txBox="1"/>
          <p:nvPr/>
        </p:nvSpPr>
        <p:spPr>
          <a:xfrm>
            <a:off x="6619709" y="1905546"/>
            <a:ext cx="2458181" cy="77995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00" b="1" err="1">
                <a:solidFill>
                  <a:srgbClr val="FFFFFF"/>
                </a:solidFill>
                <a:latin typeface="Roboto Slab"/>
              </a:rPr>
              <a:t>Taux</a:t>
            </a:r>
            <a:r>
              <a:rPr lang="fr-FR" sz="2000" b="1">
                <a:solidFill>
                  <a:srgbClr val="FFFFFF"/>
                </a:solidFill>
                <a:latin typeface="Roboto Slab"/>
              </a:rPr>
              <a:t> </a:t>
            </a:r>
            <a:r>
              <a:rPr lang="fr-FR" sz="2000" b="1" err="1">
                <a:solidFill>
                  <a:srgbClr val="FFFFFF"/>
                </a:solidFill>
                <a:latin typeface="Roboto Slab"/>
              </a:rPr>
              <a:t>d'attrition</a:t>
            </a:r>
            <a:r>
              <a:rPr lang="fr-FR" sz="2000" b="1">
                <a:solidFill>
                  <a:srgbClr val="FFFFFF"/>
                </a:solidFill>
                <a:latin typeface="Roboto Slab"/>
              </a:rPr>
              <a:t> </a:t>
            </a:r>
            <a:r>
              <a:rPr lang="fr-FR" sz="2000" b="1" err="1">
                <a:solidFill>
                  <a:srgbClr val="FFFFFF"/>
                </a:solidFill>
                <a:latin typeface="Roboto Slab"/>
              </a:rPr>
              <a:t>annuel</a:t>
            </a:r>
            <a:endParaRPr lang="fr-FR" sz="2000" b="1">
              <a:solidFill>
                <a:srgbClr val="FFFFFF"/>
              </a:solidFill>
              <a:latin typeface="Roboto Slab"/>
            </a:endParaRP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495CBEBD-91F9-B2BA-DF54-CF703306A7B9}"/>
              </a:ext>
            </a:extLst>
          </p:cNvPr>
          <p:cNvSpPr txBox="1"/>
          <p:nvPr/>
        </p:nvSpPr>
        <p:spPr>
          <a:xfrm>
            <a:off x="9401733" y="2002881"/>
            <a:ext cx="1856534" cy="58528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4000" b="1">
                <a:solidFill>
                  <a:srgbClr val="FB923C"/>
                </a:solidFill>
                <a:latin typeface="Roboto"/>
              </a:rPr>
              <a:t>16.12%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C8A3592E-4ECB-F776-CF6A-1BB84C1FC4B2}"/>
              </a:ext>
            </a:extLst>
          </p:cNvPr>
          <p:cNvSpPr txBox="1"/>
          <p:nvPr/>
        </p:nvSpPr>
        <p:spPr>
          <a:xfrm>
            <a:off x="6611470" y="2887568"/>
            <a:ext cx="854657" cy="4923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87171"/>
                </a:solidFill>
                <a:latin typeface="Roboto"/>
              </a:rPr>
              <a:t>711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8FD9A1FC-98B2-B1CC-82B1-FC2AD2D3959F}"/>
              </a:ext>
            </a:extLst>
          </p:cNvPr>
          <p:cNvSpPr txBox="1"/>
          <p:nvPr/>
        </p:nvSpPr>
        <p:spPr>
          <a:xfrm>
            <a:off x="6661164" y="3388327"/>
            <a:ext cx="755270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départs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714A71-A0E5-7928-A8EA-A566C0EA9E3B}"/>
              </a:ext>
            </a:extLst>
          </p:cNvPr>
          <p:cNvSpPr/>
          <p:nvPr/>
        </p:nvSpPr>
        <p:spPr>
          <a:xfrm>
            <a:off x="8515137" y="3009900"/>
            <a:ext cx="9524" cy="6096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A7992A7B-3246-6839-F4A8-4234DD56E5A6}"/>
              </a:ext>
            </a:extLst>
          </p:cNvPr>
          <p:cNvSpPr txBox="1"/>
          <p:nvPr/>
        </p:nvSpPr>
        <p:spPr>
          <a:xfrm>
            <a:off x="9576000" y="2887568"/>
            <a:ext cx="1192891" cy="49231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5EEAD4"/>
                </a:solidFill>
                <a:latin typeface="Roboto"/>
              </a:rPr>
              <a:t>3 699</a:t>
            </a:r>
          </a:p>
        </p:txBody>
      </p:sp>
      <p:sp>
        <p:nvSpPr>
          <p:cNvPr id="35" name="TextBox 19">
            <a:extLst>
              <a:ext uri="{FF2B5EF4-FFF2-40B4-BE49-F238E27FC236}">
                <a16:creationId xmlns:a16="http://schemas.microsoft.com/office/drawing/2014/main" id="{09B1EBE7-0DC6-ACED-B2B3-AB5EB251C91F}"/>
              </a:ext>
            </a:extLst>
          </p:cNvPr>
          <p:cNvSpPr txBox="1"/>
          <p:nvPr/>
        </p:nvSpPr>
        <p:spPr>
          <a:xfrm>
            <a:off x="9750727" y="3388327"/>
            <a:ext cx="843436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52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présents</a:t>
            </a:r>
          </a:p>
        </p:txBody>
      </p:sp>
      <p:sp>
        <p:nvSpPr>
          <p:cNvPr id="36" name="Rounded Rectangle 20">
            <a:extLst>
              <a:ext uri="{FF2B5EF4-FFF2-40B4-BE49-F238E27FC236}">
                <a16:creationId xmlns:a16="http://schemas.microsoft.com/office/drawing/2014/main" id="{B9068DE6-9BEB-3DA5-783B-243F56872F97}"/>
              </a:ext>
            </a:extLst>
          </p:cNvPr>
          <p:cNvSpPr/>
          <p:nvPr/>
        </p:nvSpPr>
        <p:spPr>
          <a:xfrm>
            <a:off x="5800579" y="4257675"/>
            <a:ext cx="5781530" cy="1838324"/>
          </a:xfrm>
          <a:prstGeom prst="roundRect">
            <a:avLst>
              <a:gd name="adj" fmla="val 16580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37" name="Picture 21" descr="image.png">
            <a:extLst>
              <a:ext uri="{FF2B5EF4-FFF2-40B4-BE49-F238E27FC236}">
                <a16:creationId xmlns:a16="http://schemas.microsoft.com/office/drawing/2014/main" id="{3C35E704-8455-A92A-D3A3-50ED2CF2244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38699" y="4540140"/>
            <a:ext cx="342891" cy="254218"/>
          </a:xfrm>
          <a:prstGeom prst="rect">
            <a:avLst/>
          </a:prstGeom>
        </p:spPr>
      </p:pic>
      <p:sp>
        <p:nvSpPr>
          <p:cNvPr id="38" name="TextBox 22">
            <a:extLst>
              <a:ext uri="{FF2B5EF4-FFF2-40B4-BE49-F238E27FC236}">
                <a16:creationId xmlns:a16="http://schemas.microsoft.com/office/drawing/2014/main" id="{6E3A1B6B-17E8-D873-1285-56677E284126}"/>
              </a:ext>
            </a:extLst>
          </p:cNvPr>
          <p:cNvSpPr txBox="1"/>
          <p:nvPr/>
        </p:nvSpPr>
        <p:spPr>
          <a:xfrm>
            <a:off x="6533986" y="4471277"/>
            <a:ext cx="2356671" cy="36336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780"/>
              </a:spcAft>
            </a:pPr>
            <a:r>
              <a:rPr lang="fr-FR" sz="1600" b="1">
                <a:solidFill>
                  <a:srgbClr val="5EEAD4"/>
                </a:solidFill>
                <a:latin typeface="Roboto Slab"/>
              </a:rPr>
              <a:t>OBJECTIF DU PROJET</a:t>
            </a: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988B8A01-6B46-ECA0-008B-C103B5F5C41E}"/>
              </a:ext>
            </a:extLst>
          </p:cNvPr>
          <p:cNvSpPr txBox="1"/>
          <p:nvPr/>
        </p:nvSpPr>
        <p:spPr>
          <a:xfrm>
            <a:off x="6533986" y="4943013"/>
            <a:ext cx="4810004" cy="89627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Exploiter les données RH pour </a:t>
            </a:r>
            <a:r>
              <a:rPr lang="fr-FR" sz="1400" b="1">
                <a:solidFill>
                  <a:srgbClr val="FFFFFF"/>
                </a:solidFill>
                <a:latin typeface="Roboto"/>
              </a:rPr>
              <a:t>identifier les facteurs clés d'attrition</a:t>
            </a:r>
            <a:r>
              <a:rPr lang="fr-FR" sz="1400" b="0">
                <a:solidFill>
                  <a:srgbClr val="E5E7EB"/>
                </a:solidFill>
                <a:latin typeface="Roboto"/>
              </a:rPr>
              <a:t> et construire un </a:t>
            </a:r>
            <a:r>
              <a:rPr lang="fr-FR" sz="1400" b="1">
                <a:solidFill>
                  <a:srgbClr val="FFFFFF"/>
                </a:solidFill>
                <a:latin typeface="Roboto"/>
              </a:rPr>
              <a:t>modèle prédictif du risque de départ</a:t>
            </a:r>
            <a:r>
              <a:rPr lang="fr-FR" sz="1400" b="0">
                <a:solidFill>
                  <a:srgbClr val="E5E7EB"/>
                </a:solidFill>
                <a:latin typeface="Roboto"/>
              </a:rPr>
              <a:t> </a:t>
            </a:r>
          </a:p>
        </p:txBody>
      </p:sp>
      <p:sp>
        <p:nvSpPr>
          <p:cNvPr id="13" name="Rounded Rectangle 37">
            <a:extLst>
              <a:ext uri="{FF2B5EF4-FFF2-40B4-BE49-F238E27FC236}">
                <a16:creationId xmlns:a16="http://schemas.microsoft.com/office/drawing/2014/main" id="{3A76D530-6319-8E88-024E-0451797AB74B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FBEAAB98-2CAE-6DDA-B46B-D9B49D2FA378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04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197195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607B-1D0E-6CF3-5F32-13134DE5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 descr="image.png">
            <a:extLst>
              <a:ext uri="{FF2B5EF4-FFF2-40B4-BE49-F238E27FC236}">
                <a16:creationId xmlns:a16="http://schemas.microsoft.com/office/drawing/2014/main" id="{BC8FCC6A-FAF8-2084-F14C-2ED9E0CAAB4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111" y="1986412"/>
            <a:ext cx="916866" cy="664741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BAB0528C-222C-6F98-0674-D483154A4838}"/>
              </a:ext>
            </a:extLst>
          </p:cNvPr>
          <p:cNvSpPr txBox="1"/>
          <p:nvPr/>
        </p:nvSpPr>
        <p:spPr>
          <a:xfrm>
            <a:off x="5675731" y="3101627"/>
            <a:ext cx="840230" cy="8071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>
                <a:solidFill>
                  <a:srgbClr val="FFFFFF"/>
                </a:solidFill>
                <a:latin typeface="Poppins"/>
              </a:rPr>
              <a:t>02.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0087AA-4626-8DF4-7A05-36FCA5D85E06}"/>
              </a:ext>
            </a:extLst>
          </p:cNvPr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4C9C2245-4A40-FB9D-93C8-943E62BD3660}"/>
              </a:ext>
            </a:extLst>
          </p:cNvPr>
          <p:cNvSpPr txBox="1"/>
          <p:nvPr/>
        </p:nvSpPr>
        <p:spPr>
          <a:xfrm>
            <a:off x="3692068" y="4042950"/>
            <a:ext cx="4798045" cy="6104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200" b="1">
                <a:solidFill>
                  <a:srgbClr val="0288D1"/>
                </a:solidFill>
                <a:latin typeface="Poppins"/>
              </a:rPr>
              <a:t>Données à disposition</a:t>
            </a:r>
          </a:p>
        </p:txBody>
      </p:sp>
      <p:sp>
        <p:nvSpPr>
          <p:cNvPr id="12" name="Rounded Rectangle 37">
            <a:extLst>
              <a:ext uri="{FF2B5EF4-FFF2-40B4-BE49-F238E27FC236}">
                <a16:creationId xmlns:a16="http://schemas.microsoft.com/office/drawing/2014/main" id="{540CFB8C-BCC6-8AB0-9F00-ACB89896A882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C0419D1F-6B79-8F3B-324B-9AEE8C2AC491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05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78049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6DF1A-5FB9-5CF5-6770-8CBF1A38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6C545D-9EA7-FB76-0D01-CE6142078C9E}"/>
              </a:ext>
            </a:extLst>
          </p:cNvPr>
          <p:cNvSpPr txBox="1"/>
          <p:nvPr/>
        </p:nvSpPr>
        <p:spPr>
          <a:xfrm>
            <a:off x="609584" y="183104"/>
            <a:ext cx="4798045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Poppins"/>
              </a:rPr>
              <a:t>Données à disposition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FFD74C2-3822-8279-B170-05F7C1581B30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73" name="Rounded Rectangle 2">
            <a:extLst>
              <a:ext uri="{FF2B5EF4-FFF2-40B4-BE49-F238E27FC236}">
                <a16:creationId xmlns:a16="http://schemas.microsoft.com/office/drawing/2014/main" id="{79A4BC58-CD3A-3EDE-2B70-62B356A3BDB4}"/>
              </a:ext>
            </a:extLst>
          </p:cNvPr>
          <p:cNvSpPr/>
          <p:nvPr/>
        </p:nvSpPr>
        <p:spPr>
          <a:xfrm>
            <a:off x="609584" y="1266824"/>
            <a:ext cx="5333866" cy="22098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14B8A6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8100000" scaled="0"/>
          </a:gra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pic>
        <p:nvPicPr>
          <p:cNvPr id="74" name="Picture 3" descr="image.png">
            <a:extLst>
              <a:ext uri="{FF2B5EF4-FFF2-40B4-BE49-F238E27FC236}">
                <a16:creationId xmlns:a16="http://schemas.microsoft.com/office/drawing/2014/main" id="{0FB52AB3-99E6-9B15-6AF9-83F08D9BC4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426" y="1644817"/>
            <a:ext cx="457188" cy="348915"/>
          </a:xfrm>
          <a:prstGeom prst="rect">
            <a:avLst/>
          </a:prstGeom>
        </p:spPr>
      </p:pic>
      <p:sp>
        <p:nvSpPr>
          <p:cNvPr id="75" name="TextBox 4">
            <a:extLst>
              <a:ext uri="{FF2B5EF4-FFF2-40B4-BE49-F238E27FC236}">
                <a16:creationId xmlns:a16="http://schemas.microsoft.com/office/drawing/2014/main" id="{3004C842-5D39-0BDB-E97A-981A15B68A81}"/>
              </a:ext>
            </a:extLst>
          </p:cNvPr>
          <p:cNvSpPr txBox="1"/>
          <p:nvPr/>
        </p:nvSpPr>
        <p:spPr>
          <a:xfrm>
            <a:off x="1543011" y="1576988"/>
            <a:ext cx="1556773" cy="4274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lang="fr-FR" b="1">
                <a:solidFill>
                  <a:srgbClr val="FFFFFF"/>
                </a:solidFill>
                <a:latin typeface="Roboto Slab"/>
              </a:rPr>
              <a:t>General Data</a:t>
            </a:r>
          </a:p>
        </p:txBody>
      </p:sp>
      <p:sp>
        <p:nvSpPr>
          <p:cNvPr id="76" name="TextBox 5">
            <a:extLst>
              <a:ext uri="{FF2B5EF4-FFF2-40B4-BE49-F238E27FC236}">
                <a16:creationId xmlns:a16="http://schemas.microsoft.com/office/drawing/2014/main" id="{42FAC753-E95E-B1F8-FEB9-0F8B82305D54}"/>
              </a:ext>
            </a:extLst>
          </p:cNvPr>
          <p:cNvSpPr txBox="1"/>
          <p:nvPr/>
        </p:nvSpPr>
        <p:spPr>
          <a:xfrm>
            <a:off x="1543011" y="2045302"/>
            <a:ext cx="984500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4 410 × 24</a:t>
            </a:r>
          </a:p>
        </p:txBody>
      </p:sp>
      <p:sp>
        <p:nvSpPr>
          <p:cNvPr id="77" name="Rounded Rectangle 6">
            <a:extLst>
              <a:ext uri="{FF2B5EF4-FFF2-40B4-BE49-F238E27FC236}">
                <a16:creationId xmlns:a16="http://schemas.microsoft.com/office/drawing/2014/main" id="{B3BCC4CF-B326-EE87-C724-D25A096CB1F9}"/>
              </a:ext>
            </a:extLst>
          </p:cNvPr>
          <p:cNvSpPr/>
          <p:nvPr/>
        </p:nvSpPr>
        <p:spPr>
          <a:xfrm>
            <a:off x="2543111" y="2066924"/>
            <a:ext cx="828654" cy="304800"/>
          </a:xfrm>
          <a:prstGeom prst="roundRect">
            <a:avLst>
              <a:gd name="adj" fmla="val 62493750"/>
            </a:avLst>
          </a:prstGeom>
          <a:solidFill>
            <a:srgbClr val="2DD4B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78" name="TextBox 7">
            <a:extLst>
              <a:ext uri="{FF2B5EF4-FFF2-40B4-BE49-F238E27FC236}">
                <a16:creationId xmlns:a16="http://schemas.microsoft.com/office/drawing/2014/main" id="{5B950772-B706-E509-1A6A-DC5D2DCD3AE0}"/>
              </a:ext>
            </a:extLst>
          </p:cNvPr>
          <p:cNvSpPr txBox="1"/>
          <p:nvPr/>
        </p:nvSpPr>
        <p:spPr>
          <a:xfrm>
            <a:off x="2543111" y="2061332"/>
            <a:ext cx="84504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5EEAD4"/>
                </a:solidFill>
                <a:latin typeface="Roboto"/>
              </a:rPr>
              <a:t>Principal</a:t>
            </a:r>
          </a:p>
        </p:txBody>
      </p:sp>
      <p:sp>
        <p:nvSpPr>
          <p:cNvPr id="79" name="TextBox 8">
            <a:extLst>
              <a:ext uri="{FF2B5EF4-FFF2-40B4-BE49-F238E27FC236}">
                <a16:creationId xmlns:a16="http://schemas.microsoft.com/office/drawing/2014/main" id="{B9C25330-7A87-D8E2-7A7C-83FB4A4E5CEF}"/>
              </a:ext>
            </a:extLst>
          </p:cNvPr>
          <p:cNvSpPr txBox="1"/>
          <p:nvPr/>
        </p:nvSpPr>
        <p:spPr>
          <a:xfrm>
            <a:off x="1543011" y="2450209"/>
            <a:ext cx="4329968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Données employés : âge, revenu, poste, expérience...</a:t>
            </a:r>
          </a:p>
        </p:txBody>
      </p:sp>
      <p:sp>
        <p:nvSpPr>
          <p:cNvPr id="80" name="Rounded Rectangle 9">
            <a:extLst>
              <a:ext uri="{FF2B5EF4-FFF2-40B4-BE49-F238E27FC236}">
                <a16:creationId xmlns:a16="http://schemas.microsoft.com/office/drawing/2014/main" id="{F6A5FB35-1F59-7788-D083-E6B7CAE6E2E9}"/>
              </a:ext>
            </a:extLst>
          </p:cNvPr>
          <p:cNvSpPr/>
          <p:nvPr/>
        </p:nvSpPr>
        <p:spPr>
          <a:xfrm>
            <a:off x="6248243" y="1266824"/>
            <a:ext cx="5333866" cy="22098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A855F7">
                  <a:alpha val="20000"/>
                </a:srgbClr>
              </a:gs>
              <a:gs pos="100000">
                <a:srgbClr val="9333EA">
                  <a:alpha val="1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pic>
        <p:nvPicPr>
          <p:cNvPr id="81" name="Picture 10" descr="image.png">
            <a:extLst>
              <a:ext uri="{FF2B5EF4-FFF2-40B4-BE49-F238E27FC236}">
                <a16:creationId xmlns:a16="http://schemas.microsoft.com/office/drawing/2014/main" id="{8B3D6D89-55BB-E4C2-5298-185DA938185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085" y="1644817"/>
            <a:ext cx="457188" cy="348915"/>
          </a:xfrm>
          <a:prstGeom prst="rect">
            <a:avLst/>
          </a:prstGeom>
        </p:spPr>
      </p:pic>
      <p:sp>
        <p:nvSpPr>
          <p:cNvPr id="82" name="TextBox 11">
            <a:extLst>
              <a:ext uri="{FF2B5EF4-FFF2-40B4-BE49-F238E27FC236}">
                <a16:creationId xmlns:a16="http://schemas.microsoft.com/office/drawing/2014/main" id="{69A12D40-D15D-DC46-43F1-CFBEEED548A3}"/>
              </a:ext>
            </a:extLst>
          </p:cNvPr>
          <p:cNvSpPr txBox="1"/>
          <p:nvPr/>
        </p:nvSpPr>
        <p:spPr>
          <a:xfrm>
            <a:off x="7181670" y="1576988"/>
            <a:ext cx="2090572" cy="4274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lang="fr-FR" b="1" err="1">
                <a:solidFill>
                  <a:srgbClr val="FFFFFF"/>
                </a:solidFill>
                <a:latin typeface="Roboto Slab"/>
              </a:rPr>
              <a:t>Employee</a:t>
            </a:r>
            <a:r>
              <a:rPr lang="fr-FR" b="1">
                <a:solidFill>
                  <a:srgbClr val="FFFFFF"/>
                </a:solidFill>
                <a:latin typeface="Roboto Slab"/>
              </a:rPr>
              <a:t> Survey</a:t>
            </a:r>
          </a:p>
        </p:txBody>
      </p:sp>
      <p:sp>
        <p:nvSpPr>
          <p:cNvPr id="83" name="TextBox 12">
            <a:extLst>
              <a:ext uri="{FF2B5EF4-FFF2-40B4-BE49-F238E27FC236}">
                <a16:creationId xmlns:a16="http://schemas.microsoft.com/office/drawing/2014/main" id="{1CA8DBF9-1875-8621-CC42-CAA85CB92A72}"/>
              </a:ext>
            </a:extLst>
          </p:cNvPr>
          <p:cNvSpPr txBox="1"/>
          <p:nvPr/>
        </p:nvSpPr>
        <p:spPr>
          <a:xfrm>
            <a:off x="7181670" y="2045302"/>
            <a:ext cx="883512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4 410 × 4</a:t>
            </a:r>
          </a:p>
        </p:txBody>
      </p:sp>
      <p:sp>
        <p:nvSpPr>
          <p:cNvPr id="84" name="Rounded Rectangle 13">
            <a:extLst>
              <a:ext uri="{FF2B5EF4-FFF2-40B4-BE49-F238E27FC236}">
                <a16:creationId xmlns:a16="http://schemas.microsoft.com/office/drawing/2014/main" id="{F6CF1DAF-276B-3D04-1AF3-0089907D48D3}"/>
              </a:ext>
            </a:extLst>
          </p:cNvPr>
          <p:cNvSpPr/>
          <p:nvPr/>
        </p:nvSpPr>
        <p:spPr>
          <a:xfrm>
            <a:off x="8076998" y="2066924"/>
            <a:ext cx="1047723" cy="304800"/>
          </a:xfrm>
          <a:prstGeom prst="roundRect">
            <a:avLst>
              <a:gd name="adj" fmla="val 62493750"/>
            </a:avLst>
          </a:prstGeom>
          <a:solidFill>
            <a:srgbClr val="C084F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85" name="TextBox 14">
            <a:extLst>
              <a:ext uri="{FF2B5EF4-FFF2-40B4-BE49-F238E27FC236}">
                <a16:creationId xmlns:a16="http://schemas.microsoft.com/office/drawing/2014/main" id="{72048A3B-B38D-C436-B179-E64664A41F0C}"/>
              </a:ext>
            </a:extLst>
          </p:cNvPr>
          <p:cNvSpPr txBox="1"/>
          <p:nvPr/>
        </p:nvSpPr>
        <p:spPr>
          <a:xfrm>
            <a:off x="8076998" y="2061333"/>
            <a:ext cx="110793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8B4FE"/>
                </a:solidFill>
                <a:latin typeface="Roboto"/>
              </a:rPr>
              <a:t>Satisfaction</a:t>
            </a:r>
          </a:p>
        </p:txBody>
      </p:sp>
      <p:sp>
        <p:nvSpPr>
          <p:cNvPr id="86" name="TextBox 15">
            <a:extLst>
              <a:ext uri="{FF2B5EF4-FFF2-40B4-BE49-F238E27FC236}">
                <a16:creationId xmlns:a16="http://schemas.microsoft.com/office/drawing/2014/main" id="{847A8EDD-F1AB-A8B1-0ED5-7771C1883089}"/>
              </a:ext>
            </a:extLst>
          </p:cNvPr>
          <p:cNvSpPr txBox="1"/>
          <p:nvPr/>
        </p:nvSpPr>
        <p:spPr>
          <a:xfrm>
            <a:off x="7181670" y="2463380"/>
            <a:ext cx="4076598" cy="55964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Enquête employés : satisfaction travail, équilibre vie pro/perso</a:t>
            </a:r>
          </a:p>
        </p:txBody>
      </p:sp>
      <p:sp>
        <p:nvSpPr>
          <p:cNvPr id="87" name="Rounded Rectangle 16">
            <a:extLst>
              <a:ext uri="{FF2B5EF4-FFF2-40B4-BE49-F238E27FC236}">
                <a16:creationId xmlns:a16="http://schemas.microsoft.com/office/drawing/2014/main" id="{FF92891B-795E-768E-7DE0-156D53498968}"/>
              </a:ext>
            </a:extLst>
          </p:cNvPr>
          <p:cNvSpPr/>
          <p:nvPr/>
        </p:nvSpPr>
        <p:spPr>
          <a:xfrm>
            <a:off x="609584" y="3781424"/>
            <a:ext cx="5333866" cy="1952624"/>
          </a:xfrm>
          <a:prstGeom prst="roundRect">
            <a:avLst>
              <a:gd name="adj" fmla="val 15609"/>
            </a:avLst>
          </a:prstGeom>
          <a:gradFill rotWithShape="1">
            <a:gsLst>
              <a:gs pos="0">
                <a:srgbClr val="F97316">
                  <a:alpha val="20000"/>
                </a:srgbClr>
              </a:gs>
              <a:gs pos="100000">
                <a:srgbClr val="EA580C">
                  <a:alpha val="10000"/>
                </a:srgbClr>
              </a:gs>
            </a:gsLst>
            <a:lin ang="8100000" scaled="0"/>
          </a:gradFill>
          <a:ln w="1651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pic>
        <p:nvPicPr>
          <p:cNvPr id="88" name="Picture 17" descr="image.png">
            <a:extLst>
              <a:ext uri="{FF2B5EF4-FFF2-40B4-BE49-F238E27FC236}">
                <a16:creationId xmlns:a16="http://schemas.microsoft.com/office/drawing/2014/main" id="{3D9EB714-3F41-4964-ED31-FC444FCFE52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3426" y="4195511"/>
            <a:ext cx="457188" cy="276726"/>
          </a:xfrm>
          <a:prstGeom prst="rect">
            <a:avLst/>
          </a:prstGeom>
        </p:spPr>
      </p:pic>
      <p:sp>
        <p:nvSpPr>
          <p:cNvPr id="89" name="TextBox 18">
            <a:extLst>
              <a:ext uri="{FF2B5EF4-FFF2-40B4-BE49-F238E27FC236}">
                <a16:creationId xmlns:a16="http://schemas.microsoft.com/office/drawing/2014/main" id="{BC29C250-9461-E7BA-19C9-7CA15C9D6361}"/>
              </a:ext>
            </a:extLst>
          </p:cNvPr>
          <p:cNvSpPr txBox="1"/>
          <p:nvPr/>
        </p:nvSpPr>
        <p:spPr>
          <a:xfrm>
            <a:off x="1543011" y="4091587"/>
            <a:ext cx="1991186" cy="4274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lang="fr-FR" b="1">
                <a:solidFill>
                  <a:srgbClr val="FFFFFF"/>
                </a:solidFill>
                <a:latin typeface="Roboto Slab"/>
              </a:rPr>
              <a:t>Manager Survey</a:t>
            </a:r>
          </a:p>
        </p:txBody>
      </p:sp>
      <p:sp>
        <p:nvSpPr>
          <p:cNvPr id="90" name="TextBox 19">
            <a:extLst>
              <a:ext uri="{FF2B5EF4-FFF2-40B4-BE49-F238E27FC236}">
                <a16:creationId xmlns:a16="http://schemas.microsoft.com/office/drawing/2014/main" id="{11BFD946-11F6-EE94-CE5E-D69B2B46561A}"/>
              </a:ext>
            </a:extLst>
          </p:cNvPr>
          <p:cNvSpPr txBox="1"/>
          <p:nvPr/>
        </p:nvSpPr>
        <p:spPr>
          <a:xfrm>
            <a:off x="1543011" y="4559903"/>
            <a:ext cx="883512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4 410 × 3</a:t>
            </a:r>
          </a:p>
        </p:txBody>
      </p:sp>
      <p:sp>
        <p:nvSpPr>
          <p:cNvPr id="91" name="Rounded Rectangle 20">
            <a:extLst>
              <a:ext uri="{FF2B5EF4-FFF2-40B4-BE49-F238E27FC236}">
                <a16:creationId xmlns:a16="http://schemas.microsoft.com/office/drawing/2014/main" id="{0C2F8122-EB2F-370B-B68D-96FAE011DB06}"/>
              </a:ext>
            </a:extLst>
          </p:cNvPr>
          <p:cNvSpPr/>
          <p:nvPr/>
        </p:nvSpPr>
        <p:spPr>
          <a:xfrm>
            <a:off x="2438339" y="4581524"/>
            <a:ext cx="933426" cy="304800"/>
          </a:xfrm>
          <a:prstGeom prst="roundRect">
            <a:avLst>
              <a:gd name="adj" fmla="val 62493750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92" name="TextBox 21">
            <a:extLst>
              <a:ext uri="{FF2B5EF4-FFF2-40B4-BE49-F238E27FC236}">
                <a16:creationId xmlns:a16="http://schemas.microsoft.com/office/drawing/2014/main" id="{9096336D-AE82-5EDB-6085-4742784FE763}"/>
              </a:ext>
            </a:extLst>
          </p:cNvPr>
          <p:cNvSpPr txBox="1"/>
          <p:nvPr/>
        </p:nvSpPr>
        <p:spPr>
          <a:xfrm>
            <a:off x="2438339" y="4575932"/>
            <a:ext cx="97969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FDBA74"/>
                </a:solidFill>
                <a:latin typeface="Roboto"/>
              </a:rPr>
              <a:t>Évaluation</a:t>
            </a:r>
          </a:p>
        </p:txBody>
      </p:sp>
      <p:sp>
        <p:nvSpPr>
          <p:cNvPr id="93" name="TextBox 22">
            <a:extLst>
              <a:ext uri="{FF2B5EF4-FFF2-40B4-BE49-F238E27FC236}">
                <a16:creationId xmlns:a16="http://schemas.microsoft.com/office/drawing/2014/main" id="{6739BDD9-0613-99EE-396A-5FC2E09A636C}"/>
              </a:ext>
            </a:extLst>
          </p:cNvPr>
          <p:cNvSpPr txBox="1"/>
          <p:nvPr/>
        </p:nvSpPr>
        <p:spPr>
          <a:xfrm>
            <a:off x="1543011" y="4964809"/>
            <a:ext cx="3770519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Enquête managers : performance, implication</a:t>
            </a:r>
          </a:p>
        </p:txBody>
      </p:sp>
      <p:sp>
        <p:nvSpPr>
          <p:cNvPr id="94" name="Rounded Rectangle 23">
            <a:extLst>
              <a:ext uri="{FF2B5EF4-FFF2-40B4-BE49-F238E27FC236}">
                <a16:creationId xmlns:a16="http://schemas.microsoft.com/office/drawing/2014/main" id="{4F72EBE1-3BBF-D833-857A-848D75E6828F}"/>
              </a:ext>
            </a:extLst>
          </p:cNvPr>
          <p:cNvSpPr/>
          <p:nvPr/>
        </p:nvSpPr>
        <p:spPr>
          <a:xfrm>
            <a:off x="6248243" y="3781424"/>
            <a:ext cx="5333866" cy="1952624"/>
          </a:xfrm>
          <a:prstGeom prst="roundRect">
            <a:avLst>
              <a:gd name="adj" fmla="val 15609"/>
            </a:avLst>
          </a:prstGeom>
          <a:gradFill rotWithShape="1">
            <a:gsLst>
              <a:gs pos="0">
                <a:srgbClr val="3B82F6">
                  <a:alpha val="20000"/>
                </a:srgbClr>
              </a:gs>
              <a:gs pos="100000">
                <a:srgbClr val="2563EB">
                  <a:alpha val="10000"/>
                </a:srgbClr>
              </a:gs>
            </a:gsLst>
            <a:lin ang="8100000" scaled="0"/>
          </a:gra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pic>
        <p:nvPicPr>
          <p:cNvPr id="95" name="Picture 24" descr="image.png">
            <a:extLst>
              <a:ext uri="{FF2B5EF4-FFF2-40B4-BE49-F238E27FC236}">
                <a16:creationId xmlns:a16="http://schemas.microsoft.com/office/drawing/2014/main" id="{CE8341E9-0D6E-63C2-1528-5C0BFD5A585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2085" y="4141369"/>
            <a:ext cx="457188" cy="385010"/>
          </a:xfrm>
          <a:prstGeom prst="rect">
            <a:avLst/>
          </a:prstGeom>
        </p:spPr>
      </p:pic>
      <p:sp>
        <p:nvSpPr>
          <p:cNvPr id="96" name="TextBox 25">
            <a:extLst>
              <a:ext uri="{FF2B5EF4-FFF2-40B4-BE49-F238E27FC236}">
                <a16:creationId xmlns:a16="http://schemas.microsoft.com/office/drawing/2014/main" id="{5F32B5E0-8810-EEA8-C064-FF99B2E193F7}"/>
              </a:ext>
            </a:extLst>
          </p:cNvPr>
          <p:cNvSpPr txBox="1"/>
          <p:nvPr/>
        </p:nvSpPr>
        <p:spPr>
          <a:xfrm>
            <a:off x="7181670" y="4091587"/>
            <a:ext cx="1481431" cy="4274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520"/>
              </a:spcAft>
            </a:pPr>
            <a:r>
              <a:rPr lang="fr-FR" b="1">
                <a:solidFill>
                  <a:srgbClr val="FFFFFF"/>
                </a:solidFill>
                <a:latin typeface="Roboto Slab"/>
              </a:rPr>
              <a:t>In/Out Time</a:t>
            </a:r>
          </a:p>
        </p:txBody>
      </p:sp>
      <p:sp>
        <p:nvSpPr>
          <p:cNvPr id="97" name="TextBox 26">
            <a:extLst>
              <a:ext uri="{FF2B5EF4-FFF2-40B4-BE49-F238E27FC236}">
                <a16:creationId xmlns:a16="http://schemas.microsoft.com/office/drawing/2014/main" id="{9953C4A8-7AD7-21C2-B0E1-DCC0B5772807}"/>
              </a:ext>
            </a:extLst>
          </p:cNvPr>
          <p:cNvSpPr txBox="1"/>
          <p:nvPr/>
        </p:nvSpPr>
        <p:spPr>
          <a:xfrm>
            <a:off x="7181670" y="4559903"/>
            <a:ext cx="1085490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4 410 × 262</a:t>
            </a:r>
          </a:p>
        </p:txBody>
      </p:sp>
      <p:sp>
        <p:nvSpPr>
          <p:cNvPr id="98" name="Rounded Rectangle 27">
            <a:extLst>
              <a:ext uri="{FF2B5EF4-FFF2-40B4-BE49-F238E27FC236}">
                <a16:creationId xmlns:a16="http://schemas.microsoft.com/office/drawing/2014/main" id="{E5C4C027-DA56-C467-FF54-4D50FB1AC192}"/>
              </a:ext>
            </a:extLst>
          </p:cNvPr>
          <p:cNvSpPr/>
          <p:nvPr/>
        </p:nvSpPr>
        <p:spPr>
          <a:xfrm>
            <a:off x="8286542" y="4581524"/>
            <a:ext cx="914377" cy="304800"/>
          </a:xfrm>
          <a:prstGeom prst="roundRect">
            <a:avLst>
              <a:gd name="adj" fmla="val 62493750"/>
            </a:avLst>
          </a:prstGeom>
          <a:solidFill>
            <a:srgbClr val="60A5F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99" name="TextBox 28">
            <a:extLst>
              <a:ext uri="{FF2B5EF4-FFF2-40B4-BE49-F238E27FC236}">
                <a16:creationId xmlns:a16="http://schemas.microsoft.com/office/drawing/2014/main" id="{C53A6D1E-13B1-5243-E54C-FC5B7D15E764}"/>
              </a:ext>
            </a:extLst>
          </p:cNvPr>
          <p:cNvSpPr txBox="1"/>
          <p:nvPr/>
        </p:nvSpPr>
        <p:spPr>
          <a:xfrm>
            <a:off x="8286542" y="4575932"/>
            <a:ext cx="947632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3C5FD"/>
                </a:solidFill>
                <a:latin typeface="Roboto"/>
              </a:rPr>
              <a:t>Badgeage</a:t>
            </a:r>
          </a:p>
        </p:txBody>
      </p:sp>
      <p:sp>
        <p:nvSpPr>
          <p:cNvPr id="100" name="TextBox 29">
            <a:extLst>
              <a:ext uri="{FF2B5EF4-FFF2-40B4-BE49-F238E27FC236}">
                <a16:creationId xmlns:a16="http://schemas.microsoft.com/office/drawing/2014/main" id="{31F0ACBB-8674-62B9-F539-E6B032A829D2}"/>
              </a:ext>
            </a:extLst>
          </p:cNvPr>
          <p:cNvSpPr txBox="1"/>
          <p:nvPr/>
        </p:nvSpPr>
        <p:spPr>
          <a:xfrm>
            <a:off x="7181670" y="4964809"/>
            <a:ext cx="4180888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Temps de présence journalier sur 262 jours ouvrés</a:t>
            </a:r>
          </a:p>
        </p:txBody>
      </p:sp>
      <p:sp>
        <p:nvSpPr>
          <p:cNvPr id="101" name="Rounded Rectangle 30">
            <a:extLst>
              <a:ext uri="{FF2B5EF4-FFF2-40B4-BE49-F238E27FC236}">
                <a16:creationId xmlns:a16="http://schemas.microsoft.com/office/drawing/2014/main" id="{9BD9AAF2-4D80-AB22-C15D-1818AB37AEEC}"/>
              </a:ext>
            </a:extLst>
          </p:cNvPr>
          <p:cNvSpPr/>
          <p:nvPr/>
        </p:nvSpPr>
        <p:spPr>
          <a:xfrm>
            <a:off x="609584" y="6191250"/>
            <a:ext cx="10972525" cy="590549"/>
          </a:xfrm>
          <a:prstGeom prst="roundRect">
            <a:avLst>
              <a:gd name="adj" fmla="val 2580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102" name="Round Same Side Corner Rectangle 31">
            <a:extLst>
              <a:ext uri="{FF2B5EF4-FFF2-40B4-BE49-F238E27FC236}">
                <a16:creationId xmlns:a16="http://schemas.microsoft.com/office/drawing/2014/main" id="{6D8767C8-91BE-C00C-B82E-452A3F1ECACB}"/>
              </a:ext>
            </a:extLst>
          </p:cNvPr>
          <p:cNvSpPr/>
          <p:nvPr/>
        </p:nvSpPr>
        <p:spPr>
          <a:xfrm rot="16200000">
            <a:off x="380350" y="6420484"/>
            <a:ext cx="590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pic>
        <p:nvPicPr>
          <p:cNvPr id="103" name="Picture 32" descr="image.png">
            <a:extLst>
              <a:ext uri="{FF2B5EF4-FFF2-40B4-BE49-F238E27FC236}">
                <a16:creationId xmlns:a16="http://schemas.microsoft.com/office/drawing/2014/main" id="{AB521147-2C4E-6722-A402-DA1B436842A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079" y="6410885"/>
            <a:ext cx="190495" cy="151279"/>
          </a:xfrm>
          <a:prstGeom prst="rect">
            <a:avLst/>
          </a:prstGeom>
        </p:spPr>
      </p:pic>
      <p:sp>
        <p:nvSpPr>
          <p:cNvPr id="104" name="TextBox 33">
            <a:extLst>
              <a:ext uri="{FF2B5EF4-FFF2-40B4-BE49-F238E27FC236}">
                <a16:creationId xmlns:a16="http://schemas.microsoft.com/office/drawing/2014/main" id="{0F7AB6E4-1603-CC7C-C2CB-36E968154C3E}"/>
              </a:ext>
            </a:extLst>
          </p:cNvPr>
          <p:cNvSpPr txBox="1"/>
          <p:nvPr/>
        </p:nvSpPr>
        <p:spPr>
          <a:xfrm>
            <a:off x="1104872" y="6326884"/>
            <a:ext cx="646267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Total :</a:t>
            </a:r>
          </a:p>
        </p:txBody>
      </p:sp>
      <p:sp>
        <p:nvSpPr>
          <p:cNvPr id="105" name="TextBox 34">
            <a:extLst>
              <a:ext uri="{FF2B5EF4-FFF2-40B4-BE49-F238E27FC236}">
                <a16:creationId xmlns:a16="http://schemas.microsoft.com/office/drawing/2014/main" id="{6A93EDBC-3EA2-7858-92D5-3764CC1D515D}"/>
              </a:ext>
            </a:extLst>
          </p:cNvPr>
          <p:cNvSpPr txBox="1"/>
          <p:nvPr/>
        </p:nvSpPr>
        <p:spPr>
          <a:xfrm>
            <a:off x="1751139" y="6312502"/>
            <a:ext cx="3212674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1950"/>
              </a:lnSpc>
            </a:pPr>
            <a:r>
              <a:rPr lang="fr-FR" sz="1400" b="1">
                <a:solidFill>
                  <a:srgbClr val="FFFFFF"/>
                </a:solidFill>
                <a:latin typeface="Roboto"/>
              </a:rPr>
              <a:t>4 410 employés | 293 colonnes brutes</a:t>
            </a:r>
          </a:p>
        </p:txBody>
      </p:sp>
      <p:sp>
        <p:nvSpPr>
          <p:cNvPr id="7" name="Rounded Rectangle 37">
            <a:extLst>
              <a:ext uri="{FF2B5EF4-FFF2-40B4-BE49-F238E27FC236}">
                <a16:creationId xmlns:a16="http://schemas.microsoft.com/office/drawing/2014/main" id="{78748FF4-D9DD-A85C-1F76-7914B2E5628C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38">
            <a:extLst>
              <a:ext uri="{FF2B5EF4-FFF2-40B4-BE49-F238E27FC236}">
                <a16:creationId xmlns:a16="http://schemas.microsoft.com/office/drawing/2014/main" id="{38A0ED8D-8C1C-D9E7-AE23-87A637D500E1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06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424307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743EE9-D35B-6C3D-0CFE-32CA6DB78CD6}"/>
              </a:ext>
            </a:extLst>
          </p:cNvPr>
          <p:cNvSpPr txBox="1"/>
          <p:nvPr/>
        </p:nvSpPr>
        <p:spPr>
          <a:xfrm>
            <a:off x="609584" y="183104"/>
            <a:ext cx="4623317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Valeurs manquantes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058C3E-8C55-E770-1C8F-1B0E7FABC650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87F96C6C-7B8C-154C-ED7F-E1592A4264F1}"/>
              </a:ext>
            </a:extLst>
          </p:cNvPr>
          <p:cNvSpPr/>
          <p:nvPr/>
        </p:nvSpPr>
        <p:spPr>
          <a:xfrm>
            <a:off x="857228" y="1643752"/>
            <a:ext cx="10477238" cy="4314825"/>
          </a:xfrm>
          <a:prstGeom prst="roundRect">
            <a:avLst>
              <a:gd name="adj" fmla="val 353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2A70F5EF-A8D1-61D5-D6C2-B6D1BCF35C02}"/>
              </a:ext>
            </a:extLst>
          </p:cNvPr>
          <p:cNvSpPr/>
          <p:nvPr/>
        </p:nvSpPr>
        <p:spPr>
          <a:xfrm>
            <a:off x="857228" y="1643752"/>
            <a:ext cx="10477238" cy="4314825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37">
            <a:extLst>
              <a:ext uri="{FF2B5EF4-FFF2-40B4-BE49-F238E27FC236}">
                <a16:creationId xmlns:a16="http://schemas.microsoft.com/office/drawing/2014/main" id="{D9522CBE-C8A2-846D-2F76-0032179A500F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D115395F-F890-0775-0CB3-C7C8E0AEB80C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07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566808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72220-0DED-29FA-0BE0-44202993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D90D3-CDBD-346D-11FD-5E610E0073AC}"/>
              </a:ext>
            </a:extLst>
          </p:cNvPr>
          <p:cNvSpPr txBox="1"/>
          <p:nvPr/>
        </p:nvSpPr>
        <p:spPr>
          <a:xfrm>
            <a:off x="609584" y="183104"/>
            <a:ext cx="5501763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Statistiques descriptives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F2F043-9C40-5444-278F-DF57839B4861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F86A4B3C-F93E-1A52-B36C-A1E2C4FC47FC}"/>
              </a:ext>
            </a:extLst>
          </p:cNvPr>
          <p:cNvSpPr/>
          <p:nvPr/>
        </p:nvSpPr>
        <p:spPr>
          <a:xfrm>
            <a:off x="609584" y="1114425"/>
            <a:ext cx="10972525" cy="581025"/>
          </a:xfrm>
          <a:prstGeom prst="roundRect">
            <a:avLst>
              <a:gd name="adj" fmla="val 26229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6AD2055-1E40-879A-3DBE-D2E638AE87BD}"/>
              </a:ext>
            </a:extLst>
          </p:cNvPr>
          <p:cNvSpPr txBox="1"/>
          <p:nvPr/>
        </p:nvSpPr>
        <p:spPr>
          <a:xfrm>
            <a:off x="923901" y="1240534"/>
            <a:ext cx="800155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Variable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EAD621F8-9115-412C-0BBE-E38010979F38}"/>
              </a:ext>
            </a:extLst>
          </p:cNvPr>
          <p:cNvSpPr txBox="1"/>
          <p:nvPr/>
        </p:nvSpPr>
        <p:spPr>
          <a:xfrm>
            <a:off x="3739202" y="1240534"/>
            <a:ext cx="880306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Moyenne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B7860D4-BAFC-9F58-C088-CD45C3B556A9}"/>
              </a:ext>
            </a:extLst>
          </p:cNvPr>
          <p:cNvSpPr txBox="1"/>
          <p:nvPr/>
        </p:nvSpPr>
        <p:spPr>
          <a:xfrm>
            <a:off x="5441395" y="1240534"/>
            <a:ext cx="835422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Médiane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07DC909-DC7D-7E50-2CEC-C93012BEFE05}"/>
              </a:ext>
            </a:extLst>
          </p:cNvPr>
          <p:cNvSpPr txBox="1"/>
          <p:nvPr/>
        </p:nvSpPr>
        <p:spPr>
          <a:xfrm>
            <a:off x="7161128" y="1240534"/>
            <a:ext cx="782522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Éc.-type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C25DF031-DE95-766A-DF5C-AD2CBADD28C6}"/>
              </a:ext>
            </a:extLst>
          </p:cNvPr>
          <p:cNvSpPr txBox="1"/>
          <p:nvPr/>
        </p:nvSpPr>
        <p:spPr>
          <a:xfrm>
            <a:off x="9153463" y="1240534"/>
            <a:ext cx="447495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Min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50CBC2C1-6E55-74EB-80BB-E797CB7ED146}"/>
              </a:ext>
            </a:extLst>
          </p:cNvPr>
          <p:cNvSpPr txBox="1"/>
          <p:nvPr/>
        </p:nvSpPr>
        <p:spPr>
          <a:xfrm>
            <a:off x="10775413" y="1240534"/>
            <a:ext cx="492379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Max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79C8B65-6402-2681-9338-717EA32D8323}"/>
              </a:ext>
            </a:extLst>
          </p:cNvPr>
          <p:cNvSpPr/>
          <p:nvPr/>
        </p:nvSpPr>
        <p:spPr>
          <a:xfrm>
            <a:off x="609584" y="1924049"/>
            <a:ext cx="10972525" cy="619124"/>
          </a:xfrm>
          <a:prstGeom prst="roundRect">
            <a:avLst>
              <a:gd name="adj" fmla="val 3076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15" name="Round Same Side Corner Rectangle 10">
            <a:extLst>
              <a:ext uri="{FF2B5EF4-FFF2-40B4-BE49-F238E27FC236}">
                <a16:creationId xmlns:a16="http://schemas.microsoft.com/office/drawing/2014/main" id="{75CD53D3-18D6-49F0-F60C-C474536DBCCB}"/>
              </a:ext>
            </a:extLst>
          </p:cNvPr>
          <p:cNvSpPr/>
          <p:nvPr/>
        </p:nvSpPr>
        <p:spPr>
          <a:xfrm rot="16200000">
            <a:off x="366062" y="2167571"/>
            <a:ext cx="6191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pic>
        <p:nvPicPr>
          <p:cNvPr id="16" name="Picture 11" descr="image.png">
            <a:extLst>
              <a:ext uri="{FF2B5EF4-FFF2-40B4-BE49-F238E27FC236}">
                <a16:creationId xmlns:a16="http://schemas.microsoft.com/office/drawing/2014/main" id="{61E79EEC-025F-F6B7-2D24-C40ED4E5C1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278" y="2149105"/>
            <a:ext cx="247643" cy="178538"/>
          </a:xfrm>
          <a:prstGeom prst="rect">
            <a:avLst/>
          </a:prstGeom>
        </p:spPr>
      </p:pic>
      <p:sp>
        <p:nvSpPr>
          <p:cNvPr id="17" name="TextBox 12">
            <a:extLst>
              <a:ext uri="{FF2B5EF4-FFF2-40B4-BE49-F238E27FC236}">
                <a16:creationId xmlns:a16="http://schemas.microsoft.com/office/drawing/2014/main" id="{167AE0B8-48E9-C4A5-596A-CDE10D863DFC}"/>
              </a:ext>
            </a:extLst>
          </p:cNvPr>
          <p:cNvSpPr txBox="1"/>
          <p:nvPr/>
        </p:nvSpPr>
        <p:spPr>
          <a:xfrm>
            <a:off x="1238219" y="2054781"/>
            <a:ext cx="46673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FFFFFF"/>
                </a:solidFill>
                <a:latin typeface="Roboto"/>
              </a:rPr>
              <a:t>Age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5DD70660-8119-C358-07C9-7189A367969A}"/>
              </a:ext>
            </a:extLst>
          </p:cNvPr>
          <p:cNvSpPr txBox="1"/>
          <p:nvPr/>
        </p:nvSpPr>
        <p:spPr>
          <a:xfrm>
            <a:off x="4130242" y="2054781"/>
            <a:ext cx="49879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36.9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45D52B95-E9F1-C6F9-4EF6-21FAF62C2C1D}"/>
              </a:ext>
            </a:extLst>
          </p:cNvPr>
          <p:cNvSpPr txBox="1"/>
          <p:nvPr/>
        </p:nvSpPr>
        <p:spPr>
          <a:xfrm>
            <a:off x="5965205" y="2054781"/>
            <a:ext cx="34971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36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4C31B24E-6554-ACC4-C546-79F00D263110}"/>
              </a:ext>
            </a:extLst>
          </p:cNvPr>
          <p:cNvSpPr txBox="1"/>
          <p:nvPr/>
        </p:nvSpPr>
        <p:spPr>
          <a:xfrm>
            <a:off x="7593473" y="2054781"/>
            <a:ext cx="39780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9.1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03FB7A54-F9C7-A589-CA4C-7B5DAE1B0AC8}"/>
              </a:ext>
            </a:extLst>
          </p:cNvPr>
          <p:cNvSpPr txBox="1"/>
          <p:nvPr/>
        </p:nvSpPr>
        <p:spPr>
          <a:xfrm>
            <a:off x="9327446" y="2054781"/>
            <a:ext cx="34971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18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F0F2FE1D-D523-DA7F-8C4A-3B2D56CEE7A8}"/>
              </a:ext>
            </a:extLst>
          </p:cNvPr>
          <p:cNvSpPr txBox="1"/>
          <p:nvPr/>
        </p:nvSpPr>
        <p:spPr>
          <a:xfrm>
            <a:off x="11013329" y="2054781"/>
            <a:ext cx="34971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60</a:t>
            </a:r>
          </a:p>
        </p:txBody>
      </p: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4A0B8E21-5E5C-B367-7366-BDC2B269029C}"/>
              </a:ext>
            </a:extLst>
          </p:cNvPr>
          <p:cNvSpPr/>
          <p:nvPr/>
        </p:nvSpPr>
        <p:spPr>
          <a:xfrm>
            <a:off x="609584" y="2657475"/>
            <a:ext cx="10972525" cy="619124"/>
          </a:xfrm>
          <a:prstGeom prst="roundRect">
            <a:avLst>
              <a:gd name="adj" fmla="val 3076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24" name="Round Same Side Corner Rectangle 19">
            <a:extLst>
              <a:ext uri="{FF2B5EF4-FFF2-40B4-BE49-F238E27FC236}">
                <a16:creationId xmlns:a16="http://schemas.microsoft.com/office/drawing/2014/main" id="{516DAEE9-2CBF-98DB-AA8E-7E452837494C}"/>
              </a:ext>
            </a:extLst>
          </p:cNvPr>
          <p:cNvSpPr/>
          <p:nvPr/>
        </p:nvSpPr>
        <p:spPr>
          <a:xfrm rot="16200000">
            <a:off x="366062" y="2900997"/>
            <a:ext cx="6191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pic>
        <p:nvPicPr>
          <p:cNvPr id="25" name="Picture 20" descr="image.png">
            <a:extLst>
              <a:ext uri="{FF2B5EF4-FFF2-40B4-BE49-F238E27FC236}">
                <a16:creationId xmlns:a16="http://schemas.microsoft.com/office/drawing/2014/main" id="{B98BEB09-9AB9-38C2-40E0-E8CD0F77577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278" y="2873005"/>
            <a:ext cx="247643" cy="178538"/>
          </a:xfrm>
          <a:prstGeom prst="rect">
            <a:avLst/>
          </a:prstGeom>
        </p:spPr>
      </p:pic>
      <p:sp>
        <p:nvSpPr>
          <p:cNvPr id="26" name="TextBox 21">
            <a:extLst>
              <a:ext uri="{FF2B5EF4-FFF2-40B4-BE49-F238E27FC236}">
                <a16:creationId xmlns:a16="http://schemas.microsoft.com/office/drawing/2014/main" id="{DE6AFBE6-EA39-DA89-BB08-90C0FEFA5140}"/>
              </a:ext>
            </a:extLst>
          </p:cNvPr>
          <p:cNvSpPr txBox="1"/>
          <p:nvPr/>
        </p:nvSpPr>
        <p:spPr>
          <a:xfrm>
            <a:off x="1238219" y="2788207"/>
            <a:ext cx="140609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FFFFFF"/>
                </a:solidFill>
                <a:latin typeface="Roboto"/>
              </a:rPr>
              <a:t>MonthlyIncome</a:t>
            </a:r>
          </a:p>
        </p:txBody>
      </p:sp>
      <p:sp>
        <p:nvSpPr>
          <p:cNvPr id="27" name="TextBox 22">
            <a:extLst>
              <a:ext uri="{FF2B5EF4-FFF2-40B4-BE49-F238E27FC236}">
                <a16:creationId xmlns:a16="http://schemas.microsoft.com/office/drawing/2014/main" id="{68D5781B-E8BF-23D4-E0BB-7B702E76F3CD}"/>
              </a:ext>
            </a:extLst>
          </p:cNvPr>
          <p:cNvSpPr txBox="1"/>
          <p:nvPr/>
        </p:nvSpPr>
        <p:spPr>
          <a:xfrm>
            <a:off x="3931470" y="2788207"/>
            <a:ext cx="697563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65 029</a:t>
            </a:r>
          </a:p>
        </p:txBody>
      </p:sp>
      <p:sp>
        <p:nvSpPr>
          <p:cNvPr id="28" name="TextBox 23">
            <a:extLst>
              <a:ext uri="{FF2B5EF4-FFF2-40B4-BE49-F238E27FC236}">
                <a16:creationId xmlns:a16="http://schemas.microsoft.com/office/drawing/2014/main" id="{EAFA6482-726F-8857-8670-A6931F052E12}"/>
              </a:ext>
            </a:extLst>
          </p:cNvPr>
          <p:cNvSpPr txBox="1"/>
          <p:nvPr/>
        </p:nvSpPr>
        <p:spPr>
          <a:xfrm>
            <a:off x="5617353" y="2788207"/>
            <a:ext cx="697563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49 190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2BE2F1BE-7DAB-E6B8-AC47-5A6D2F56BFAB}"/>
              </a:ext>
            </a:extLst>
          </p:cNvPr>
          <p:cNvSpPr txBox="1"/>
          <p:nvPr/>
        </p:nvSpPr>
        <p:spPr>
          <a:xfrm>
            <a:off x="7293711" y="2788207"/>
            <a:ext cx="697563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47 069</a:t>
            </a:r>
          </a:p>
        </p:txBody>
      </p:sp>
      <p:sp>
        <p:nvSpPr>
          <p:cNvPr id="30" name="TextBox 25">
            <a:extLst>
              <a:ext uri="{FF2B5EF4-FFF2-40B4-BE49-F238E27FC236}">
                <a16:creationId xmlns:a16="http://schemas.microsoft.com/office/drawing/2014/main" id="{9E40497D-DB21-24C3-EB67-7853E5582827}"/>
              </a:ext>
            </a:extLst>
          </p:cNvPr>
          <p:cNvSpPr txBox="1"/>
          <p:nvPr/>
        </p:nvSpPr>
        <p:spPr>
          <a:xfrm>
            <a:off x="8979594" y="2788207"/>
            <a:ext cx="697563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10 090</a:t>
            </a:r>
          </a:p>
        </p:txBody>
      </p:sp>
      <p:sp>
        <p:nvSpPr>
          <p:cNvPr id="31" name="TextBox 26">
            <a:extLst>
              <a:ext uri="{FF2B5EF4-FFF2-40B4-BE49-F238E27FC236}">
                <a16:creationId xmlns:a16="http://schemas.microsoft.com/office/drawing/2014/main" id="{AD507216-B657-C4AF-6EC2-78F1079F2521}"/>
              </a:ext>
            </a:extLst>
          </p:cNvPr>
          <p:cNvSpPr txBox="1"/>
          <p:nvPr/>
        </p:nvSpPr>
        <p:spPr>
          <a:xfrm>
            <a:off x="10564488" y="2788207"/>
            <a:ext cx="798552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199 990</a:t>
            </a:r>
          </a:p>
        </p:txBody>
      </p: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612A731E-1017-5158-DC62-A287CF471B7F}"/>
              </a:ext>
            </a:extLst>
          </p:cNvPr>
          <p:cNvSpPr/>
          <p:nvPr/>
        </p:nvSpPr>
        <p:spPr>
          <a:xfrm>
            <a:off x="609584" y="3390899"/>
            <a:ext cx="10972525" cy="619124"/>
          </a:xfrm>
          <a:prstGeom prst="roundRect">
            <a:avLst>
              <a:gd name="adj" fmla="val 3076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33" name="Round Same Side Corner Rectangle 28">
            <a:extLst>
              <a:ext uri="{FF2B5EF4-FFF2-40B4-BE49-F238E27FC236}">
                <a16:creationId xmlns:a16="http://schemas.microsoft.com/office/drawing/2014/main" id="{38690C42-FE16-11E5-A390-2CB3FCA18D35}"/>
              </a:ext>
            </a:extLst>
          </p:cNvPr>
          <p:cNvSpPr/>
          <p:nvPr/>
        </p:nvSpPr>
        <p:spPr>
          <a:xfrm rot="16200000">
            <a:off x="366062" y="3634421"/>
            <a:ext cx="6191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pic>
        <p:nvPicPr>
          <p:cNvPr id="34" name="Picture 29" descr="image.png">
            <a:extLst>
              <a:ext uri="{FF2B5EF4-FFF2-40B4-BE49-F238E27FC236}">
                <a16:creationId xmlns:a16="http://schemas.microsoft.com/office/drawing/2014/main" id="{BBF41AD0-C23D-68DB-19F5-1D406B1F201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6278" y="3594358"/>
            <a:ext cx="247643" cy="221733"/>
          </a:xfrm>
          <a:prstGeom prst="rect">
            <a:avLst/>
          </a:prstGeom>
        </p:spPr>
      </p:pic>
      <p:sp>
        <p:nvSpPr>
          <p:cNvPr id="35" name="TextBox 30">
            <a:extLst>
              <a:ext uri="{FF2B5EF4-FFF2-40B4-BE49-F238E27FC236}">
                <a16:creationId xmlns:a16="http://schemas.microsoft.com/office/drawing/2014/main" id="{86D71F25-8BBA-35B5-FB4C-72D024A0011B}"/>
              </a:ext>
            </a:extLst>
          </p:cNvPr>
          <p:cNvSpPr txBox="1"/>
          <p:nvPr/>
        </p:nvSpPr>
        <p:spPr>
          <a:xfrm>
            <a:off x="1238219" y="3521632"/>
            <a:ext cx="1697837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FFFFFF"/>
                </a:solidFill>
                <a:latin typeface="Roboto"/>
              </a:rPr>
              <a:t>TotalWorkingYears</a:t>
            </a:r>
          </a:p>
        </p:txBody>
      </p:sp>
      <p:sp>
        <p:nvSpPr>
          <p:cNvPr id="36" name="TextBox 31">
            <a:extLst>
              <a:ext uri="{FF2B5EF4-FFF2-40B4-BE49-F238E27FC236}">
                <a16:creationId xmlns:a16="http://schemas.microsoft.com/office/drawing/2014/main" id="{DB35A65D-E835-AF63-E985-BEF60F8A5634}"/>
              </a:ext>
            </a:extLst>
          </p:cNvPr>
          <p:cNvSpPr txBox="1"/>
          <p:nvPr/>
        </p:nvSpPr>
        <p:spPr>
          <a:xfrm>
            <a:off x="4187391" y="3521632"/>
            <a:ext cx="49879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11.3</a:t>
            </a:r>
          </a:p>
        </p:txBody>
      </p:sp>
      <p:sp>
        <p:nvSpPr>
          <p:cNvPr id="37" name="TextBox 32">
            <a:extLst>
              <a:ext uri="{FF2B5EF4-FFF2-40B4-BE49-F238E27FC236}">
                <a16:creationId xmlns:a16="http://schemas.microsoft.com/office/drawing/2014/main" id="{42D516BF-0980-2349-2E50-0ED7354DD0D0}"/>
              </a:ext>
            </a:extLst>
          </p:cNvPr>
          <p:cNvSpPr txBox="1"/>
          <p:nvPr/>
        </p:nvSpPr>
        <p:spPr>
          <a:xfrm>
            <a:off x="6003304" y="3521632"/>
            <a:ext cx="34971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10</a:t>
            </a:r>
          </a:p>
        </p:txBody>
      </p:sp>
      <p:sp>
        <p:nvSpPr>
          <p:cNvPr id="38" name="TextBox 33">
            <a:extLst>
              <a:ext uri="{FF2B5EF4-FFF2-40B4-BE49-F238E27FC236}">
                <a16:creationId xmlns:a16="http://schemas.microsoft.com/office/drawing/2014/main" id="{D3ACB14F-382D-B460-3ADB-97554615CC5E}"/>
              </a:ext>
            </a:extLst>
          </p:cNvPr>
          <p:cNvSpPr txBox="1"/>
          <p:nvPr/>
        </p:nvSpPr>
        <p:spPr>
          <a:xfrm>
            <a:off x="7622047" y="3521632"/>
            <a:ext cx="39780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7.8</a:t>
            </a:r>
          </a:p>
        </p:txBody>
      </p:sp>
      <p:sp>
        <p:nvSpPr>
          <p:cNvPr id="39" name="TextBox 34">
            <a:extLst>
              <a:ext uri="{FF2B5EF4-FFF2-40B4-BE49-F238E27FC236}">
                <a16:creationId xmlns:a16="http://schemas.microsoft.com/office/drawing/2014/main" id="{3B31EBA3-CF87-3F3E-4C7D-1EB95C206855}"/>
              </a:ext>
            </a:extLst>
          </p:cNvPr>
          <p:cNvSpPr txBox="1"/>
          <p:nvPr/>
        </p:nvSpPr>
        <p:spPr>
          <a:xfrm>
            <a:off x="9437960" y="3521632"/>
            <a:ext cx="248722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0</a:t>
            </a:r>
          </a:p>
        </p:txBody>
      </p:sp>
      <p:sp>
        <p:nvSpPr>
          <p:cNvPr id="40" name="TextBox 35">
            <a:extLst>
              <a:ext uri="{FF2B5EF4-FFF2-40B4-BE49-F238E27FC236}">
                <a16:creationId xmlns:a16="http://schemas.microsoft.com/office/drawing/2014/main" id="{7E0D3660-80C2-968B-E42C-F53E262C3A71}"/>
              </a:ext>
            </a:extLst>
          </p:cNvPr>
          <p:cNvSpPr txBox="1"/>
          <p:nvPr/>
        </p:nvSpPr>
        <p:spPr>
          <a:xfrm>
            <a:off x="11003804" y="3521632"/>
            <a:ext cx="34971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40</a:t>
            </a:r>
          </a:p>
        </p:txBody>
      </p:sp>
      <p:sp>
        <p:nvSpPr>
          <p:cNvPr id="41" name="Rounded Rectangle 36">
            <a:extLst>
              <a:ext uri="{FF2B5EF4-FFF2-40B4-BE49-F238E27FC236}">
                <a16:creationId xmlns:a16="http://schemas.microsoft.com/office/drawing/2014/main" id="{F8E61342-388B-B41B-4F8C-38775E169689}"/>
              </a:ext>
            </a:extLst>
          </p:cNvPr>
          <p:cNvSpPr/>
          <p:nvPr/>
        </p:nvSpPr>
        <p:spPr>
          <a:xfrm>
            <a:off x="609584" y="4124324"/>
            <a:ext cx="10972525" cy="619124"/>
          </a:xfrm>
          <a:prstGeom prst="roundRect">
            <a:avLst>
              <a:gd name="adj" fmla="val 3076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42" name="Round Same Side Corner Rectangle 37">
            <a:extLst>
              <a:ext uri="{FF2B5EF4-FFF2-40B4-BE49-F238E27FC236}">
                <a16:creationId xmlns:a16="http://schemas.microsoft.com/office/drawing/2014/main" id="{D242D26D-7762-DBEE-BAC1-85EB73F91B0F}"/>
              </a:ext>
            </a:extLst>
          </p:cNvPr>
          <p:cNvSpPr/>
          <p:nvPr/>
        </p:nvSpPr>
        <p:spPr>
          <a:xfrm rot="16200000">
            <a:off x="366062" y="4367846"/>
            <a:ext cx="6191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pic>
        <p:nvPicPr>
          <p:cNvPr id="43" name="Picture 38" descr="image.png">
            <a:extLst>
              <a:ext uri="{FF2B5EF4-FFF2-40B4-BE49-F238E27FC236}">
                <a16:creationId xmlns:a16="http://schemas.microsoft.com/office/drawing/2014/main" id="{6950C075-5B9D-6014-47A5-1AFE35BD69A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278" y="4331216"/>
            <a:ext cx="247643" cy="195816"/>
          </a:xfrm>
          <a:prstGeom prst="rect">
            <a:avLst/>
          </a:prstGeom>
        </p:spPr>
      </p:pic>
      <p:sp>
        <p:nvSpPr>
          <p:cNvPr id="44" name="TextBox 39">
            <a:extLst>
              <a:ext uri="{FF2B5EF4-FFF2-40B4-BE49-F238E27FC236}">
                <a16:creationId xmlns:a16="http://schemas.microsoft.com/office/drawing/2014/main" id="{23073CC4-D551-C37D-4F65-9E5BE8004405}"/>
              </a:ext>
            </a:extLst>
          </p:cNvPr>
          <p:cNvSpPr txBox="1"/>
          <p:nvPr/>
        </p:nvSpPr>
        <p:spPr>
          <a:xfrm>
            <a:off x="1238219" y="4255057"/>
            <a:ext cx="1551963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FFFFFF"/>
                </a:solidFill>
                <a:latin typeface="Roboto"/>
              </a:rPr>
              <a:t>YearsAtCompany</a:t>
            </a:r>
          </a:p>
        </p:txBody>
      </p:sp>
      <p:sp>
        <p:nvSpPr>
          <p:cNvPr id="45" name="TextBox 40">
            <a:extLst>
              <a:ext uri="{FF2B5EF4-FFF2-40B4-BE49-F238E27FC236}">
                <a16:creationId xmlns:a16="http://schemas.microsoft.com/office/drawing/2014/main" id="{A82F7C93-825E-ADB0-D1C4-5CA3C8871FAF}"/>
              </a:ext>
            </a:extLst>
          </p:cNvPr>
          <p:cNvSpPr txBox="1"/>
          <p:nvPr/>
        </p:nvSpPr>
        <p:spPr>
          <a:xfrm>
            <a:off x="4231232" y="4255057"/>
            <a:ext cx="39780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7.0</a:t>
            </a:r>
          </a:p>
        </p:txBody>
      </p:sp>
      <p:sp>
        <p:nvSpPr>
          <p:cNvPr id="46" name="TextBox 41">
            <a:extLst>
              <a:ext uri="{FF2B5EF4-FFF2-40B4-BE49-F238E27FC236}">
                <a16:creationId xmlns:a16="http://schemas.microsoft.com/office/drawing/2014/main" id="{D43A171C-E62A-A6D1-27CF-CE9419253299}"/>
              </a:ext>
            </a:extLst>
          </p:cNvPr>
          <p:cNvSpPr txBox="1"/>
          <p:nvPr/>
        </p:nvSpPr>
        <p:spPr>
          <a:xfrm>
            <a:off x="6066194" y="4255057"/>
            <a:ext cx="248722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5</a:t>
            </a:r>
          </a:p>
        </p:txBody>
      </p:sp>
      <p:sp>
        <p:nvSpPr>
          <p:cNvPr id="47" name="TextBox 42">
            <a:extLst>
              <a:ext uri="{FF2B5EF4-FFF2-40B4-BE49-F238E27FC236}">
                <a16:creationId xmlns:a16="http://schemas.microsoft.com/office/drawing/2014/main" id="{20F46FB6-7495-A57E-2658-6B1B49BD4BBA}"/>
              </a:ext>
            </a:extLst>
          </p:cNvPr>
          <p:cNvSpPr txBox="1"/>
          <p:nvPr/>
        </p:nvSpPr>
        <p:spPr>
          <a:xfrm>
            <a:off x="7593473" y="4255057"/>
            <a:ext cx="39780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6.1</a:t>
            </a:r>
          </a:p>
        </p:txBody>
      </p:sp>
      <p:sp>
        <p:nvSpPr>
          <p:cNvPr id="48" name="TextBox 43">
            <a:extLst>
              <a:ext uri="{FF2B5EF4-FFF2-40B4-BE49-F238E27FC236}">
                <a16:creationId xmlns:a16="http://schemas.microsoft.com/office/drawing/2014/main" id="{5ED66356-38E5-2362-8A51-8E9E5D1D2518}"/>
              </a:ext>
            </a:extLst>
          </p:cNvPr>
          <p:cNvSpPr txBox="1"/>
          <p:nvPr/>
        </p:nvSpPr>
        <p:spPr>
          <a:xfrm>
            <a:off x="9428435" y="4255057"/>
            <a:ext cx="248722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0</a:t>
            </a:r>
          </a:p>
        </p:txBody>
      </p:sp>
      <p:sp>
        <p:nvSpPr>
          <p:cNvPr id="49" name="TextBox 44">
            <a:extLst>
              <a:ext uri="{FF2B5EF4-FFF2-40B4-BE49-F238E27FC236}">
                <a16:creationId xmlns:a16="http://schemas.microsoft.com/office/drawing/2014/main" id="{B36A013A-9F2D-5B90-9BBD-749541638FFC}"/>
              </a:ext>
            </a:extLst>
          </p:cNvPr>
          <p:cNvSpPr txBox="1"/>
          <p:nvPr/>
        </p:nvSpPr>
        <p:spPr>
          <a:xfrm>
            <a:off x="11013329" y="4255057"/>
            <a:ext cx="34971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40</a:t>
            </a:r>
          </a:p>
        </p:txBody>
      </p:sp>
      <p:sp>
        <p:nvSpPr>
          <p:cNvPr id="50" name="Rounded Rectangle 45">
            <a:extLst>
              <a:ext uri="{FF2B5EF4-FFF2-40B4-BE49-F238E27FC236}">
                <a16:creationId xmlns:a16="http://schemas.microsoft.com/office/drawing/2014/main" id="{C6C3AD32-72E7-AF5C-A987-323A6E0E507B}"/>
              </a:ext>
            </a:extLst>
          </p:cNvPr>
          <p:cNvSpPr/>
          <p:nvPr/>
        </p:nvSpPr>
        <p:spPr>
          <a:xfrm>
            <a:off x="609584" y="4857750"/>
            <a:ext cx="10972525" cy="619124"/>
          </a:xfrm>
          <a:prstGeom prst="roundRect">
            <a:avLst>
              <a:gd name="adj" fmla="val 3076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51" name="Round Same Side Corner Rectangle 46">
            <a:extLst>
              <a:ext uri="{FF2B5EF4-FFF2-40B4-BE49-F238E27FC236}">
                <a16:creationId xmlns:a16="http://schemas.microsoft.com/office/drawing/2014/main" id="{63CB970E-E940-DF54-34FC-DA9FDF73497A}"/>
              </a:ext>
            </a:extLst>
          </p:cNvPr>
          <p:cNvSpPr/>
          <p:nvPr/>
        </p:nvSpPr>
        <p:spPr>
          <a:xfrm rot="16200000">
            <a:off x="366062" y="5101272"/>
            <a:ext cx="6191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pic>
        <p:nvPicPr>
          <p:cNvPr id="52" name="Picture 47" descr="image.png">
            <a:extLst>
              <a:ext uri="{FF2B5EF4-FFF2-40B4-BE49-F238E27FC236}">
                <a16:creationId xmlns:a16="http://schemas.microsoft.com/office/drawing/2014/main" id="{F5214586-90F8-BF55-6ED4-5801AEF94C2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278" y="5084245"/>
            <a:ext cx="247643" cy="175658"/>
          </a:xfrm>
          <a:prstGeom prst="rect">
            <a:avLst/>
          </a:prstGeom>
        </p:spPr>
      </p:pic>
      <p:sp>
        <p:nvSpPr>
          <p:cNvPr id="53" name="TextBox 48">
            <a:extLst>
              <a:ext uri="{FF2B5EF4-FFF2-40B4-BE49-F238E27FC236}">
                <a16:creationId xmlns:a16="http://schemas.microsoft.com/office/drawing/2014/main" id="{D621D95E-E32E-5B88-1C4A-F07C42D8047E}"/>
              </a:ext>
            </a:extLst>
          </p:cNvPr>
          <p:cNvSpPr txBox="1"/>
          <p:nvPr/>
        </p:nvSpPr>
        <p:spPr>
          <a:xfrm>
            <a:off x="1238219" y="4988481"/>
            <a:ext cx="1752339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FFFFFF"/>
                </a:solidFill>
                <a:latin typeface="Roboto"/>
              </a:rPr>
              <a:t>DistanceFromHome</a:t>
            </a:r>
          </a:p>
        </p:txBody>
      </p:sp>
      <p:sp>
        <p:nvSpPr>
          <p:cNvPr id="54" name="TextBox 49">
            <a:extLst>
              <a:ext uri="{FF2B5EF4-FFF2-40B4-BE49-F238E27FC236}">
                <a16:creationId xmlns:a16="http://schemas.microsoft.com/office/drawing/2014/main" id="{1585AC14-A2BD-F15C-0396-D1EA488A05FA}"/>
              </a:ext>
            </a:extLst>
          </p:cNvPr>
          <p:cNvSpPr txBox="1"/>
          <p:nvPr/>
        </p:nvSpPr>
        <p:spPr>
          <a:xfrm>
            <a:off x="4355054" y="4988481"/>
            <a:ext cx="39780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9.2</a:t>
            </a:r>
          </a:p>
        </p:txBody>
      </p:sp>
      <p:sp>
        <p:nvSpPr>
          <p:cNvPr id="55" name="TextBox 50">
            <a:extLst>
              <a:ext uri="{FF2B5EF4-FFF2-40B4-BE49-F238E27FC236}">
                <a16:creationId xmlns:a16="http://schemas.microsoft.com/office/drawing/2014/main" id="{39DC5FBA-B316-2C16-43E5-DBC7D3F1CB66}"/>
              </a:ext>
            </a:extLst>
          </p:cNvPr>
          <p:cNvSpPr txBox="1"/>
          <p:nvPr/>
        </p:nvSpPr>
        <p:spPr>
          <a:xfrm>
            <a:off x="6151917" y="4988481"/>
            <a:ext cx="248722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7</a:t>
            </a:r>
          </a:p>
        </p:txBody>
      </p:sp>
      <p:sp>
        <p:nvSpPr>
          <p:cNvPr id="56" name="TextBox 51">
            <a:extLst>
              <a:ext uri="{FF2B5EF4-FFF2-40B4-BE49-F238E27FC236}">
                <a16:creationId xmlns:a16="http://schemas.microsoft.com/office/drawing/2014/main" id="{27F05A37-2B32-8182-60C8-8A4DDBE505D2}"/>
              </a:ext>
            </a:extLst>
          </p:cNvPr>
          <p:cNvSpPr txBox="1"/>
          <p:nvPr/>
        </p:nvSpPr>
        <p:spPr>
          <a:xfrm>
            <a:off x="7660147" y="4988481"/>
            <a:ext cx="39780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8.1</a:t>
            </a:r>
          </a:p>
        </p:txBody>
      </p:sp>
      <p:sp>
        <p:nvSpPr>
          <p:cNvPr id="57" name="TextBox 52">
            <a:extLst>
              <a:ext uri="{FF2B5EF4-FFF2-40B4-BE49-F238E27FC236}">
                <a16:creationId xmlns:a16="http://schemas.microsoft.com/office/drawing/2014/main" id="{F3E8A3EB-0DAC-110D-0B49-C777238C2B29}"/>
              </a:ext>
            </a:extLst>
          </p:cNvPr>
          <p:cNvSpPr txBox="1"/>
          <p:nvPr/>
        </p:nvSpPr>
        <p:spPr>
          <a:xfrm>
            <a:off x="9457010" y="4988481"/>
            <a:ext cx="248722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1</a:t>
            </a:r>
          </a:p>
        </p:txBody>
      </p:sp>
      <p:sp>
        <p:nvSpPr>
          <p:cNvPr id="58" name="TextBox 53">
            <a:extLst>
              <a:ext uri="{FF2B5EF4-FFF2-40B4-BE49-F238E27FC236}">
                <a16:creationId xmlns:a16="http://schemas.microsoft.com/office/drawing/2014/main" id="{009CCC6C-BFE7-57A4-7BDD-8BD1B48933F9}"/>
              </a:ext>
            </a:extLst>
          </p:cNvPr>
          <p:cNvSpPr txBox="1"/>
          <p:nvPr/>
        </p:nvSpPr>
        <p:spPr>
          <a:xfrm>
            <a:off x="11003804" y="4988481"/>
            <a:ext cx="349711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r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5E7EB"/>
                </a:solidFill>
                <a:latin typeface="Roboto"/>
              </a:rPr>
              <a:t>29</a:t>
            </a:r>
          </a:p>
        </p:txBody>
      </p:sp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DEE1E394-AF44-444F-97C5-3BC3173A0609}"/>
              </a:ext>
            </a:extLst>
          </p:cNvPr>
          <p:cNvSpPr/>
          <p:nvPr/>
        </p:nvSpPr>
        <p:spPr>
          <a:xfrm>
            <a:off x="609584" y="5705475"/>
            <a:ext cx="10972525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60" name="Round Same Side Corner Rectangle 55">
            <a:extLst>
              <a:ext uri="{FF2B5EF4-FFF2-40B4-BE49-F238E27FC236}">
                <a16:creationId xmlns:a16="http://schemas.microsoft.com/office/drawing/2014/main" id="{7B2D4F7C-76C7-9BEF-E2DC-A13A412293EA}"/>
              </a:ext>
            </a:extLst>
          </p:cNvPr>
          <p:cNvSpPr/>
          <p:nvPr/>
        </p:nvSpPr>
        <p:spPr>
          <a:xfrm rot="16200000">
            <a:off x="389874" y="592518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pic>
        <p:nvPicPr>
          <p:cNvPr id="61" name="Picture 56" descr="image.png">
            <a:extLst>
              <a:ext uri="{FF2B5EF4-FFF2-40B4-BE49-F238E27FC236}">
                <a16:creationId xmlns:a16="http://schemas.microsoft.com/office/drawing/2014/main" id="{7AA3784A-834A-C163-05FD-070E6D2BC7C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079" y="5909982"/>
            <a:ext cx="190495" cy="162485"/>
          </a:xfrm>
          <a:prstGeom prst="rect">
            <a:avLst/>
          </a:prstGeom>
        </p:spPr>
      </p:pic>
      <p:sp>
        <p:nvSpPr>
          <p:cNvPr id="62" name="TextBox 57">
            <a:extLst>
              <a:ext uri="{FF2B5EF4-FFF2-40B4-BE49-F238E27FC236}">
                <a16:creationId xmlns:a16="http://schemas.microsoft.com/office/drawing/2014/main" id="{D034C923-CEE6-72E0-BF47-6C9F63945E03}"/>
              </a:ext>
            </a:extLst>
          </p:cNvPr>
          <p:cNvSpPr txBox="1"/>
          <p:nvPr/>
        </p:nvSpPr>
        <p:spPr>
          <a:xfrm>
            <a:off x="1104872" y="5831583"/>
            <a:ext cx="6005105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Statistiques descriptives des principales variables numériques du </a:t>
            </a:r>
            <a:r>
              <a:rPr lang="fr-FR" sz="1400" b="0" err="1">
                <a:solidFill>
                  <a:srgbClr val="D1D5DB"/>
                </a:solidFill>
                <a:latin typeface="Roboto"/>
              </a:rPr>
              <a:t>dataset</a:t>
            </a:r>
            <a:endParaRPr lang="fr-FR" sz="14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64" name="Rounded Rectangle 37">
            <a:extLst>
              <a:ext uri="{FF2B5EF4-FFF2-40B4-BE49-F238E27FC236}">
                <a16:creationId xmlns:a16="http://schemas.microsoft.com/office/drawing/2014/main" id="{D781E4FA-90E6-4906-4341-B6559B2311A7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38">
            <a:extLst>
              <a:ext uri="{FF2B5EF4-FFF2-40B4-BE49-F238E27FC236}">
                <a16:creationId xmlns:a16="http://schemas.microsoft.com/office/drawing/2014/main" id="{74E35D79-C4C5-9AE2-2A8A-CAC3A28882A7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08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90590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53EF-06A6-A12F-1B22-E0E0E52D2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65DFC0-E80B-BF8D-DBF5-D51F66ADB790}"/>
              </a:ext>
            </a:extLst>
          </p:cNvPr>
          <p:cNvSpPr txBox="1"/>
          <p:nvPr/>
        </p:nvSpPr>
        <p:spPr>
          <a:xfrm>
            <a:off x="609584" y="183104"/>
            <a:ext cx="5038495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Variables catégorielles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5719AA-E50D-AE91-9F94-162EEB78165E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47" name="Rounded Rectangle 2">
            <a:extLst>
              <a:ext uri="{FF2B5EF4-FFF2-40B4-BE49-F238E27FC236}">
                <a16:creationId xmlns:a16="http://schemas.microsoft.com/office/drawing/2014/main" id="{F1F31A4C-ED99-6BCD-2541-6DEC274C0845}"/>
              </a:ext>
            </a:extLst>
          </p:cNvPr>
          <p:cNvSpPr/>
          <p:nvPr/>
        </p:nvSpPr>
        <p:spPr>
          <a:xfrm>
            <a:off x="609584" y="1114425"/>
            <a:ext cx="5391015" cy="1076325"/>
          </a:xfrm>
          <a:prstGeom prst="roundRect">
            <a:avLst>
              <a:gd name="adj" fmla="val 2123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 Same Side Corner Rectangle 3">
            <a:extLst>
              <a:ext uri="{FF2B5EF4-FFF2-40B4-BE49-F238E27FC236}">
                <a16:creationId xmlns:a16="http://schemas.microsoft.com/office/drawing/2014/main" id="{FBE3B06F-1AA6-AB9B-6311-41764F6DF29B}"/>
              </a:ext>
            </a:extLst>
          </p:cNvPr>
          <p:cNvSpPr/>
          <p:nvPr/>
        </p:nvSpPr>
        <p:spPr>
          <a:xfrm rot="16200000">
            <a:off x="120952" y="1603057"/>
            <a:ext cx="10763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" descr="image.png">
            <a:extLst>
              <a:ext uri="{FF2B5EF4-FFF2-40B4-BE49-F238E27FC236}">
                <a16:creationId xmlns:a16="http://schemas.microsoft.com/office/drawing/2014/main" id="{14E5A4EC-1703-9C81-270C-D755E44B1C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54" y="1314242"/>
            <a:ext cx="266693" cy="229014"/>
          </a:xfrm>
          <a:prstGeom prst="rect">
            <a:avLst/>
          </a:prstGeom>
        </p:spPr>
      </p:pic>
      <p:sp>
        <p:nvSpPr>
          <p:cNvPr id="50" name="TextBox 5">
            <a:extLst>
              <a:ext uri="{FF2B5EF4-FFF2-40B4-BE49-F238E27FC236}">
                <a16:creationId xmlns:a16="http://schemas.microsoft.com/office/drawing/2014/main" id="{625338CF-0FB9-C85C-C3A7-2521EDC3E274}"/>
              </a:ext>
            </a:extLst>
          </p:cNvPr>
          <p:cNvSpPr txBox="1"/>
          <p:nvPr/>
        </p:nvSpPr>
        <p:spPr>
          <a:xfrm>
            <a:off x="1209644" y="1245156"/>
            <a:ext cx="814582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boto"/>
              </a:rPr>
              <a:t>Attrition</a:t>
            </a:r>
          </a:p>
        </p:txBody>
      </p:sp>
      <p:sp>
        <p:nvSpPr>
          <p:cNvPr id="51" name="TextBox 6">
            <a:extLst>
              <a:ext uri="{FF2B5EF4-FFF2-40B4-BE49-F238E27FC236}">
                <a16:creationId xmlns:a16="http://schemas.microsoft.com/office/drawing/2014/main" id="{7002AF01-2430-E7E1-4453-66E0FDE5D5D6}"/>
              </a:ext>
            </a:extLst>
          </p:cNvPr>
          <p:cNvSpPr txBox="1"/>
          <p:nvPr/>
        </p:nvSpPr>
        <p:spPr>
          <a:xfrm>
            <a:off x="5152896" y="1259583"/>
            <a:ext cx="837024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Yes / No</a:t>
            </a:r>
          </a:p>
        </p:txBody>
      </p:sp>
      <p:sp>
        <p:nvSpPr>
          <p:cNvPr id="52" name="TextBox 7">
            <a:extLst>
              <a:ext uri="{FF2B5EF4-FFF2-40B4-BE49-F238E27FC236}">
                <a16:creationId xmlns:a16="http://schemas.microsoft.com/office/drawing/2014/main" id="{DE500689-170D-7A8E-DE13-EC7E1E00AA8B}"/>
              </a:ext>
            </a:extLst>
          </p:cNvPr>
          <p:cNvSpPr txBox="1"/>
          <p:nvPr/>
        </p:nvSpPr>
        <p:spPr>
          <a:xfrm>
            <a:off x="828654" y="1626203"/>
            <a:ext cx="2938561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Roboto"/>
              </a:rPr>
              <a:t>83.9% No</a:t>
            </a:r>
            <a:r>
              <a:rPr sz="1400" b="0">
                <a:solidFill>
                  <a:srgbClr val="E5E7EB"/>
                </a:solidFill>
                <a:latin typeface="Roboto"/>
              </a:rPr>
              <a:t>, 16.1% Yes </a:t>
            </a:r>
            <a:r>
              <a:rPr sz="1400" b="0">
                <a:solidFill>
                  <a:srgbClr val="9CA3AF"/>
                </a:solidFill>
                <a:latin typeface="Roboto"/>
              </a:rPr>
              <a:t>(711 </a:t>
            </a:r>
            <a:r>
              <a:rPr sz="1400" b="0" err="1">
                <a:solidFill>
                  <a:srgbClr val="9CA3AF"/>
                </a:solidFill>
                <a:latin typeface="Roboto"/>
              </a:rPr>
              <a:t>départs</a:t>
            </a:r>
            <a:r>
              <a:rPr sz="1400" b="0">
                <a:solidFill>
                  <a:srgbClr val="9CA3AF"/>
                </a:solidFill>
                <a:latin typeface="Roboto"/>
              </a:rPr>
              <a:t>)</a:t>
            </a:r>
          </a:p>
        </p:txBody>
      </p:sp>
      <p:sp>
        <p:nvSpPr>
          <p:cNvPr id="53" name="Rounded Rectangle 8">
            <a:extLst>
              <a:ext uri="{FF2B5EF4-FFF2-40B4-BE49-F238E27FC236}">
                <a16:creationId xmlns:a16="http://schemas.microsoft.com/office/drawing/2014/main" id="{E967F57B-5B3A-F481-F20D-F161DE990D0B}"/>
              </a:ext>
            </a:extLst>
          </p:cNvPr>
          <p:cNvSpPr/>
          <p:nvPr/>
        </p:nvSpPr>
        <p:spPr>
          <a:xfrm>
            <a:off x="6191095" y="1114425"/>
            <a:ext cx="5391015" cy="1076325"/>
          </a:xfrm>
          <a:prstGeom prst="roundRect">
            <a:avLst>
              <a:gd name="adj" fmla="val 2123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 Same Side Corner Rectangle 9">
            <a:extLst>
              <a:ext uri="{FF2B5EF4-FFF2-40B4-BE49-F238E27FC236}">
                <a16:creationId xmlns:a16="http://schemas.microsoft.com/office/drawing/2014/main" id="{A97C8E33-C092-F5F4-816F-C5F9D29E41A0}"/>
              </a:ext>
            </a:extLst>
          </p:cNvPr>
          <p:cNvSpPr/>
          <p:nvPr/>
        </p:nvSpPr>
        <p:spPr>
          <a:xfrm rot="16200000">
            <a:off x="5702463" y="1603057"/>
            <a:ext cx="10763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10" descr="image.png">
            <a:extLst>
              <a:ext uri="{FF2B5EF4-FFF2-40B4-BE49-F238E27FC236}">
                <a16:creationId xmlns:a16="http://schemas.microsoft.com/office/drawing/2014/main" id="{90DC24AA-E7D8-A642-401E-49320BC3C80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164" y="1324389"/>
            <a:ext cx="266693" cy="208721"/>
          </a:xfrm>
          <a:prstGeom prst="rect">
            <a:avLst/>
          </a:prstGeom>
        </p:spPr>
      </p:pic>
      <p:sp>
        <p:nvSpPr>
          <p:cNvPr id="56" name="TextBox 11">
            <a:extLst>
              <a:ext uri="{FF2B5EF4-FFF2-40B4-BE49-F238E27FC236}">
                <a16:creationId xmlns:a16="http://schemas.microsoft.com/office/drawing/2014/main" id="{CBD06FD7-0887-8519-768C-6BC8E01F2C50}"/>
              </a:ext>
            </a:extLst>
          </p:cNvPr>
          <p:cNvSpPr txBox="1"/>
          <p:nvPr/>
        </p:nvSpPr>
        <p:spPr>
          <a:xfrm>
            <a:off x="6791155" y="1245156"/>
            <a:ext cx="1098314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boto"/>
              </a:rPr>
              <a:t>Department</a:t>
            </a:r>
          </a:p>
        </p:txBody>
      </p:sp>
      <p:sp>
        <p:nvSpPr>
          <p:cNvPr id="57" name="TextBox 12">
            <a:extLst>
              <a:ext uri="{FF2B5EF4-FFF2-40B4-BE49-F238E27FC236}">
                <a16:creationId xmlns:a16="http://schemas.microsoft.com/office/drawing/2014/main" id="{2852462A-44E9-37C5-294D-F2B6B58B2BC3}"/>
              </a:ext>
            </a:extLst>
          </p:cNvPr>
          <p:cNvSpPr txBox="1"/>
          <p:nvPr/>
        </p:nvSpPr>
        <p:spPr>
          <a:xfrm>
            <a:off x="10115297" y="1259583"/>
            <a:ext cx="1491049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R&amp;D / Sales / HR</a:t>
            </a:r>
          </a:p>
        </p:txBody>
      </p:sp>
      <p:sp>
        <p:nvSpPr>
          <p:cNvPr id="58" name="TextBox 13">
            <a:extLst>
              <a:ext uri="{FF2B5EF4-FFF2-40B4-BE49-F238E27FC236}">
                <a16:creationId xmlns:a16="http://schemas.microsoft.com/office/drawing/2014/main" id="{93DB1760-6E59-3CDC-2A2A-F434BF849067}"/>
              </a:ext>
            </a:extLst>
          </p:cNvPr>
          <p:cNvSpPr txBox="1"/>
          <p:nvPr/>
        </p:nvSpPr>
        <p:spPr>
          <a:xfrm>
            <a:off x="6410164" y="1626203"/>
            <a:ext cx="4347600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Roboto"/>
              </a:rPr>
              <a:t>R&amp;D: </a:t>
            </a:r>
            <a:r>
              <a:rPr sz="1400" b="1">
                <a:solidFill>
                  <a:srgbClr val="5EEAD4"/>
                </a:solidFill>
                <a:latin typeface="Roboto"/>
              </a:rPr>
              <a:t>2 883 (65%)</a:t>
            </a:r>
            <a:r>
              <a:rPr sz="1400" b="0">
                <a:solidFill>
                  <a:srgbClr val="E5E7EB"/>
                </a:solidFill>
                <a:latin typeface="Roboto"/>
              </a:rPr>
              <a:t> • Sales: 1 204 (27%) • HR: 189 (4%)</a:t>
            </a:r>
          </a:p>
        </p:txBody>
      </p:sp>
      <p:sp>
        <p:nvSpPr>
          <p:cNvPr id="59" name="Rounded Rectangle 14">
            <a:extLst>
              <a:ext uri="{FF2B5EF4-FFF2-40B4-BE49-F238E27FC236}">
                <a16:creationId xmlns:a16="http://schemas.microsoft.com/office/drawing/2014/main" id="{E699E025-70ED-A485-C76B-BD25D5F298C6}"/>
              </a:ext>
            </a:extLst>
          </p:cNvPr>
          <p:cNvSpPr/>
          <p:nvPr/>
        </p:nvSpPr>
        <p:spPr>
          <a:xfrm>
            <a:off x="609584" y="2381250"/>
            <a:ext cx="5391015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 Same Side Corner Rectangle 15">
            <a:extLst>
              <a:ext uri="{FF2B5EF4-FFF2-40B4-BE49-F238E27FC236}">
                <a16:creationId xmlns:a16="http://schemas.microsoft.com/office/drawing/2014/main" id="{9636D40A-2CAD-15E8-AF13-0F10DA3C7AD0}"/>
              </a:ext>
            </a:extLst>
          </p:cNvPr>
          <p:cNvSpPr/>
          <p:nvPr/>
        </p:nvSpPr>
        <p:spPr>
          <a:xfrm rot="16200000">
            <a:off x="-21923" y="3012757"/>
            <a:ext cx="13620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1" name="Picture 16" descr="image.png">
            <a:extLst>
              <a:ext uri="{FF2B5EF4-FFF2-40B4-BE49-F238E27FC236}">
                <a16:creationId xmlns:a16="http://schemas.microsoft.com/office/drawing/2014/main" id="{401448B6-1166-0AA8-86A4-FD8387C4AFD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654" y="2572992"/>
            <a:ext cx="266693" cy="226115"/>
          </a:xfrm>
          <a:prstGeom prst="rect">
            <a:avLst/>
          </a:prstGeom>
        </p:spPr>
      </p:pic>
      <p:sp>
        <p:nvSpPr>
          <p:cNvPr id="62" name="TextBox 17">
            <a:extLst>
              <a:ext uri="{FF2B5EF4-FFF2-40B4-BE49-F238E27FC236}">
                <a16:creationId xmlns:a16="http://schemas.microsoft.com/office/drawing/2014/main" id="{8303FF40-9453-20FA-1D6A-DC29C3BF3D38}"/>
              </a:ext>
            </a:extLst>
          </p:cNvPr>
          <p:cNvSpPr txBox="1"/>
          <p:nvPr/>
        </p:nvSpPr>
        <p:spPr>
          <a:xfrm>
            <a:off x="1209644" y="2511981"/>
            <a:ext cx="729623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Roboto"/>
              </a:rPr>
              <a:t>Gender</a:t>
            </a:r>
          </a:p>
        </p:txBody>
      </p:sp>
      <p:sp>
        <p:nvSpPr>
          <p:cNvPr id="63" name="TextBox 18">
            <a:extLst>
              <a:ext uri="{FF2B5EF4-FFF2-40B4-BE49-F238E27FC236}">
                <a16:creationId xmlns:a16="http://schemas.microsoft.com/office/drawing/2014/main" id="{94E7729C-50AB-540F-7027-85C664E8A4E6}"/>
              </a:ext>
            </a:extLst>
          </p:cNvPr>
          <p:cNvSpPr txBox="1"/>
          <p:nvPr/>
        </p:nvSpPr>
        <p:spPr>
          <a:xfrm>
            <a:off x="4714757" y="2526408"/>
            <a:ext cx="1290674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Male / Female</a:t>
            </a:r>
          </a:p>
        </p:txBody>
      </p:sp>
      <p:sp>
        <p:nvSpPr>
          <p:cNvPr id="64" name="TextBox 19">
            <a:extLst>
              <a:ext uri="{FF2B5EF4-FFF2-40B4-BE49-F238E27FC236}">
                <a16:creationId xmlns:a16="http://schemas.microsoft.com/office/drawing/2014/main" id="{F1443F0D-BDE1-69E3-A8A0-3FF86896E21E}"/>
              </a:ext>
            </a:extLst>
          </p:cNvPr>
          <p:cNvSpPr txBox="1"/>
          <p:nvPr/>
        </p:nvSpPr>
        <p:spPr>
          <a:xfrm>
            <a:off x="828654" y="2893028"/>
            <a:ext cx="3368166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Roboto"/>
              </a:rPr>
              <a:t>Male: </a:t>
            </a:r>
            <a:r>
              <a:rPr sz="1400" b="1">
                <a:solidFill>
                  <a:srgbClr val="5EEAD4"/>
                </a:solidFill>
                <a:latin typeface="Roboto"/>
              </a:rPr>
              <a:t>2 646 (60%)</a:t>
            </a:r>
            <a:r>
              <a:rPr sz="1400" b="0">
                <a:solidFill>
                  <a:srgbClr val="E5E7EB"/>
                </a:solidFill>
                <a:latin typeface="Roboto"/>
              </a:rPr>
              <a:t> • Female: 1 764 (40%)</a:t>
            </a:r>
          </a:p>
        </p:txBody>
      </p:sp>
      <p:sp>
        <p:nvSpPr>
          <p:cNvPr id="65" name="Rounded Rectangle 20">
            <a:extLst>
              <a:ext uri="{FF2B5EF4-FFF2-40B4-BE49-F238E27FC236}">
                <a16:creationId xmlns:a16="http://schemas.microsoft.com/office/drawing/2014/main" id="{F40B03AF-218F-027D-F8EF-1967A74D0657}"/>
              </a:ext>
            </a:extLst>
          </p:cNvPr>
          <p:cNvSpPr/>
          <p:nvPr/>
        </p:nvSpPr>
        <p:spPr>
          <a:xfrm>
            <a:off x="6191095" y="2381250"/>
            <a:ext cx="5391015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 Same Side Corner Rectangle 21">
            <a:extLst>
              <a:ext uri="{FF2B5EF4-FFF2-40B4-BE49-F238E27FC236}">
                <a16:creationId xmlns:a16="http://schemas.microsoft.com/office/drawing/2014/main" id="{172264CC-9108-7E62-4195-46C6A0615F11}"/>
              </a:ext>
            </a:extLst>
          </p:cNvPr>
          <p:cNvSpPr/>
          <p:nvPr/>
        </p:nvSpPr>
        <p:spPr>
          <a:xfrm rot="16200000">
            <a:off x="5559588" y="3012757"/>
            <a:ext cx="13620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7" name="Picture 22" descr="image.png">
            <a:extLst>
              <a:ext uri="{FF2B5EF4-FFF2-40B4-BE49-F238E27FC236}">
                <a16:creationId xmlns:a16="http://schemas.microsoft.com/office/drawing/2014/main" id="{12F88FB6-DBF1-015B-C087-3817DDDF014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0164" y="2580239"/>
            <a:ext cx="266693" cy="211620"/>
          </a:xfrm>
          <a:prstGeom prst="rect">
            <a:avLst/>
          </a:prstGeom>
        </p:spPr>
      </p:pic>
      <p:sp>
        <p:nvSpPr>
          <p:cNvPr id="68" name="TextBox 23">
            <a:extLst>
              <a:ext uri="{FF2B5EF4-FFF2-40B4-BE49-F238E27FC236}">
                <a16:creationId xmlns:a16="http://schemas.microsoft.com/office/drawing/2014/main" id="{22D8C054-7BD6-1917-A6EA-F1E4C88EDB37}"/>
              </a:ext>
            </a:extLst>
          </p:cNvPr>
          <p:cNvSpPr txBox="1"/>
          <p:nvPr/>
        </p:nvSpPr>
        <p:spPr>
          <a:xfrm>
            <a:off x="6791155" y="2511981"/>
            <a:ext cx="1242584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err="1">
                <a:solidFill>
                  <a:srgbClr val="FFFFFF"/>
                </a:solidFill>
                <a:latin typeface="Roboto"/>
              </a:rPr>
              <a:t>MaritalStatus</a:t>
            </a:r>
            <a:endParaRPr sz="14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69" name="TextBox 24">
            <a:extLst>
              <a:ext uri="{FF2B5EF4-FFF2-40B4-BE49-F238E27FC236}">
                <a16:creationId xmlns:a16="http://schemas.microsoft.com/office/drawing/2014/main" id="{CD3E7F68-1D9B-0E79-F862-48354339856B}"/>
              </a:ext>
            </a:extLst>
          </p:cNvPr>
          <p:cNvSpPr txBox="1"/>
          <p:nvPr/>
        </p:nvSpPr>
        <p:spPr>
          <a:xfrm>
            <a:off x="10496287" y="2526408"/>
            <a:ext cx="1085490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3 </a:t>
            </a:r>
            <a:r>
              <a:rPr lang="fr-FR" sz="1400" b="0" err="1">
                <a:solidFill>
                  <a:srgbClr val="9CA3AF"/>
                </a:solidFill>
                <a:latin typeface="Roboto"/>
              </a:rPr>
              <a:t>modalités</a:t>
            </a:r>
            <a:endParaRPr lang="fr-FR" sz="1400" b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70" name="TextBox 25">
            <a:extLst>
              <a:ext uri="{FF2B5EF4-FFF2-40B4-BE49-F238E27FC236}">
                <a16:creationId xmlns:a16="http://schemas.microsoft.com/office/drawing/2014/main" id="{01FCB3AA-B62D-6FE7-C54D-38D1DEF78BEB}"/>
              </a:ext>
            </a:extLst>
          </p:cNvPr>
          <p:cNvSpPr txBox="1"/>
          <p:nvPr/>
        </p:nvSpPr>
        <p:spPr>
          <a:xfrm>
            <a:off x="6410164" y="2907663"/>
            <a:ext cx="4981450" cy="6045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Roboto"/>
              </a:rPr>
              <a:t>Married: </a:t>
            </a:r>
            <a:r>
              <a:rPr sz="1400" b="1">
                <a:solidFill>
                  <a:srgbClr val="5EEAD4"/>
                </a:solidFill>
                <a:latin typeface="Roboto"/>
              </a:rPr>
              <a:t>2 019 (46%)</a:t>
            </a:r>
            <a:r>
              <a:rPr sz="1400" b="0">
                <a:solidFill>
                  <a:srgbClr val="E5E7EB"/>
                </a:solidFill>
                <a:latin typeface="Roboto"/>
              </a:rPr>
              <a:t> • Single: 1 196 (27%) • Divorced: 673 (15%)</a:t>
            </a:r>
          </a:p>
        </p:txBody>
      </p:sp>
      <p:sp>
        <p:nvSpPr>
          <p:cNvPr id="71" name="Rounded Rectangle 26">
            <a:extLst>
              <a:ext uri="{FF2B5EF4-FFF2-40B4-BE49-F238E27FC236}">
                <a16:creationId xmlns:a16="http://schemas.microsoft.com/office/drawing/2014/main" id="{4FB3E794-3FF7-78A9-E873-F4DB073452E0}"/>
              </a:ext>
            </a:extLst>
          </p:cNvPr>
          <p:cNvSpPr/>
          <p:nvPr/>
        </p:nvSpPr>
        <p:spPr>
          <a:xfrm>
            <a:off x="609584" y="3924299"/>
            <a:ext cx="5391015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 Same Side Corner Rectangle 27">
            <a:extLst>
              <a:ext uri="{FF2B5EF4-FFF2-40B4-BE49-F238E27FC236}">
                <a16:creationId xmlns:a16="http://schemas.microsoft.com/office/drawing/2014/main" id="{B1170C0E-DEBB-23DB-2385-1C4C917EB4AC}"/>
              </a:ext>
            </a:extLst>
          </p:cNvPr>
          <p:cNvSpPr/>
          <p:nvPr/>
        </p:nvSpPr>
        <p:spPr>
          <a:xfrm rot="16200000">
            <a:off x="-21923" y="4555806"/>
            <a:ext cx="13620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3" name="Picture 28" descr="image.png">
            <a:extLst>
              <a:ext uri="{FF2B5EF4-FFF2-40B4-BE49-F238E27FC236}">
                <a16:creationId xmlns:a16="http://schemas.microsoft.com/office/drawing/2014/main" id="{D324ABD5-ED9C-4C7E-6985-E3195FB8B9A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8654" y="4125567"/>
            <a:ext cx="266693" cy="226115"/>
          </a:xfrm>
          <a:prstGeom prst="rect">
            <a:avLst/>
          </a:prstGeom>
        </p:spPr>
      </p:pic>
      <p:sp>
        <p:nvSpPr>
          <p:cNvPr id="74" name="TextBox 29">
            <a:extLst>
              <a:ext uri="{FF2B5EF4-FFF2-40B4-BE49-F238E27FC236}">
                <a16:creationId xmlns:a16="http://schemas.microsoft.com/office/drawing/2014/main" id="{C43571D5-2960-27D4-3509-A12787ADD061}"/>
              </a:ext>
            </a:extLst>
          </p:cNvPr>
          <p:cNvSpPr txBox="1"/>
          <p:nvPr/>
        </p:nvSpPr>
        <p:spPr>
          <a:xfrm>
            <a:off x="1209644" y="4055031"/>
            <a:ext cx="1394869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err="1">
                <a:solidFill>
                  <a:srgbClr val="FFFFFF"/>
                </a:solidFill>
                <a:latin typeface="Roboto"/>
              </a:rPr>
              <a:t>BusinessTravel</a:t>
            </a:r>
            <a:endParaRPr sz="14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75" name="TextBox 30">
            <a:extLst>
              <a:ext uri="{FF2B5EF4-FFF2-40B4-BE49-F238E27FC236}">
                <a16:creationId xmlns:a16="http://schemas.microsoft.com/office/drawing/2014/main" id="{553DCF4E-2E3D-C7D8-D194-1F55B2F3B871}"/>
              </a:ext>
            </a:extLst>
          </p:cNvPr>
          <p:cNvSpPr txBox="1"/>
          <p:nvPr/>
        </p:nvSpPr>
        <p:spPr>
          <a:xfrm>
            <a:off x="4914777" y="4078984"/>
            <a:ext cx="1085490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9CA3AF"/>
                </a:solidFill>
                <a:latin typeface="Roboto"/>
              </a:rPr>
              <a:t>3 </a:t>
            </a:r>
            <a:r>
              <a:rPr lang="fr-FR" sz="1400" b="0" err="1">
                <a:solidFill>
                  <a:srgbClr val="9CA3AF"/>
                </a:solidFill>
                <a:latin typeface="Roboto"/>
              </a:rPr>
              <a:t>modalités</a:t>
            </a:r>
            <a:endParaRPr lang="fr-FR" sz="1400" b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76" name="TextBox 31">
            <a:extLst>
              <a:ext uri="{FF2B5EF4-FFF2-40B4-BE49-F238E27FC236}">
                <a16:creationId xmlns:a16="http://schemas.microsoft.com/office/drawing/2014/main" id="{6F15A533-627C-7477-CF03-8153D7D553D1}"/>
              </a:ext>
            </a:extLst>
          </p:cNvPr>
          <p:cNvSpPr txBox="1"/>
          <p:nvPr/>
        </p:nvSpPr>
        <p:spPr>
          <a:xfrm>
            <a:off x="828654" y="4588478"/>
            <a:ext cx="4981450" cy="34804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Roboto"/>
              </a:rPr>
              <a:t>Rarely: </a:t>
            </a:r>
            <a:r>
              <a:rPr sz="1400" b="1">
                <a:solidFill>
                  <a:srgbClr val="5EEAD4"/>
                </a:solidFill>
                <a:latin typeface="Roboto"/>
              </a:rPr>
              <a:t>3 129 (71%)</a:t>
            </a:r>
            <a:r>
              <a:rPr sz="1400" b="0">
                <a:solidFill>
                  <a:srgbClr val="E5E7EB"/>
                </a:solidFill>
                <a:latin typeface="Roboto"/>
              </a:rPr>
              <a:t> • Frequently: 840 (19%) • Non: 441 (10%)</a:t>
            </a:r>
          </a:p>
        </p:txBody>
      </p:sp>
      <p:sp>
        <p:nvSpPr>
          <p:cNvPr id="77" name="Rounded Rectangle 32">
            <a:extLst>
              <a:ext uri="{FF2B5EF4-FFF2-40B4-BE49-F238E27FC236}">
                <a16:creationId xmlns:a16="http://schemas.microsoft.com/office/drawing/2014/main" id="{482DBFD3-2297-0726-D80A-B0FCA6B19383}"/>
              </a:ext>
            </a:extLst>
          </p:cNvPr>
          <p:cNvSpPr/>
          <p:nvPr/>
        </p:nvSpPr>
        <p:spPr>
          <a:xfrm>
            <a:off x="6191095" y="3924299"/>
            <a:ext cx="5391015" cy="1362075"/>
          </a:xfrm>
          <a:prstGeom prst="roundRect">
            <a:avLst>
              <a:gd name="adj" fmla="val 1678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 Same Side Corner Rectangle 33">
            <a:extLst>
              <a:ext uri="{FF2B5EF4-FFF2-40B4-BE49-F238E27FC236}">
                <a16:creationId xmlns:a16="http://schemas.microsoft.com/office/drawing/2014/main" id="{BDA00E93-D986-A2DF-2053-C88A5CEE41C6}"/>
              </a:ext>
            </a:extLst>
          </p:cNvPr>
          <p:cNvSpPr/>
          <p:nvPr/>
        </p:nvSpPr>
        <p:spPr>
          <a:xfrm rot="16200000">
            <a:off x="5559588" y="4555806"/>
            <a:ext cx="136207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9" name="Picture 34" descr="image.png">
            <a:extLst>
              <a:ext uri="{FF2B5EF4-FFF2-40B4-BE49-F238E27FC236}">
                <a16:creationId xmlns:a16="http://schemas.microsoft.com/office/drawing/2014/main" id="{C852D74D-F4F6-3F4C-4BC8-10B017D763D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10164" y="4134264"/>
            <a:ext cx="266693" cy="208721"/>
          </a:xfrm>
          <a:prstGeom prst="rect">
            <a:avLst/>
          </a:prstGeom>
        </p:spPr>
      </p:pic>
      <p:sp>
        <p:nvSpPr>
          <p:cNvPr id="80" name="TextBox 35">
            <a:extLst>
              <a:ext uri="{FF2B5EF4-FFF2-40B4-BE49-F238E27FC236}">
                <a16:creationId xmlns:a16="http://schemas.microsoft.com/office/drawing/2014/main" id="{4D2E5004-D143-7EA0-7BAA-C41AA4DCCBC6}"/>
              </a:ext>
            </a:extLst>
          </p:cNvPr>
          <p:cNvSpPr txBox="1"/>
          <p:nvPr/>
        </p:nvSpPr>
        <p:spPr>
          <a:xfrm>
            <a:off x="6791155" y="4055031"/>
            <a:ext cx="1341970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err="1">
                <a:solidFill>
                  <a:srgbClr val="FFFFFF"/>
                </a:solidFill>
                <a:latin typeface="Roboto"/>
              </a:rPr>
              <a:t>EducationField</a:t>
            </a:r>
            <a:endParaRPr sz="14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81" name="TextBox 36">
            <a:extLst>
              <a:ext uri="{FF2B5EF4-FFF2-40B4-BE49-F238E27FC236}">
                <a16:creationId xmlns:a16="http://schemas.microsoft.com/office/drawing/2014/main" id="{DF3E6312-ACBB-BA51-829B-AC485921FD23}"/>
              </a:ext>
            </a:extLst>
          </p:cNvPr>
          <p:cNvSpPr txBox="1"/>
          <p:nvPr/>
        </p:nvSpPr>
        <p:spPr>
          <a:xfrm>
            <a:off x="10496287" y="4078984"/>
            <a:ext cx="1085490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Roboto"/>
              </a:rPr>
              <a:t>6 </a:t>
            </a:r>
            <a:r>
              <a:rPr sz="1400" b="0" err="1">
                <a:solidFill>
                  <a:srgbClr val="9CA3AF"/>
                </a:solidFill>
                <a:latin typeface="Roboto"/>
              </a:rPr>
              <a:t>modalités</a:t>
            </a:r>
            <a:endParaRPr sz="1400" b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82" name="TextBox 37">
            <a:extLst>
              <a:ext uri="{FF2B5EF4-FFF2-40B4-BE49-F238E27FC236}">
                <a16:creationId xmlns:a16="http://schemas.microsoft.com/office/drawing/2014/main" id="{8607433D-A53C-2F1D-FF43-C9871CF97262}"/>
              </a:ext>
            </a:extLst>
          </p:cNvPr>
          <p:cNvSpPr txBox="1"/>
          <p:nvPr/>
        </p:nvSpPr>
        <p:spPr>
          <a:xfrm>
            <a:off x="6410164" y="4445603"/>
            <a:ext cx="4083105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E5E7EB"/>
                </a:solidFill>
                <a:latin typeface="Roboto"/>
              </a:rPr>
              <a:t>Life Sciences: </a:t>
            </a:r>
            <a:r>
              <a:rPr lang="en-US" sz="1400" b="1">
                <a:solidFill>
                  <a:srgbClr val="5EEAD4"/>
                </a:solidFill>
                <a:latin typeface="Roboto"/>
              </a:rPr>
              <a:t>1 818 (41%)</a:t>
            </a:r>
            <a:r>
              <a:rPr lang="en-US" sz="1400" b="0">
                <a:solidFill>
                  <a:srgbClr val="E5E7EB"/>
                </a:solidFill>
                <a:latin typeface="Roboto"/>
              </a:rPr>
              <a:t> • Medical: 1 422 (32%)</a:t>
            </a:r>
          </a:p>
        </p:txBody>
      </p:sp>
      <p:sp>
        <p:nvSpPr>
          <p:cNvPr id="83" name="Rounded Rectangle 38">
            <a:extLst>
              <a:ext uri="{FF2B5EF4-FFF2-40B4-BE49-F238E27FC236}">
                <a16:creationId xmlns:a16="http://schemas.microsoft.com/office/drawing/2014/main" id="{88855A57-86FB-213D-0EB6-34B8532E2CD4}"/>
              </a:ext>
            </a:extLst>
          </p:cNvPr>
          <p:cNvSpPr/>
          <p:nvPr/>
        </p:nvSpPr>
        <p:spPr>
          <a:xfrm>
            <a:off x="609584" y="5476875"/>
            <a:ext cx="10972525" cy="1076325"/>
          </a:xfrm>
          <a:prstGeom prst="roundRect">
            <a:avLst>
              <a:gd name="adj" fmla="val 2123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 Same Side Corner Rectangle 39">
            <a:extLst>
              <a:ext uri="{FF2B5EF4-FFF2-40B4-BE49-F238E27FC236}">
                <a16:creationId xmlns:a16="http://schemas.microsoft.com/office/drawing/2014/main" id="{31444B0F-8E5D-8C68-B91F-A07A4C137C28}"/>
              </a:ext>
            </a:extLst>
          </p:cNvPr>
          <p:cNvSpPr/>
          <p:nvPr/>
        </p:nvSpPr>
        <p:spPr>
          <a:xfrm rot="16200000">
            <a:off x="120952" y="5965507"/>
            <a:ext cx="1076325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Picture 40" descr="image.png">
            <a:extLst>
              <a:ext uri="{FF2B5EF4-FFF2-40B4-BE49-F238E27FC236}">
                <a16:creationId xmlns:a16="http://schemas.microsoft.com/office/drawing/2014/main" id="{5A519CF3-4D4A-AFBA-1139-700AA36F9D3A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8654" y="5682490"/>
            <a:ext cx="266693" cy="217418"/>
          </a:xfrm>
          <a:prstGeom prst="rect">
            <a:avLst/>
          </a:prstGeom>
        </p:spPr>
      </p:pic>
      <p:sp>
        <p:nvSpPr>
          <p:cNvPr id="86" name="TextBox 41">
            <a:extLst>
              <a:ext uri="{FF2B5EF4-FFF2-40B4-BE49-F238E27FC236}">
                <a16:creationId xmlns:a16="http://schemas.microsoft.com/office/drawing/2014/main" id="{C20EADB8-82F9-A6D0-185C-10763876D189}"/>
              </a:ext>
            </a:extLst>
          </p:cNvPr>
          <p:cNvSpPr txBox="1"/>
          <p:nvPr/>
        </p:nvSpPr>
        <p:spPr>
          <a:xfrm>
            <a:off x="1209644" y="5607607"/>
            <a:ext cx="811376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err="1">
                <a:solidFill>
                  <a:srgbClr val="FFFFFF"/>
                </a:solidFill>
                <a:latin typeface="Roboto"/>
              </a:rPr>
              <a:t>JobRole</a:t>
            </a:r>
            <a:endParaRPr sz="14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87" name="TextBox 42">
            <a:extLst>
              <a:ext uri="{FF2B5EF4-FFF2-40B4-BE49-F238E27FC236}">
                <a16:creationId xmlns:a16="http://schemas.microsoft.com/office/drawing/2014/main" id="{9941677C-A491-718A-C991-F466ECD5E979}"/>
              </a:ext>
            </a:extLst>
          </p:cNvPr>
          <p:cNvSpPr txBox="1"/>
          <p:nvPr/>
        </p:nvSpPr>
        <p:spPr>
          <a:xfrm>
            <a:off x="10496287" y="5622034"/>
            <a:ext cx="1085490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Roboto"/>
              </a:rPr>
              <a:t>9 </a:t>
            </a:r>
            <a:r>
              <a:rPr sz="1400" b="0" err="1">
                <a:solidFill>
                  <a:srgbClr val="9CA3AF"/>
                </a:solidFill>
                <a:latin typeface="Roboto"/>
              </a:rPr>
              <a:t>modalités</a:t>
            </a:r>
            <a:endParaRPr sz="1400" b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88" name="TextBox 43">
            <a:extLst>
              <a:ext uri="{FF2B5EF4-FFF2-40B4-BE49-F238E27FC236}">
                <a16:creationId xmlns:a16="http://schemas.microsoft.com/office/drawing/2014/main" id="{A2D3DB2E-7B5A-373C-3700-F94B7C0D855C}"/>
              </a:ext>
            </a:extLst>
          </p:cNvPr>
          <p:cNvSpPr txBox="1"/>
          <p:nvPr/>
        </p:nvSpPr>
        <p:spPr>
          <a:xfrm>
            <a:off x="828654" y="5988653"/>
            <a:ext cx="8537850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E5E7EB"/>
                </a:solidFill>
                <a:latin typeface="Roboto"/>
              </a:rPr>
              <a:t>Sales Executive: </a:t>
            </a:r>
            <a:r>
              <a:rPr lang="en-US" sz="1400" b="1">
                <a:solidFill>
                  <a:srgbClr val="5EEAD4"/>
                </a:solidFill>
                <a:latin typeface="Roboto"/>
              </a:rPr>
              <a:t>978</a:t>
            </a:r>
            <a:r>
              <a:rPr lang="en-US" sz="1400" b="0">
                <a:solidFill>
                  <a:srgbClr val="E5E7EB"/>
                </a:solidFill>
                <a:latin typeface="Roboto"/>
              </a:rPr>
              <a:t> • Research Scientist: </a:t>
            </a:r>
            <a:r>
              <a:rPr lang="en-US" sz="1400" b="1">
                <a:solidFill>
                  <a:srgbClr val="5EEAD4"/>
                </a:solidFill>
                <a:latin typeface="Roboto"/>
              </a:rPr>
              <a:t>876</a:t>
            </a:r>
            <a:r>
              <a:rPr lang="en-US" sz="1400" b="0">
                <a:solidFill>
                  <a:srgbClr val="E5E7EB"/>
                </a:solidFill>
                <a:latin typeface="Roboto"/>
              </a:rPr>
              <a:t> • Laboratory Technician: 775 • Manufacturing Director: 557</a:t>
            </a:r>
          </a:p>
        </p:txBody>
      </p:sp>
      <p:sp>
        <p:nvSpPr>
          <p:cNvPr id="8" name="Rounded Rectangle 37">
            <a:extLst>
              <a:ext uri="{FF2B5EF4-FFF2-40B4-BE49-F238E27FC236}">
                <a16:creationId xmlns:a16="http://schemas.microsoft.com/office/drawing/2014/main" id="{0F99FAF2-75DD-7926-0D6D-C2F3F6DE1B6D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38">
            <a:extLst>
              <a:ext uri="{FF2B5EF4-FFF2-40B4-BE49-F238E27FC236}">
                <a16:creationId xmlns:a16="http://schemas.microsoft.com/office/drawing/2014/main" id="{FDC87538-55BF-677B-61BC-AF331FFA1633}"/>
              </a:ext>
            </a:extLst>
          </p:cNvPr>
          <p:cNvSpPr txBox="1"/>
          <p:nvPr/>
        </p:nvSpPr>
        <p:spPr>
          <a:xfrm>
            <a:off x="11610471" y="6243113"/>
            <a:ext cx="420590" cy="42338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8457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 descr="image.png">
            <a:extLst>
              <a:ext uri="{FF2B5EF4-FFF2-40B4-BE49-F238E27FC236}">
                <a16:creationId xmlns:a16="http://schemas.microsoft.com/office/drawing/2014/main" id="{88874251-E1E2-BADC-3BEA-5CA41D6A08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653" y="1986412"/>
            <a:ext cx="702866" cy="667740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E030650A-66F2-83A6-B035-18FCBEB6AD03}"/>
              </a:ext>
            </a:extLst>
          </p:cNvPr>
          <p:cNvSpPr txBox="1"/>
          <p:nvPr/>
        </p:nvSpPr>
        <p:spPr>
          <a:xfrm>
            <a:off x="5667716" y="3101627"/>
            <a:ext cx="856261" cy="8071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>
                <a:solidFill>
                  <a:srgbClr val="FFFFFF"/>
                </a:solidFill>
                <a:latin typeface="Poppins"/>
              </a:rPr>
              <a:t>03.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A58446-9630-C9AD-D48D-D55095B97C2D}"/>
              </a:ext>
            </a:extLst>
          </p:cNvPr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A12A4F6-0B75-3361-D9CA-424B5759A0AC}"/>
              </a:ext>
            </a:extLst>
          </p:cNvPr>
          <p:cNvSpPr txBox="1"/>
          <p:nvPr/>
        </p:nvSpPr>
        <p:spPr>
          <a:xfrm>
            <a:off x="3371464" y="4042950"/>
            <a:ext cx="5439246" cy="6104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200" b="1">
                <a:solidFill>
                  <a:srgbClr val="0288D1"/>
                </a:solidFill>
                <a:latin typeface="Poppins"/>
              </a:rPr>
              <a:t>Préparation des données</a:t>
            </a:r>
          </a:p>
        </p:txBody>
      </p:sp>
      <p:sp>
        <p:nvSpPr>
          <p:cNvPr id="13" name="Rounded Rectangle 37">
            <a:extLst>
              <a:ext uri="{FF2B5EF4-FFF2-40B4-BE49-F238E27FC236}">
                <a16:creationId xmlns:a16="http://schemas.microsoft.com/office/drawing/2014/main" id="{0E4BF811-6456-7FB9-F6B2-6D524CD059AA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E5165D4F-DEA2-05F9-BD92-F879CE5FA069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10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424167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40CC-FBC1-BCE4-04B0-F4181E9BD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>
            <a:extLst>
              <a:ext uri="{FF2B5EF4-FFF2-40B4-BE49-F238E27FC236}">
                <a16:creationId xmlns:a16="http://schemas.microsoft.com/office/drawing/2014/main" id="{ACB7AD47-58EE-05FA-59BE-28694B5E02CC}"/>
              </a:ext>
            </a:extLst>
          </p:cNvPr>
          <p:cNvSpPr txBox="1"/>
          <p:nvPr/>
        </p:nvSpPr>
        <p:spPr>
          <a:xfrm>
            <a:off x="609584" y="162164"/>
            <a:ext cx="5439246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Préparation</a:t>
            </a:r>
            <a:r>
              <a:rPr sz="3200" b="1">
                <a:solidFill>
                  <a:srgbClr val="FFFFFF"/>
                </a:solidFill>
                <a:latin typeface="Poppins"/>
              </a:rPr>
              <a:t> des données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0FC45D4-C8AC-2E91-AD7F-C87A8104A067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989D26EE-45EB-EFEE-6D0A-A5F8DAACCC2E}"/>
              </a:ext>
            </a:extLst>
          </p:cNvPr>
          <p:cNvSpPr/>
          <p:nvPr/>
        </p:nvSpPr>
        <p:spPr>
          <a:xfrm>
            <a:off x="609584" y="1725531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4B8A6">
              <a:alpha val="20000"/>
            </a:srgbClr>
          </a:soli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3" descr="image.png">
            <a:extLst>
              <a:ext uri="{FF2B5EF4-FFF2-40B4-BE49-F238E27FC236}">
                <a16:creationId xmlns:a16="http://schemas.microsoft.com/office/drawing/2014/main" id="{B493E453-67BF-4BE7-7BD9-EE877B61E1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881" y="1868407"/>
            <a:ext cx="228594" cy="17145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FF0FA882-289E-AB07-FE19-361DE6F77C9B}"/>
              </a:ext>
            </a:extLst>
          </p:cNvPr>
          <p:cNvSpPr txBox="1"/>
          <p:nvPr/>
        </p:nvSpPr>
        <p:spPr>
          <a:xfrm>
            <a:off x="1219169" y="1725531"/>
            <a:ext cx="3324141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315" b="1">
                <a:solidFill>
                  <a:srgbClr val="FFFFFF"/>
                </a:solidFill>
                <a:latin typeface="Roboto"/>
              </a:rPr>
              <a:t>Fusion des tables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63347CF-5D9B-AF23-CC71-2DA391E8A66A}"/>
              </a:ext>
            </a:extLst>
          </p:cNvPr>
          <p:cNvSpPr txBox="1"/>
          <p:nvPr/>
        </p:nvSpPr>
        <p:spPr>
          <a:xfrm>
            <a:off x="1219169" y="2056335"/>
            <a:ext cx="3283206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D1D5DB"/>
                </a:solidFill>
                <a:latin typeface="Roboto"/>
              </a:rPr>
              <a:t>3 tables RH </a:t>
            </a:r>
            <a:r>
              <a:rPr lang="fr-FR" sz="1400" b="0" err="1">
                <a:solidFill>
                  <a:srgbClr val="D1D5DB"/>
                </a:solidFill>
                <a:latin typeface="Roboto"/>
              </a:rPr>
              <a:t>fusionnées</a:t>
            </a:r>
            <a:r>
              <a:rPr lang="fr-FR" sz="1400" b="0">
                <a:solidFill>
                  <a:srgbClr val="D1D5DB"/>
                </a:solidFill>
                <a:latin typeface="Roboto"/>
              </a:rPr>
              <a:t> sur </a:t>
            </a:r>
            <a:r>
              <a:rPr lang="fr-FR" sz="1400" b="0" err="1">
                <a:solidFill>
                  <a:srgbClr val="D1D5DB"/>
                </a:solidFill>
                <a:latin typeface="Roboto"/>
              </a:rPr>
              <a:t>EmployeeID</a:t>
            </a:r>
            <a:endParaRPr lang="fr-FR" sz="14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17B33D50-17C0-D33B-1F38-FA37572E9F53}"/>
              </a:ext>
            </a:extLst>
          </p:cNvPr>
          <p:cNvSpPr/>
          <p:nvPr/>
        </p:nvSpPr>
        <p:spPr>
          <a:xfrm>
            <a:off x="609584" y="2601832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EF4444">
              <a:alpha val="20000"/>
            </a:srgbClr>
          </a:solidFill>
          <a:ln w="1651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7" descr="image.png">
            <a:extLst>
              <a:ext uri="{FF2B5EF4-FFF2-40B4-BE49-F238E27FC236}">
                <a16:creationId xmlns:a16="http://schemas.microsoft.com/office/drawing/2014/main" id="{311B6857-51CE-74D7-A8E5-242F2C2D4C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881" y="2747564"/>
            <a:ext cx="228594" cy="165734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5F09E41B-E19F-D65F-C2D1-5C11CC46C9D1}"/>
              </a:ext>
            </a:extLst>
          </p:cNvPr>
          <p:cNvSpPr txBox="1"/>
          <p:nvPr/>
        </p:nvSpPr>
        <p:spPr>
          <a:xfrm>
            <a:off x="1219169" y="2580164"/>
            <a:ext cx="2879250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400" b="1">
                <a:solidFill>
                  <a:srgbClr val="FFFFFF"/>
                </a:solidFill>
                <a:latin typeface="Roboto"/>
              </a:rPr>
              <a:t>Suppression </a:t>
            </a:r>
            <a:r>
              <a:rPr lang="fr-FR" sz="1400" b="1" err="1">
                <a:solidFill>
                  <a:srgbClr val="FFFFFF"/>
                </a:solidFill>
                <a:latin typeface="Roboto"/>
              </a:rPr>
              <a:t>colonnes</a:t>
            </a:r>
            <a:r>
              <a:rPr lang="fr-FR" sz="1400" b="1">
                <a:solidFill>
                  <a:srgbClr val="FFFFFF"/>
                </a:solidFill>
                <a:latin typeface="Roboto"/>
              </a:rPr>
              <a:t> </a:t>
            </a:r>
            <a:r>
              <a:rPr lang="fr-FR" sz="1400" b="1" err="1">
                <a:solidFill>
                  <a:srgbClr val="FFFFFF"/>
                </a:solidFill>
                <a:latin typeface="Roboto"/>
              </a:rPr>
              <a:t>constantes</a:t>
            </a:r>
            <a:endParaRPr lang="fr-FR" sz="14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DBDFAE9-0447-2732-569A-D534BC5B1F1D}"/>
              </a:ext>
            </a:extLst>
          </p:cNvPr>
          <p:cNvSpPr txBox="1"/>
          <p:nvPr/>
        </p:nvSpPr>
        <p:spPr>
          <a:xfrm>
            <a:off x="1219169" y="2913585"/>
            <a:ext cx="3342518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D1D5DB"/>
                </a:solidFill>
                <a:latin typeface="Roboto"/>
              </a:rPr>
              <a:t>EmployeeCount</a:t>
            </a:r>
            <a:r>
              <a:rPr sz="1400" b="0">
                <a:solidFill>
                  <a:srgbClr val="D1D5DB"/>
                </a:solidFill>
                <a:latin typeface="Roboto"/>
              </a:rPr>
              <a:t>, Over18,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StandardHours</a:t>
            </a:r>
            <a:endParaRPr sz="14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A9C611AD-142D-73D2-1117-921736EC06C3}"/>
              </a:ext>
            </a:extLst>
          </p:cNvPr>
          <p:cNvSpPr/>
          <p:nvPr/>
        </p:nvSpPr>
        <p:spPr>
          <a:xfrm>
            <a:off x="609584" y="3459082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3B82F6">
              <a:alpha val="20000"/>
            </a:srgbClr>
          </a:solidFill>
          <a:ln w="1651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1" descr="image.png">
            <a:extLst>
              <a:ext uri="{FF2B5EF4-FFF2-40B4-BE49-F238E27FC236}">
                <a16:creationId xmlns:a16="http://schemas.microsoft.com/office/drawing/2014/main" id="{CD0B7D64-C555-4B60-E06F-E77102F6475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881" y="3584811"/>
            <a:ext cx="228594" cy="205739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54807DF3-EADD-5B8F-E0C9-4D4F81E81B4D}"/>
              </a:ext>
            </a:extLst>
          </p:cNvPr>
          <p:cNvSpPr txBox="1"/>
          <p:nvPr/>
        </p:nvSpPr>
        <p:spPr>
          <a:xfrm>
            <a:off x="1219169" y="3437414"/>
            <a:ext cx="1755545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>
                <a:solidFill>
                  <a:srgbClr val="FFFFFF"/>
                </a:solidFill>
                <a:latin typeface="Roboto"/>
              </a:rPr>
              <a:t>Imputation des </a:t>
            </a:r>
            <a:r>
              <a:rPr sz="1400" b="1" err="1">
                <a:solidFill>
                  <a:srgbClr val="FFFFFF"/>
                </a:solidFill>
                <a:latin typeface="Roboto"/>
              </a:rPr>
              <a:t>NaN</a:t>
            </a:r>
            <a:endParaRPr sz="14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E6F9D73-19B3-BBA8-152C-C05418F80517}"/>
              </a:ext>
            </a:extLst>
          </p:cNvPr>
          <p:cNvSpPr txBox="1"/>
          <p:nvPr/>
        </p:nvSpPr>
        <p:spPr>
          <a:xfrm>
            <a:off x="1219169" y="3789884"/>
            <a:ext cx="4245008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 err="1">
                <a:solidFill>
                  <a:srgbClr val="D1D5DB"/>
                </a:solidFill>
                <a:latin typeface="Roboto"/>
              </a:rPr>
              <a:t>Médiane</a:t>
            </a:r>
            <a:r>
              <a:rPr sz="1400" b="0" dirty="0">
                <a:solidFill>
                  <a:srgbClr val="D1D5DB"/>
                </a:solidFill>
                <a:latin typeface="Roboto"/>
              </a:rPr>
              <a:t> pour </a:t>
            </a:r>
            <a:r>
              <a:rPr sz="1400" b="0" dirty="0" err="1">
                <a:solidFill>
                  <a:srgbClr val="D1D5DB"/>
                </a:solidFill>
                <a:latin typeface="Roboto"/>
              </a:rPr>
              <a:t>numériques</a:t>
            </a:r>
            <a:r>
              <a:rPr lang="fr-FR" sz="1400" b="0" dirty="0">
                <a:solidFill>
                  <a:srgbClr val="D1D5DB"/>
                </a:solidFill>
                <a:latin typeface="Roboto"/>
              </a:rPr>
              <a:t>, mode pour catégorielles</a:t>
            </a:r>
            <a:endParaRPr sz="1400" b="0" dirty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FF9B6CFC-CC70-6666-11A0-8CE6871B972F}"/>
              </a:ext>
            </a:extLst>
          </p:cNvPr>
          <p:cNvSpPr/>
          <p:nvPr/>
        </p:nvSpPr>
        <p:spPr>
          <a:xfrm>
            <a:off x="609584" y="4335382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A855F7">
              <a:alpha val="20000"/>
            </a:srgbClr>
          </a:soli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5" descr="image.png">
            <a:extLst>
              <a:ext uri="{FF2B5EF4-FFF2-40B4-BE49-F238E27FC236}">
                <a16:creationId xmlns:a16="http://schemas.microsoft.com/office/drawing/2014/main" id="{D744C360-343A-C768-EE84-6261F4312E0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3881" y="4475399"/>
            <a:ext cx="228594" cy="177164"/>
          </a:xfrm>
          <a:prstGeom prst="rect">
            <a:avLst/>
          </a:prstGeom>
        </p:spPr>
      </p:pic>
      <p:sp>
        <p:nvSpPr>
          <p:cNvPr id="16" name="TextBox 16">
            <a:extLst>
              <a:ext uri="{FF2B5EF4-FFF2-40B4-BE49-F238E27FC236}">
                <a16:creationId xmlns:a16="http://schemas.microsoft.com/office/drawing/2014/main" id="{6F899173-9F1D-5EA8-718C-A88D8E78D2C3}"/>
              </a:ext>
            </a:extLst>
          </p:cNvPr>
          <p:cNvSpPr txBox="1"/>
          <p:nvPr/>
        </p:nvSpPr>
        <p:spPr>
          <a:xfrm>
            <a:off x="1219169" y="4313714"/>
            <a:ext cx="1769972" cy="35766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400" b="1">
                <a:solidFill>
                  <a:srgbClr val="FFFFFF"/>
                </a:solidFill>
                <a:latin typeface="Roboto"/>
              </a:rPr>
              <a:t>Feature Engineering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628A814-A4EA-0F61-6EFB-4844174500BC}"/>
              </a:ext>
            </a:extLst>
          </p:cNvPr>
          <p:cNvSpPr txBox="1"/>
          <p:nvPr/>
        </p:nvSpPr>
        <p:spPr>
          <a:xfrm>
            <a:off x="1219169" y="4647135"/>
            <a:ext cx="3138936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D1D5DB"/>
                </a:solidFill>
                <a:latin typeface="Roboto"/>
              </a:rPr>
              <a:t>Calcul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moyenne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badgeage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journalière</a:t>
            </a:r>
            <a:endParaRPr sz="14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DE7AA72F-3491-F505-CE50-7DB224A1B8F8}"/>
              </a:ext>
            </a:extLst>
          </p:cNvPr>
          <p:cNvSpPr/>
          <p:nvPr/>
        </p:nvSpPr>
        <p:spPr>
          <a:xfrm>
            <a:off x="7924601" y="877807"/>
            <a:ext cx="3657508" cy="4943475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14B8A6">
                  <a:alpha val="30000"/>
                </a:srgbClr>
              </a:gs>
              <a:gs pos="100000">
                <a:srgbClr val="0D9488">
                  <a:alpha val="20000"/>
                </a:srgbClr>
              </a:gs>
            </a:gsLst>
            <a:lin ang="8100000" scaled="0"/>
          </a:gra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9" descr="image.png">
            <a:extLst>
              <a:ext uri="{FF2B5EF4-FFF2-40B4-BE49-F238E27FC236}">
                <a16:creationId xmlns:a16="http://schemas.microsoft.com/office/drawing/2014/main" id="{EDCED418-070B-3278-1DF0-B5BA31FF6D7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48563" y="1351009"/>
            <a:ext cx="609584" cy="463295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A18F020A-11D9-9BE1-5874-14EDB372D957}"/>
              </a:ext>
            </a:extLst>
          </p:cNvPr>
          <p:cNvSpPr txBox="1"/>
          <p:nvPr/>
        </p:nvSpPr>
        <p:spPr>
          <a:xfrm>
            <a:off x="9241067" y="2100419"/>
            <a:ext cx="1024576" cy="4694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104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Roboto Slab"/>
              </a:rPr>
              <a:t>Dataset</a:t>
            </a:r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4C2B7EE1-B8DB-E0A0-3AC4-6EF052F99F89}"/>
              </a:ext>
            </a:extLst>
          </p:cNvPr>
          <p:cNvSpPr/>
          <p:nvPr/>
        </p:nvSpPr>
        <p:spPr>
          <a:xfrm>
            <a:off x="8324641" y="2792331"/>
            <a:ext cx="2857428" cy="1200150"/>
          </a:xfrm>
          <a:prstGeom prst="roundRect">
            <a:avLst>
              <a:gd name="adj" fmla="val 1269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4EB66D5-3CB1-D6FF-BB5C-20A95329A778}"/>
              </a:ext>
            </a:extLst>
          </p:cNvPr>
          <p:cNvSpPr txBox="1"/>
          <p:nvPr/>
        </p:nvSpPr>
        <p:spPr>
          <a:xfrm>
            <a:off x="8515137" y="2982832"/>
            <a:ext cx="247643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5EEAD4"/>
                </a:solidFill>
                <a:latin typeface="Roboto"/>
              </a:rPr>
              <a:t>4 410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132ED56-7E5F-AAC0-B427-92A1CE1CA1FB}"/>
              </a:ext>
            </a:extLst>
          </p:cNvPr>
          <p:cNvSpPr txBox="1"/>
          <p:nvPr/>
        </p:nvSpPr>
        <p:spPr>
          <a:xfrm>
            <a:off x="8515137" y="3516232"/>
            <a:ext cx="247643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</a:rPr>
              <a:t>lignes</a:t>
            </a:r>
          </a:p>
        </p:txBody>
      </p:sp>
      <p:sp>
        <p:nvSpPr>
          <p:cNvPr id="24" name="Rounded Rectangle 24">
            <a:extLst>
              <a:ext uri="{FF2B5EF4-FFF2-40B4-BE49-F238E27FC236}">
                <a16:creationId xmlns:a16="http://schemas.microsoft.com/office/drawing/2014/main" id="{8E472380-A29E-E80D-CF25-5D0598D4E679}"/>
              </a:ext>
            </a:extLst>
          </p:cNvPr>
          <p:cNvSpPr/>
          <p:nvPr/>
        </p:nvSpPr>
        <p:spPr>
          <a:xfrm>
            <a:off x="8324641" y="4221082"/>
            <a:ext cx="2857428" cy="1200150"/>
          </a:xfrm>
          <a:prstGeom prst="roundRect">
            <a:avLst>
              <a:gd name="adj" fmla="val 1269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B7663F55-7F31-3F1A-D2CA-792EE33DCCE4}"/>
              </a:ext>
            </a:extLst>
          </p:cNvPr>
          <p:cNvSpPr txBox="1"/>
          <p:nvPr/>
        </p:nvSpPr>
        <p:spPr>
          <a:xfrm>
            <a:off x="8515137" y="4411581"/>
            <a:ext cx="2476438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B923C"/>
                </a:solidFill>
                <a:latin typeface="Roboto"/>
              </a:rPr>
              <a:t>27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48A8AEC-9AC2-1CCF-29F6-640634BEA606}"/>
              </a:ext>
            </a:extLst>
          </p:cNvPr>
          <p:cNvSpPr txBox="1"/>
          <p:nvPr/>
        </p:nvSpPr>
        <p:spPr>
          <a:xfrm>
            <a:off x="8515137" y="4944982"/>
            <a:ext cx="2476438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D1D5DB"/>
                </a:solidFill>
                <a:latin typeface="Roboto"/>
              </a:rPr>
              <a:t>colonnes</a:t>
            </a:r>
          </a:p>
        </p:txBody>
      </p:sp>
      <p:sp>
        <p:nvSpPr>
          <p:cNvPr id="27" name="Rounded Rectangle 27">
            <a:extLst>
              <a:ext uri="{FF2B5EF4-FFF2-40B4-BE49-F238E27FC236}">
                <a16:creationId xmlns:a16="http://schemas.microsoft.com/office/drawing/2014/main" id="{60E2F608-257F-70FB-B8CE-309100FE05AC}"/>
              </a:ext>
            </a:extLst>
          </p:cNvPr>
          <p:cNvSpPr/>
          <p:nvPr/>
        </p:nvSpPr>
        <p:spPr>
          <a:xfrm>
            <a:off x="609584" y="6202282"/>
            <a:ext cx="10972525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 Same Side Corner Rectangle 28">
            <a:extLst>
              <a:ext uri="{FF2B5EF4-FFF2-40B4-BE49-F238E27FC236}">
                <a16:creationId xmlns:a16="http://schemas.microsoft.com/office/drawing/2014/main" id="{10793E17-5F17-093F-98CF-F023E4E4B0AA}"/>
              </a:ext>
            </a:extLst>
          </p:cNvPr>
          <p:cNvSpPr/>
          <p:nvPr/>
        </p:nvSpPr>
        <p:spPr>
          <a:xfrm rot="16200000">
            <a:off x="389874" y="6421992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9" descr="image.png">
            <a:extLst>
              <a:ext uri="{FF2B5EF4-FFF2-40B4-BE49-F238E27FC236}">
                <a16:creationId xmlns:a16="http://schemas.microsoft.com/office/drawing/2014/main" id="{873B35D0-24A8-4F38-1818-DDAABA62290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0079" y="6406789"/>
            <a:ext cx="190495" cy="162485"/>
          </a:xfrm>
          <a:prstGeom prst="rect">
            <a:avLst/>
          </a:prstGeom>
        </p:spPr>
      </p:pic>
      <p:sp>
        <p:nvSpPr>
          <p:cNvPr id="30" name="TextBox 30">
            <a:extLst>
              <a:ext uri="{FF2B5EF4-FFF2-40B4-BE49-F238E27FC236}">
                <a16:creationId xmlns:a16="http://schemas.microsoft.com/office/drawing/2014/main" id="{14FAF942-7D04-84B1-894D-B3AAB56019F1}"/>
              </a:ext>
            </a:extLst>
          </p:cNvPr>
          <p:cNvSpPr txBox="1"/>
          <p:nvPr/>
        </p:nvSpPr>
        <p:spPr>
          <a:xfrm>
            <a:off x="1104872" y="6318865"/>
            <a:ext cx="3457934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Dataset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nettoyé</a:t>
            </a:r>
            <a:r>
              <a:rPr sz="1400" b="0">
                <a:solidFill>
                  <a:srgbClr val="D1D5DB"/>
                </a:solidFill>
                <a:latin typeface="Roboto"/>
              </a:rPr>
              <a:t> et prêt pour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modélisation</a:t>
            </a:r>
            <a:endParaRPr sz="1400" b="0">
              <a:solidFill>
                <a:srgbClr val="D1D5DB"/>
              </a:solidFill>
              <a:latin typeface="Roboto"/>
            </a:endParaRPr>
          </a:p>
        </p:txBody>
      </p:sp>
      <p:pic>
        <p:nvPicPr>
          <p:cNvPr id="31" name="Picture 31" descr="image.png">
            <a:extLst>
              <a:ext uri="{FF2B5EF4-FFF2-40B4-BE49-F238E27FC236}">
                <a16:creationId xmlns:a16="http://schemas.microsoft.com/office/drawing/2014/main" id="{8AE1C995-6D90-9166-C62F-28063E60E9B5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94904" y="6412392"/>
            <a:ext cx="190495" cy="156882"/>
          </a:xfrm>
          <a:prstGeom prst="rect">
            <a:avLst/>
          </a:prstGeom>
        </p:spPr>
      </p:pic>
      <p:sp>
        <p:nvSpPr>
          <p:cNvPr id="32" name="TextBox 32">
            <a:extLst>
              <a:ext uri="{FF2B5EF4-FFF2-40B4-BE49-F238E27FC236}">
                <a16:creationId xmlns:a16="http://schemas.microsoft.com/office/drawing/2014/main" id="{B930B35F-CAA8-763D-93D2-1E075702A9FB}"/>
              </a:ext>
            </a:extLst>
          </p:cNvPr>
          <p:cNvSpPr txBox="1"/>
          <p:nvPr/>
        </p:nvSpPr>
        <p:spPr>
          <a:xfrm>
            <a:off x="8264205" y="6333125"/>
            <a:ext cx="312771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0 </a:t>
            </a:r>
            <a:r>
              <a:rPr lang="fr-FR" sz="1400" b="0">
                <a:solidFill>
                  <a:srgbClr val="D1D5DB"/>
                </a:solidFill>
                <a:latin typeface="Roboto"/>
              </a:rPr>
              <a:t>valeur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lang="fr-FR" sz="1400" b="0">
                <a:solidFill>
                  <a:srgbClr val="D1D5DB"/>
                </a:solidFill>
                <a:latin typeface="Roboto"/>
              </a:rPr>
              <a:t>manquante</a:t>
            </a:r>
            <a:r>
              <a:rPr sz="1400" b="0">
                <a:solidFill>
                  <a:srgbClr val="D1D5DB"/>
                </a:solidFill>
                <a:latin typeface="Roboto"/>
              </a:rPr>
              <a:t> après imputation</a:t>
            </a:r>
          </a:p>
        </p:txBody>
      </p:sp>
      <p:sp>
        <p:nvSpPr>
          <p:cNvPr id="39" name="Rounded Rectangle 37">
            <a:extLst>
              <a:ext uri="{FF2B5EF4-FFF2-40B4-BE49-F238E27FC236}">
                <a16:creationId xmlns:a16="http://schemas.microsoft.com/office/drawing/2014/main" id="{82D1DE31-5C20-E78D-AA7D-70B97BA83D80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8">
            <a:extLst>
              <a:ext uri="{FF2B5EF4-FFF2-40B4-BE49-F238E27FC236}">
                <a16:creationId xmlns:a16="http://schemas.microsoft.com/office/drawing/2014/main" id="{3B395D1B-C8AA-0684-0ABA-514B9B23990A}"/>
              </a:ext>
            </a:extLst>
          </p:cNvPr>
          <p:cNvSpPr txBox="1"/>
          <p:nvPr/>
        </p:nvSpPr>
        <p:spPr>
          <a:xfrm>
            <a:off x="11647047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11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55018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A96D7-8C76-5424-8C73-78691C7D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53BB8E-222B-A7DD-AADB-7AB006503CC3}"/>
              </a:ext>
            </a:extLst>
          </p:cNvPr>
          <p:cNvSpPr txBox="1"/>
          <p:nvPr/>
        </p:nvSpPr>
        <p:spPr>
          <a:xfrm>
            <a:off x="609584" y="183104"/>
            <a:ext cx="5501763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Pipeline de prétraitement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BA6BC9-D82B-CE38-5E16-34C200E54D17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B163AA9E-02C8-7F56-6BB0-99E3772B5528}"/>
              </a:ext>
            </a:extLst>
          </p:cNvPr>
          <p:cNvSpPr/>
          <p:nvPr/>
        </p:nvSpPr>
        <p:spPr>
          <a:xfrm>
            <a:off x="173736" y="2123694"/>
            <a:ext cx="11878068" cy="3435851"/>
          </a:xfrm>
          <a:prstGeom prst="roundRect">
            <a:avLst>
              <a:gd name="adj" fmla="val 50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F9F8ECC-2465-F968-433F-E37254FDA8A6}"/>
              </a:ext>
            </a:extLst>
          </p:cNvPr>
          <p:cNvSpPr/>
          <p:nvPr/>
        </p:nvSpPr>
        <p:spPr>
          <a:xfrm>
            <a:off x="173736" y="2123694"/>
            <a:ext cx="11878068" cy="3435851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37">
            <a:extLst>
              <a:ext uri="{FF2B5EF4-FFF2-40B4-BE49-F238E27FC236}">
                <a16:creationId xmlns:a16="http://schemas.microsoft.com/office/drawing/2014/main" id="{8CFBC3EB-7876-BC44-21DC-E1AF5B5F803F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F0E22518-9D29-4BD0-EA15-A4364F13D26E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12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701991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0CBDFF-A30D-18DA-0628-29AD9DFCBAE9}"/>
              </a:ext>
            </a:extLst>
          </p:cNvPr>
          <p:cNvSpPr txBox="1"/>
          <p:nvPr/>
        </p:nvSpPr>
        <p:spPr>
          <a:xfrm>
            <a:off x="609584" y="183104"/>
            <a:ext cx="5692520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Transformation badgeuse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20812D-1575-E88D-B0DE-AB4344E3847D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DF0DC5D8-21E5-8F70-33F7-E5F5556F7925}"/>
              </a:ext>
            </a:extLst>
          </p:cNvPr>
          <p:cNvSpPr/>
          <p:nvPr/>
        </p:nvSpPr>
        <p:spPr>
          <a:xfrm>
            <a:off x="619109" y="1447800"/>
            <a:ext cx="10953476" cy="4781549"/>
          </a:xfrm>
          <a:prstGeom prst="roundRect">
            <a:avLst>
              <a:gd name="adj" fmla="val 318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F90A1DC-0960-BF14-E1B8-9443FD8A8627}"/>
              </a:ext>
            </a:extLst>
          </p:cNvPr>
          <p:cNvSpPr/>
          <p:nvPr/>
        </p:nvSpPr>
        <p:spPr>
          <a:xfrm>
            <a:off x="619109" y="1447800"/>
            <a:ext cx="10953476" cy="478154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37">
            <a:extLst>
              <a:ext uri="{FF2B5EF4-FFF2-40B4-BE49-F238E27FC236}">
                <a16:creationId xmlns:a16="http://schemas.microsoft.com/office/drawing/2014/main" id="{725810ED-F300-92CE-B27F-8CC8C8206FF9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FD91CA8E-03F7-77E5-B09B-CF2BB5F7E007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13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497730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A816B-09A1-4C20-95F6-1F8CE4F4E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09B4F9-B1DE-87DE-1631-F9880DB2B827}"/>
              </a:ext>
            </a:extLst>
          </p:cNvPr>
          <p:cNvSpPr txBox="1"/>
          <p:nvPr/>
        </p:nvSpPr>
        <p:spPr>
          <a:xfrm>
            <a:off x="609584" y="183104"/>
            <a:ext cx="4150432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Encodage </a:t>
            </a:r>
            <a:r>
              <a:rPr lang="fr-FR" sz="3200" b="1" err="1">
                <a:solidFill>
                  <a:srgbClr val="FFFFFF"/>
                </a:solidFill>
                <a:latin typeface="Poppins"/>
              </a:rPr>
              <a:t>One-Hot</a:t>
            </a:r>
            <a:endParaRPr lang="fr-FR"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007DB-ADB7-24C0-86B2-D54D54ED1B85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10D7D41B-E146-BF2D-0913-A5034DD6B2AB}"/>
              </a:ext>
            </a:extLst>
          </p:cNvPr>
          <p:cNvSpPr/>
          <p:nvPr/>
        </p:nvSpPr>
        <p:spPr>
          <a:xfrm>
            <a:off x="619109" y="1409699"/>
            <a:ext cx="10953476" cy="4848225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EC83E8E-BC36-49C7-B92A-3ECBAA2A8FBA}"/>
              </a:ext>
            </a:extLst>
          </p:cNvPr>
          <p:cNvSpPr/>
          <p:nvPr/>
        </p:nvSpPr>
        <p:spPr>
          <a:xfrm>
            <a:off x="619109" y="1409699"/>
            <a:ext cx="10953476" cy="4848225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37">
            <a:extLst>
              <a:ext uri="{FF2B5EF4-FFF2-40B4-BE49-F238E27FC236}">
                <a16:creationId xmlns:a16="http://schemas.microsoft.com/office/drawing/2014/main" id="{3274B1CD-8E70-2430-678C-2A24A494A985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8B5DE818-C09B-14F9-E9E3-DC719E77CE77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14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73461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671F5-53A1-641D-D558-BFEF0D04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727C58-A59A-B3AB-459F-72C63ACA07AF}"/>
              </a:ext>
            </a:extLst>
          </p:cNvPr>
          <p:cNvSpPr txBox="1"/>
          <p:nvPr/>
        </p:nvSpPr>
        <p:spPr>
          <a:xfrm>
            <a:off x="609584" y="183104"/>
            <a:ext cx="6126934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Jeux de données Train /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32B813-1630-FF4E-E86B-C36740FDEAF1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FADEBB55-0BB2-9552-688B-331CF0615184}"/>
              </a:ext>
            </a:extLst>
          </p:cNvPr>
          <p:cNvSpPr/>
          <p:nvPr/>
        </p:nvSpPr>
        <p:spPr>
          <a:xfrm>
            <a:off x="857228" y="1400175"/>
            <a:ext cx="10477238" cy="3800475"/>
          </a:xfrm>
          <a:prstGeom prst="roundRect">
            <a:avLst>
              <a:gd name="adj" fmla="val 401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2602F183-55B2-71DE-D340-0F80171ABF44}"/>
              </a:ext>
            </a:extLst>
          </p:cNvPr>
          <p:cNvSpPr/>
          <p:nvPr/>
        </p:nvSpPr>
        <p:spPr>
          <a:xfrm>
            <a:off x="857228" y="1400175"/>
            <a:ext cx="10477238" cy="3800475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CDA3E60-35DB-ECE6-1AD5-092F7DDE0B40}"/>
              </a:ext>
            </a:extLst>
          </p:cNvPr>
          <p:cNvSpPr/>
          <p:nvPr/>
        </p:nvSpPr>
        <p:spPr>
          <a:xfrm>
            <a:off x="609584" y="5791200"/>
            <a:ext cx="10972525" cy="685800"/>
          </a:xfrm>
          <a:prstGeom prst="roundRect">
            <a:avLst>
              <a:gd name="adj" fmla="val 2222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 Same Side Corner Rectangle 5">
            <a:extLst>
              <a:ext uri="{FF2B5EF4-FFF2-40B4-BE49-F238E27FC236}">
                <a16:creationId xmlns:a16="http://schemas.microsoft.com/office/drawing/2014/main" id="{3BEFBD5B-93A8-D89B-92CD-C7D275596ADC}"/>
              </a:ext>
            </a:extLst>
          </p:cNvPr>
          <p:cNvSpPr/>
          <p:nvPr/>
        </p:nvSpPr>
        <p:spPr>
          <a:xfrm rot="16200000">
            <a:off x="332724" y="6068060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6" descr="image.png">
            <a:extLst>
              <a:ext uri="{FF2B5EF4-FFF2-40B4-BE49-F238E27FC236}">
                <a16:creationId xmlns:a16="http://schemas.microsoft.com/office/drawing/2014/main" id="{8781870A-A562-3571-E56B-93472E2D25E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6058460"/>
            <a:ext cx="190495" cy="151279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976395B2-D761-3268-48D3-55BC1B590BB9}"/>
              </a:ext>
            </a:extLst>
          </p:cNvPr>
          <p:cNvSpPr txBox="1"/>
          <p:nvPr/>
        </p:nvSpPr>
        <p:spPr>
          <a:xfrm>
            <a:off x="1104872" y="5993741"/>
            <a:ext cx="1248996" cy="28071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Split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stratifié</a:t>
            </a:r>
            <a:r>
              <a:rPr sz="1400" b="0">
                <a:solidFill>
                  <a:srgbClr val="D1D5DB"/>
                </a:solidFill>
                <a:latin typeface="Roboto"/>
              </a:rPr>
              <a:t> :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6C22C930-D525-E0D8-ED00-6C171741C9EC}"/>
              </a:ext>
            </a:extLst>
          </p:cNvPr>
          <p:cNvSpPr txBox="1"/>
          <p:nvPr/>
        </p:nvSpPr>
        <p:spPr>
          <a:xfrm>
            <a:off x="2353868" y="5958475"/>
            <a:ext cx="379135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>
                <a:solidFill>
                  <a:srgbClr val="FFFFFF"/>
                </a:solidFill>
                <a:latin typeface="Roboto"/>
              </a:rPr>
              <a:t>R</a:t>
            </a:r>
            <a:r>
              <a:rPr lang="fr-FR" sz="1400" b="0">
                <a:solidFill>
                  <a:srgbClr val="FFFFFF"/>
                </a:solidFill>
                <a:latin typeface="Roboto"/>
              </a:rPr>
              <a:t>atio 16% Attrition conservé dans train et test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93A183-BA60-80B4-E51F-48E1CD1424A5}"/>
              </a:ext>
            </a:extLst>
          </p:cNvPr>
          <p:cNvSpPr/>
          <p:nvPr/>
        </p:nvSpPr>
        <p:spPr>
          <a:xfrm>
            <a:off x="6143634" y="5967692"/>
            <a:ext cx="9524" cy="3048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0" descr="image.png">
            <a:extLst>
              <a:ext uri="{FF2B5EF4-FFF2-40B4-BE49-F238E27FC236}">
                <a16:creationId xmlns:a16="http://schemas.microsoft.com/office/drawing/2014/main" id="{18AB5207-5DEA-5C6A-3D6D-1E1A420D6AA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7952" y="6030445"/>
            <a:ext cx="190495" cy="179294"/>
          </a:xfrm>
          <a:prstGeom prst="rect">
            <a:avLst/>
          </a:prstGeom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46256678-6E33-FC1A-CDDA-970B02D244EE}"/>
              </a:ext>
            </a:extLst>
          </p:cNvPr>
          <p:cNvSpPr txBox="1"/>
          <p:nvPr/>
        </p:nvSpPr>
        <p:spPr>
          <a:xfrm>
            <a:off x="6724645" y="5962102"/>
            <a:ext cx="346114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 err="1">
                <a:solidFill>
                  <a:srgbClr val="FFFFFF"/>
                </a:solidFill>
                <a:latin typeface="Roboto"/>
              </a:rPr>
              <a:t>StandardScaler</a:t>
            </a:r>
            <a:r>
              <a:rPr lang="fr-FR" sz="1400" b="0">
                <a:solidFill>
                  <a:srgbClr val="FFFFFF"/>
                </a:solidFill>
                <a:latin typeface="Roboto"/>
              </a:rPr>
              <a:t> fit </a:t>
            </a:r>
            <a:r>
              <a:rPr lang="fr-FR" sz="1400" b="0" err="1">
                <a:solidFill>
                  <a:srgbClr val="FFFFFF"/>
                </a:solidFill>
                <a:latin typeface="Roboto"/>
              </a:rPr>
              <a:t>uniquement</a:t>
            </a:r>
            <a:r>
              <a:rPr lang="fr-FR" sz="1400" b="0">
                <a:solidFill>
                  <a:srgbClr val="FFFFFF"/>
                </a:solidFill>
                <a:latin typeface="Roboto"/>
              </a:rPr>
              <a:t> sur le train</a:t>
            </a:r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BA1A375B-0CFC-0EE7-5A9D-38945111FBDB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9AD8557F-E731-6612-F130-706EC46F9B52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15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860177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48183" y="3105149"/>
            <a:ext cx="895327" cy="8001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>
                <a:solidFill>
                  <a:srgbClr val="FFFFFF"/>
                </a:solidFill>
                <a:latin typeface="Poppins"/>
              </a:rPr>
              <a:t>04.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218" y="4035769"/>
            <a:ext cx="3991735" cy="6247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600" b="1">
                <a:solidFill>
                  <a:srgbClr val="0288D1"/>
                </a:solidFill>
                <a:latin typeface="Poppins"/>
              </a:rPr>
              <a:t>Méthodologie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9" descr="image.png">
            <a:extLst>
              <a:ext uri="{FF2B5EF4-FFF2-40B4-BE49-F238E27FC236}">
                <a16:creationId xmlns:a16="http://schemas.microsoft.com/office/drawing/2014/main" id="{0E617702-D940-CB6A-3602-9DEAB7F12E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4857" y="2026894"/>
            <a:ext cx="761980" cy="619123"/>
          </a:xfrm>
          <a:prstGeom prst="rect">
            <a:avLst/>
          </a:prstGeom>
        </p:spPr>
      </p:pic>
      <p:sp>
        <p:nvSpPr>
          <p:cNvPr id="16" name="Rounded Rectangle 37">
            <a:extLst>
              <a:ext uri="{FF2B5EF4-FFF2-40B4-BE49-F238E27FC236}">
                <a16:creationId xmlns:a16="http://schemas.microsoft.com/office/drawing/2014/main" id="{C5EBDF28-730C-E956-AB18-1EA95320430C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38">
            <a:extLst>
              <a:ext uri="{FF2B5EF4-FFF2-40B4-BE49-F238E27FC236}">
                <a16:creationId xmlns:a16="http://schemas.microsoft.com/office/drawing/2014/main" id="{93B7945E-37FB-536D-BEA8-F827F9E8DFE6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16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9FAC69-84B5-A64B-C411-E8E0E74D3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6811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fr-FR" altLang="fr-FR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Méthodologie IA</a:t>
            </a:r>
            <a:endParaRPr kumimoji="0" lang="fr-FR" altLang="fr-F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900" b="0" i="0" u="none" strike="noStrike" cap="none" normalizeH="0" baseline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86C9E98-2F0A-4F04-9CD0-9D7678913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681163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fr-FR" altLang="fr-FR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Méthodologie IA</a:t>
            </a:r>
            <a:endParaRPr kumimoji="0" lang="fr-FR" altLang="fr-FR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900" b="0" i="0" u="none" strike="noStrike" cap="none" normalizeH="0" baseline="0">
                <a:ln>
                  <a:noFill/>
                </a:ln>
                <a:solidFill>
                  <a:srgbClr val="CCCCCC"/>
                </a:solidFill>
                <a:effectLst/>
                <a:latin typeface="Segoe WPC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584" y="2324100"/>
            <a:ext cx="3457488" cy="3028950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>
                  <a:alpha val="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52576" y="2782529"/>
            <a:ext cx="761980" cy="454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9684" y="3619499"/>
            <a:ext cx="145728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1794" b="1">
                <a:solidFill>
                  <a:srgbClr val="00BCD4"/>
                </a:solidFill>
                <a:latin typeface="Poppins"/>
              </a:rPr>
              <a:t>Supervisé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5347" y="3976227"/>
            <a:ext cx="2476438" cy="89627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E1F5FE"/>
                </a:solidFill>
                <a:latin typeface="Roboto"/>
              </a:rPr>
              <a:t> Données </a:t>
            </a:r>
            <a:r>
              <a:rPr lang="fr-FR" sz="1400" b="1" err="1">
                <a:solidFill>
                  <a:srgbClr val="FFFFFF"/>
                </a:solidFill>
                <a:latin typeface="Roboto"/>
              </a:rPr>
              <a:t>étiquetées</a:t>
            </a:r>
            <a:r>
              <a:rPr lang="fr-FR" sz="1400" b="1"/>
              <a:t>
</a:t>
            </a:r>
            <a:r>
              <a:rPr lang="fr-FR" sz="1400" b="1">
                <a:solidFill>
                  <a:srgbClr val="E1F5FE"/>
                </a:solidFill>
                <a:latin typeface="Roboto"/>
              </a:rPr>
              <a:t> Ex: Classification, </a:t>
            </a:r>
            <a:r>
              <a:rPr lang="fr-FR" sz="1400" b="1" err="1">
                <a:solidFill>
                  <a:srgbClr val="E1F5FE"/>
                </a:solidFill>
                <a:latin typeface="Roboto"/>
              </a:rPr>
              <a:t>Régression</a:t>
            </a:r>
            <a:r>
              <a:rPr lang="fr-FR" sz="1400" b="1">
                <a:solidFill>
                  <a:srgbClr val="E1F5FE"/>
                </a:solidFill>
                <a:latin typeface="Roboto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1865" y="2324100"/>
            <a:ext cx="3457488" cy="3028950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0288D1">
                  <a:alpha val="15000"/>
                </a:srgbClr>
              </a:gs>
              <a:gs pos="100000">
                <a:srgbClr val="0288D1">
                  <a:alpha val="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857" y="2727222"/>
            <a:ext cx="761980" cy="5653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38599" y="3619499"/>
            <a:ext cx="210497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1794" b="1">
                <a:solidFill>
                  <a:srgbClr val="0288D1"/>
                </a:solidFill>
                <a:latin typeface="Poppins"/>
              </a:rPr>
              <a:t>Non Supervisé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658" y="4133389"/>
            <a:ext cx="2847903" cy="89627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E1F5FE"/>
                </a:solidFill>
                <a:latin typeface="Roboto"/>
              </a:rPr>
              <a:t> Découverte de </a:t>
            </a:r>
            <a:r>
              <a:rPr lang="fr-FR" sz="1400" b="1">
                <a:solidFill>
                  <a:srgbClr val="FFFFFF"/>
                </a:solidFill>
                <a:latin typeface="Roboto"/>
              </a:rPr>
              <a:t>structures cachées</a:t>
            </a:r>
            <a:r>
              <a:rPr lang="fr-FR" sz="1400" b="1"/>
              <a:t>
</a:t>
            </a:r>
            <a:r>
              <a:rPr lang="fr-FR" sz="1400" b="1">
                <a:solidFill>
                  <a:srgbClr val="E1F5FE"/>
                </a:solidFill>
                <a:latin typeface="Roboto"/>
              </a:rPr>
              <a:t> Ex: Clustering, PCA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4621" y="2324100"/>
            <a:ext cx="3457488" cy="3028950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2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77138" y="2690351"/>
            <a:ext cx="761980" cy="6390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35284" y="3592722"/>
            <a:ext cx="2045688" cy="3964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sz="1794" b="1">
                <a:solidFill>
                  <a:srgbClr val="B3E5FC"/>
                </a:solidFill>
                <a:latin typeface="Poppins"/>
              </a:rPr>
              <a:t>Semi-</a:t>
            </a:r>
            <a:r>
              <a:rPr lang="fr-FR" sz="1794" b="1" err="1">
                <a:solidFill>
                  <a:srgbClr val="B3E5FC"/>
                </a:solidFill>
                <a:latin typeface="Poppins"/>
              </a:rPr>
              <a:t>Supervisé</a:t>
            </a:r>
            <a:endParaRPr sz="1794" b="1">
              <a:solidFill>
                <a:srgbClr val="B3E5FC"/>
              </a:solidFill>
              <a:latin typeface="Poppi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9434" y="3976227"/>
            <a:ext cx="2447863" cy="89627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E1F5FE"/>
                </a:solidFill>
                <a:latin typeface="Roboto"/>
              </a:rPr>
              <a:t> Combine les deux approches</a:t>
            </a:r>
            <a:r>
              <a:rPr lang="fr-FR" sz="1400" b="1"/>
              <a:t>
</a:t>
            </a:r>
            <a:r>
              <a:rPr lang="fr-FR" sz="1400" b="1">
                <a:solidFill>
                  <a:srgbClr val="E1F5FE"/>
                </a:solidFill>
                <a:latin typeface="Roboto"/>
              </a:rPr>
              <a:t> Quand labels sont rares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91E998-2C0D-514A-5040-D9357956AE11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BB91A203-088B-63FD-BF6D-156AA6FC01A3}"/>
              </a:ext>
            </a:extLst>
          </p:cNvPr>
          <p:cNvSpPr txBox="1"/>
          <p:nvPr/>
        </p:nvSpPr>
        <p:spPr>
          <a:xfrm>
            <a:off x="609584" y="183104"/>
            <a:ext cx="6134949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Types d’apprentissage en IA</a:t>
            </a:r>
          </a:p>
        </p:txBody>
      </p:sp>
      <p:sp>
        <p:nvSpPr>
          <p:cNvPr id="22" name="Rounded Rectangle 37">
            <a:extLst>
              <a:ext uri="{FF2B5EF4-FFF2-40B4-BE49-F238E27FC236}">
                <a16:creationId xmlns:a16="http://schemas.microsoft.com/office/drawing/2014/main" id="{47F1EEB9-FEED-E1FD-D6A6-E583BC130CD1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38">
            <a:extLst>
              <a:ext uri="{FF2B5EF4-FFF2-40B4-BE49-F238E27FC236}">
                <a16:creationId xmlns:a16="http://schemas.microsoft.com/office/drawing/2014/main" id="{FBB14DC1-E202-3B93-54E2-79772778987D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17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584" y="2266950"/>
            <a:ext cx="5295767" cy="3124200"/>
          </a:xfrm>
          <a:prstGeom prst="roundRect">
            <a:avLst>
              <a:gd name="adj" fmla="val 9756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288D1">
                  <a:alpha val="1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575" y="3133927"/>
            <a:ext cx="571485" cy="4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4457" y="3149925"/>
            <a:ext cx="2417585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00" b="1">
                <a:solidFill>
                  <a:srgbClr val="FFFFFF"/>
                </a:solidFill>
                <a:latin typeface="Poppins"/>
              </a:rPr>
              <a:t>Objectif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75" y="3873845"/>
            <a:ext cx="4533786" cy="72955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fr-FR" b="0">
                <a:solidFill>
                  <a:srgbClr val="E1F5FE"/>
                </a:solidFill>
                <a:latin typeface="Roboto"/>
              </a:rPr>
              <a:t> Réduire l'attrition et </a:t>
            </a:r>
            <a:r>
              <a:rPr lang="fr-FR" b="1">
                <a:solidFill>
                  <a:srgbClr val="00BCD4"/>
                </a:solidFill>
                <a:latin typeface="Roboto"/>
              </a:rPr>
              <a:t>mieux cibler les actions RH</a:t>
            </a:r>
            <a:r>
              <a:rPr lang="fr-FR" b="0">
                <a:solidFill>
                  <a:srgbClr val="E1F5FE"/>
                </a:solidFill>
                <a:latin typeface="Roboto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6342" y="2266950"/>
            <a:ext cx="5295767" cy="1447800"/>
          </a:xfrm>
          <a:prstGeom prst="roundRect">
            <a:avLst>
              <a:gd name="adj" fmla="val 21052"/>
            </a:avLst>
          </a:prstGeom>
          <a:solidFill>
            <a:srgbClr val="00BCD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5661502" y="2891790"/>
            <a:ext cx="1447800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8283" y="2628900"/>
            <a:ext cx="457188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19769" y="2610297"/>
            <a:ext cx="1853328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fr-FR" b="1">
                <a:solidFill>
                  <a:srgbClr val="00BCD4"/>
                </a:solidFill>
                <a:latin typeface="Poppins"/>
              </a:rPr>
              <a:t>Non Supervisé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8283" y="3112196"/>
            <a:ext cx="4331570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 err="1">
                <a:solidFill>
                  <a:srgbClr val="E1F5FE"/>
                </a:solidFill>
                <a:latin typeface="Roboto"/>
              </a:rPr>
              <a:t>KMeans</a:t>
            </a:r>
            <a:r>
              <a:rPr lang="fr-FR" sz="1400" b="1">
                <a:solidFill>
                  <a:srgbClr val="E1F5FE"/>
                </a:solidFill>
                <a:latin typeface="Roboto"/>
              </a:rPr>
              <a:t> • Découverte des profils/groupes employés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342" y="3943350"/>
            <a:ext cx="5295767" cy="1447800"/>
          </a:xfrm>
          <a:prstGeom prst="roundRect">
            <a:avLst>
              <a:gd name="adj" fmla="val 21052"/>
            </a:avLst>
          </a:prstGeom>
          <a:solidFill>
            <a:srgbClr val="0288D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5661502" y="4568190"/>
            <a:ext cx="1447800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8283" y="4282740"/>
            <a:ext cx="457188" cy="38801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9769" y="4286697"/>
            <a:ext cx="1327543" cy="38010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fr-FR" b="1">
                <a:solidFill>
                  <a:srgbClr val="0288D1"/>
                </a:solidFill>
                <a:latin typeface="Poppins"/>
              </a:rPr>
              <a:t>Supervisé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8283" y="4788596"/>
            <a:ext cx="3844258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E1F5FE"/>
                </a:solidFill>
                <a:latin typeface="Roboto"/>
              </a:rPr>
              <a:t>Classification • Prédiction du risque de départ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A541EA-DF8E-46C2-366E-E6AB1303DDA1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20" name="TextBox 1">
            <a:extLst>
              <a:ext uri="{FF2B5EF4-FFF2-40B4-BE49-F238E27FC236}">
                <a16:creationId xmlns:a16="http://schemas.microsoft.com/office/drawing/2014/main" id="{51102774-A5A8-7CA9-544C-FB0065C57987}"/>
              </a:ext>
            </a:extLst>
          </p:cNvPr>
          <p:cNvSpPr txBox="1"/>
          <p:nvPr/>
        </p:nvSpPr>
        <p:spPr>
          <a:xfrm>
            <a:off x="609584" y="183104"/>
            <a:ext cx="4336380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Approche IA choisie</a:t>
            </a:r>
          </a:p>
        </p:txBody>
      </p:sp>
      <p:sp>
        <p:nvSpPr>
          <p:cNvPr id="26" name="Rounded Rectangle 37">
            <a:extLst>
              <a:ext uri="{FF2B5EF4-FFF2-40B4-BE49-F238E27FC236}">
                <a16:creationId xmlns:a16="http://schemas.microsoft.com/office/drawing/2014/main" id="{43B49ACF-6965-AC7C-E905-4CF0FF592249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38">
            <a:extLst>
              <a:ext uri="{FF2B5EF4-FFF2-40B4-BE49-F238E27FC236}">
                <a16:creationId xmlns:a16="http://schemas.microsoft.com/office/drawing/2014/main" id="{5D1253C3-E0E5-F327-768D-049BD084183E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18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4857" y="2041422"/>
            <a:ext cx="761980" cy="5653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56496" y="3101435"/>
            <a:ext cx="878703" cy="80752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>
                <a:solidFill>
                  <a:srgbClr val="FFFFFF"/>
                </a:solidFill>
                <a:latin typeface="Poppins"/>
              </a:rPr>
              <a:t>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78852" y="4035769"/>
            <a:ext cx="2633991" cy="6247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600" b="1">
                <a:solidFill>
                  <a:srgbClr val="0288D1"/>
                </a:solidFill>
                <a:latin typeface="Poppins"/>
              </a:rPr>
              <a:t>Clustering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37">
            <a:extLst>
              <a:ext uri="{FF2B5EF4-FFF2-40B4-BE49-F238E27FC236}">
                <a16:creationId xmlns:a16="http://schemas.microsoft.com/office/drawing/2014/main" id="{4EA510B0-0EED-4CCF-9F33-5F77DA7B492F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CE91B25C-D0AE-2508-C310-8F9BEE218CC6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19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584" y="1828800"/>
            <a:ext cx="5257668" cy="1819275"/>
          </a:xfrm>
          <a:prstGeom prst="roundRect">
            <a:avLst>
              <a:gd name="adj" fmla="val 16753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575" y="2276474"/>
            <a:ext cx="533386" cy="400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76358" y="2273624"/>
            <a:ext cx="3465949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00" b="1">
                <a:solidFill>
                  <a:srgbClr val="00BCD4"/>
                </a:solidFill>
                <a:latin typeface="Poppins"/>
              </a:rPr>
              <a:t>Algorithme de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75" y="2876859"/>
            <a:ext cx="4071884" cy="4089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fr-FR" b="0">
                <a:solidFill>
                  <a:srgbClr val="E1F5FE"/>
                </a:solidFill>
                <a:latin typeface="Roboto"/>
              </a:rPr>
              <a:t> Regroupe les employés par </a:t>
            </a:r>
            <a:r>
              <a:rPr lang="fr-FR" b="1">
                <a:solidFill>
                  <a:srgbClr val="FFFFFF"/>
                </a:solidFill>
                <a:latin typeface="Roboto"/>
              </a:rPr>
              <a:t>similarité</a:t>
            </a:r>
            <a:r>
              <a:rPr lang="fr-FR" b="0">
                <a:solidFill>
                  <a:srgbClr val="E1F5FE"/>
                </a:solidFill>
                <a:latin typeface="Roboto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4019549"/>
            <a:ext cx="5257668" cy="1819275"/>
          </a:xfrm>
          <a:prstGeom prst="roundRect">
            <a:avLst>
              <a:gd name="adj" fmla="val 16753"/>
            </a:avLst>
          </a:prstGeom>
          <a:gradFill rotWithShape="1">
            <a:gsLst>
              <a:gs pos="0">
                <a:srgbClr val="0288D1">
                  <a:alpha val="20000"/>
                </a:srgbClr>
              </a:gs>
              <a:gs pos="100000">
                <a:srgbClr val="0288D1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575" y="4464194"/>
            <a:ext cx="533386" cy="4061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76358" y="4464374"/>
            <a:ext cx="1186479" cy="40575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2000" b="1">
                <a:solidFill>
                  <a:srgbClr val="0288D1"/>
                </a:solidFill>
                <a:latin typeface="Poppins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575" y="5067609"/>
            <a:ext cx="3446713" cy="4089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fr-FR" b="0">
                <a:solidFill>
                  <a:srgbClr val="E1F5FE"/>
                </a:solidFill>
                <a:latin typeface="Roboto"/>
              </a:rPr>
              <a:t> Minimiser l'</a:t>
            </a:r>
            <a:r>
              <a:rPr lang="fr-FR" b="1">
                <a:solidFill>
                  <a:srgbClr val="FFFFFF"/>
                </a:solidFill>
                <a:latin typeface="Roboto"/>
              </a:rPr>
              <a:t>inertie intra-cluster</a:t>
            </a:r>
            <a:r>
              <a:rPr lang="fr-FR" b="0">
                <a:solidFill>
                  <a:srgbClr val="E1F5FE"/>
                </a:solidFill>
                <a:latin typeface="Roboto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1" y="1543050"/>
            <a:ext cx="525766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2" name="Rounded Rectangle 11"/>
          <p:cNvSpPr/>
          <p:nvPr/>
        </p:nvSpPr>
        <p:spPr>
          <a:xfrm>
            <a:off x="6553036" y="17716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3" name="TextBox 12"/>
          <p:cNvSpPr txBox="1"/>
          <p:nvPr/>
        </p:nvSpPr>
        <p:spPr>
          <a:xfrm>
            <a:off x="6674099" y="1833152"/>
            <a:ext cx="215059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0F2027"/>
                </a:solidFill>
                <a:latin typeface="Poppi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2620" y="1835845"/>
            <a:ext cx="2290948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E1F5FE"/>
                </a:solidFill>
                <a:latin typeface="Roboto"/>
              </a:rPr>
              <a:t>Initialisation des centroids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1" y="2762249"/>
            <a:ext cx="525766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6" name="Rounded Rectangle 15"/>
          <p:cNvSpPr/>
          <p:nvPr/>
        </p:nvSpPr>
        <p:spPr>
          <a:xfrm>
            <a:off x="6553036" y="29908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7" name="TextBox 16"/>
          <p:cNvSpPr txBox="1"/>
          <p:nvPr/>
        </p:nvSpPr>
        <p:spPr>
          <a:xfrm>
            <a:off x="6656467" y="3042828"/>
            <a:ext cx="250325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2620" y="3055046"/>
            <a:ext cx="4334776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E1F5FE"/>
                </a:solidFill>
                <a:latin typeface="Roboto"/>
              </a:rPr>
              <a:t>Assignation des datas aux clusters les plus </a:t>
            </a:r>
            <a:r>
              <a:rPr lang="fr-FR" sz="1400" b="1" err="1">
                <a:solidFill>
                  <a:srgbClr val="E1F5FE"/>
                </a:solidFill>
                <a:latin typeface="Roboto"/>
              </a:rPr>
              <a:t>proches</a:t>
            </a:r>
            <a:endParaRPr lang="fr-FR" sz="1400" b="1">
              <a:solidFill>
                <a:srgbClr val="E1F5FE"/>
              </a:solidFill>
              <a:latin typeface="Roboto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24441" y="3981449"/>
            <a:ext cx="525766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0" name="Rounded Rectangle 19"/>
          <p:cNvSpPr/>
          <p:nvPr/>
        </p:nvSpPr>
        <p:spPr>
          <a:xfrm>
            <a:off x="6553036" y="42100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1" name="TextBox 20"/>
          <p:cNvSpPr txBox="1"/>
          <p:nvPr/>
        </p:nvSpPr>
        <p:spPr>
          <a:xfrm>
            <a:off x="6656888" y="4274246"/>
            <a:ext cx="256737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0F2027"/>
                </a:solidFill>
                <a:latin typeface="Poppi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2620" y="4274246"/>
            <a:ext cx="2181944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E1F5FE"/>
                </a:solidFill>
                <a:latin typeface="Roboto"/>
              </a:rPr>
              <a:t>Mise à jour des centroids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1" y="5200650"/>
            <a:ext cx="5257668" cy="9144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4" name="Rounded Rectangle 23"/>
          <p:cNvSpPr/>
          <p:nvPr/>
        </p:nvSpPr>
        <p:spPr>
          <a:xfrm>
            <a:off x="6553036" y="54292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5" name="TextBox 24"/>
          <p:cNvSpPr txBox="1"/>
          <p:nvPr/>
        </p:nvSpPr>
        <p:spPr>
          <a:xfrm>
            <a:off x="6656888" y="5481228"/>
            <a:ext cx="269561" cy="334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2620" y="5493445"/>
            <a:ext cx="2473691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1">
                <a:solidFill>
                  <a:srgbClr val="E1F5FE"/>
                </a:solidFill>
                <a:latin typeface="Roboto"/>
              </a:rPr>
              <a:t>Répéter jusqu'à convergence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91D78A-D319-D2B0-D7DD-5A39BD1A0F3F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8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31" name="TextBox 1">
            <a:extLst>
              <a:ext uri="{FF2B5EF4-FFF2-40B4-BE49-F238E27FC236}">
                <a16:creationId xmlns:a16="http://schemas.microsoft.com/office/drawing/2014/main" id="{32DCD447-7F1A-1CDA-92EC-15D08C138621}"/>
              </a:ext>
            </a:extLst>
          </p:cNvPr>
          <p:cNvSpPr txBox="1"/>
          <p:nvPr/>
        </p:nvSpPr>
        <p:spPr>
          <a:xfrm>
            <a:off x="609584" y="183104"/>
            <a:ext cx="5105821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Qu’est ce que </a:t>
            </a:r>
            <a:r>
              <a:rPr lang="fr-FR" sz="3200" b="1" err="1">
                <a:solidFill>
                  <a:srgbClr val="FFFFFF"/>
                </a:solidFill>
                <a:latin typeface="Poppins"/>
              </a:rPr>
              <a:t>KMeans</a:t>
            </a:r>
            <a:r>
              <a:rPr lang="fr-FR" sz="3200" b="1">
                <a:solidFill>
                  <a:srgbClr val="FFFFFF"/>
                </a:solidFill>
                <a:latin typeface="Poppins"/>
              </a:rPr>
              <a:t> ?</a:t>
            </a:r>
          </a:p>
        </p:txBody>
      </p:sp>
      <p:sp>
        <p:nvSpPr>
          <p:cNvPr id="36" name="Rounded Rectangle 37">
            <a:extLst>
              <a:ext uri="{FF2B5EF4-FFF2-40B4-BE49-F238E27FC236}">
                <a16:creationId xmlns:a16="http://schemas.microsoft.com/office/drawing/2014/main" id="{842F55BE-C4AF-A757-140C-CA472D625776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8">
            <a:extLst>
              <a:ext uri="{FF2B5EF4-FFF2-40B4-BE49-F238E27FC236}">
                <a16:creationId xmlns:a16="http://schemas.microsoft.com/office/drawing/2014/main" id="{011BC5D2-4884-19D7-F167-25170A759342}"/>
              </a:ext>
            </a:extLst>
          </p:cNvPr>
          <p:cNvSpPr txBox="1"/>
          <p:nvPr/>
        </p:nvSpPr>
        <p:spPr>
          <a:xfrm>
            <a:off x="11619615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20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99415-594E-1010-5C40-5FD359DD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C77DE30-B238-5E18-4D48-E149EF399684}"/>
              </a:ext>
            </a:extLst>
          </p:cNvPr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69D19D-7FE7-814C-802B-09677B2EB6F1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pic>
        <p:nvPicPr>
          <p:cNvPr id="26" name="Image 25" descr="The image depicts a silhouette plot with k=2, showing a cluster with a mean silhouette coefficient of 0.127, and a PCA plot indicating the first two principal components account for 15.7% and 9.5% variance, respectively.&#10;&#10;Le contenu généré par l’IA peut être incorrect.">
            <a:extLst>
              <a:ext uri="{FF2B5EF4-FFF2-40B4-BE49-F238E27FC236}">
                <a16:creationId xmlns:a16="http://schemas.microsoft.com/office/drawing/2014/main" id="{8F49D13F-2C7B-F1E2-B926-5AD21A671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036" y="868219"/>
            <a:ext cx="7846142" cy="2794129"/>
          </a:xfrm>
          <a:prstGeom prst="rect">
            <a:avLst/>
          </a:prstGeom>
        </p:spPr>
      </p:pic>
      <p:pic>
        <p:nvPicPr>
          <p:cNvPr id="28" name="Image 27" descr="The image displays a silhouette plot with k=4, indicating the average silhouette score of 0.086, alongside a PCA scatter plot showing two principal components (PC1 and PC2) explaining 15.7% and 9.5% of variance respectively.&#10;&#10;Le contenu généré par l’IA peut être incorrect.">
            <a:extLst>
              <a:ext uri="{FF2B5EF4-FFF2-40B4-BE49-F238E27FC236}">
                <a16:creationId xmlns:a16="http://schemas.microsoft.com/office/drawing/2014/main" id="{47932D44-715D-9197-FE9D-FE0FD9FEC8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08" b="-1365"/>
          <a:stretch>
            <a:fillRect/>
          </a:stretch>
        </p:blipFill>
        <p:spPr>
          <a:xfrm>
            <a:off x="2108036" y="3662349"/>
            <a:ext cx="7846142" cy="2597337"/>
          </a:xfrm>
          <a:prstGeom prst="rect">
            <a:avLst/>
          </a:prstGeom>
        </p:spPr>
      </p:pic>
      <p:sp>
        <p:nvSpPr>
          <p:cNvPr id="29" name="TextBox 1">
            <a:extLst>
              <a:ext uri="{FF2B5EF4-FFF2-40B4-BE49-F238E27FC236}">
                <a16:creationId xmlns:a16="http://schemas.microsoft.com/office/drawing/2014/main" id="{607D534F-E039-4692-B89F-5DD47DA96B91}"/>
              </a:ext>
            </a:extLst>
          </p:cNvPr>
          <p:cNvSpPr txBox="1"/>
          <p:nvPr/>
        </p:nvSpPr>
        <p:spPr>
          <a:xfrm>
            <a:off x="609584" y="183104"/>
            <a:ext cx="5695726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Comparaison des clusters</a:t>
            </a:r>
          </a:p>
        </p:txBody>
      </p:sp>
      <p:sp>
        <p:nvSpPr>
          <p:cNvPr id="9" name="Rounded Rectangle 37">
            <a:extLst>
              <a:ext uri="{FF2B5EF4-FFF2-40B4-BE49-F238E27FC236}">
                <a16:creationId xmlns:a16="http://schemas.microsoft.com/office/drawing/2014/main" id="{E88A08C1-85C0-65D2-3D26-ADF15885489B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6F394123-E03D-640C-CCB1-7E7A1C37EFF6}"/>
              </a:ext>
            </a:extLst>
          </p:cNvPr>
          <p:cNvSpPr txBox="1"/>
          <p:nvPr/>
        </p:nvSpPr>
        <p:spPr>
          <a:xfrm>
            <a:off x="11637903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21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1758547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13170" y="1857945"/>
            <a:ext cx="3272302" cy="1439893"/>
          </a:xfrm>
          <a:prstGeom prst="roundRect">
            <a:avLst>
              <a:gd name="adj" fmla="val 16753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8628" y="2079267"/>
            <a:ext cx="533386" cy="3030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4411" y="2059352"/>
            <a:ext cx="12001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0BCD4"/>
                </a:solidFill>
                <a:latin typeface="Poppins"/>
              </a:rPr>
              <a:t>Principe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240" y="2569515"/>
            <a:ext cx="2925817" cy="3961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1F5FE"/>
                </a:solidFill>
                <a:latin typeface="Roboto"/>
              </a:rPr>
              <a:t> Tracer l'</a:t>
            </a:r>
            <a:r>
              <a:rPr lang="fr-FR" sz="1400" b="1">
                <a:solidFill>
                  <a:srgbClr val="FFFFFF"/>
                </a:solidFill>
                <a:latin typeface="Roboto"/>
              </a:rPr>
              <a:t>inertie</a:t>
            </a:r>
            <a:r>
              <a:rPr lang="fr-FR" sz="1400" b="0">
                <a:solidFill>
                  <a:srgbClr val="E1F5FE"/>
                </a:solidFill>
                <a:latin typeface="Roboto"/>
              </a:rPr>
              <a:t> en fonction de k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3169" y="3972495"/>
            <a:ext cx="3272303" cy="1439425"/>
          </a:xfrm>
          <a:prstGeom prst="roundRect">
            <a:avLst>
              <a:gd name="adj" fmla="val 16753"/>
            </a:avLst>
          </a:prstGeom>
          <a:gradFill rotWithShape="1">
            <a:gsLst>
              <a:gs pos="0">
                <a:srgbClr val="0288D1">
                  <a:alpha val="20000"/>
                </a:srgbClr>
              </a:gs>
              <a:gs pos="100000">
                <a:srgbClr val="0288D1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19" y="4263326"/>
            <a:ext cx="533386" cy="2788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0502" y="4231288"/>
            <a:ext cx="125726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err="1">
                <a:solidFill>
                  <a:srgbClr val="0288D1"/>
                </a:solidFill>
                <a:latin typeface="Poppins"/>
              </a:rPr>
              <a:t>Décision</a:t>
            </a:r>
            <a:endParaRPr sz="1794" b="1">
              <a:solidFill>
                <a:srgbClr val="0288D1"/>
              </a:solidFill>
              <a:latin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8628" y="4710878"/>
            <a:ext cx="2229953" cy="39613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1F5FE"/>
                </a:solidFill>
                <a:latin typeface="Roboto"/>
              </a:rPr>
              <a:t> k = </a:t>
            </a:r>
            <a:r>
              <a:rPr lang="fr-FR" sz="1400" b="1">
                <a:solidFill>
                  <a:srgbClr val="FFFFFF"/>
                </a:solidFill>
                <a:latin typeface="Roboto"/>
              </a:rPr>
              <a:t>3</a:t>
            </a:r>
            <a:r>
              <a:rPr lang="fr-FR" sz="1400" b="0">
                <a:solidFill>
                  <a:srgbClr val="E1F5FE"/>
                </a:solidFill>
                <a:latin typeface="Roboto"/>
              </a:rPr>
              <a:t> au point de coude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80295" y="1635149"/>
            <a:ext cx="7648465" cy="4086169"/>
          </a:xfrm>
          <a:prstGeom prst="roundRect">
            <a:avLst>
              <a:gd name="adj" fmla="val 622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mage 14" descr="The diagram depicts a plot showing the relationship between elbow method (Methode du coude) and inertia, with data points ranging from 57,500 to 75,000.&#10;&#10;Le contenu généré par l’IA peut être incorrect.">
            <a:extLst>
              <a:ext uri="{FF2B5EF4-FFF2-40B4-BE49-F238E27FC236}">
                <a16:creationId xmlns:a16="http://schemas.microsoft.com/office/drawing/2014/main" id="{207F647E-9FD2-F088-B82C-D2112E0B7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639" y="1928237"/>
            <a:ext cx="7223775" cy="355397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AEF325F-9BEE-217B-15C7-A475A8EDC280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6E0D4933-29EB-3E47-8BCE-83CF34C9C5CA}"/>
              </a:ext>
            </a:extLst>
          </p:cNvPr>
          <p:cNvSpPr txBox="1"/>
          <p:nvPr/>
        </p:nvSpPr>
        <p:spPr>
          <a:xfrm>
            <a:off x="609584" y="183104"/>
            <a:ext cx="4127990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Méthode du Coude</a:t>
            </a:r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2899963F-056E-E285-C4FF-B0CF37A99591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E6DA185F-754B-3C3B-8D62-54428A4FECE1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22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584" y="1638299"/>
            <a:ext cx="3447963" cy="1783873"/>
          </a:xfrm>
          <a:prstGeom prst="roundRect">
            <a:avLst>
              <a:gd name="adj" fmla="val 13913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0839" y="1892799"/>
            <a:ext cx="499471" cy="3802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5293" y="1882579"/>
            <a:ext cx="2277917" cy="39645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0BCD4"/>
                </a:solidFill>
                <a:latin typeface="Poppins"/>
              </a:rPr>
              <a:t>Score Silhouette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545" y="2426511"/>
            <a:ext cx="2951854" cy="71788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1F5FE"/>
                </a:solidFill>
                <a:latin typeface="Roboto"/>
              </a:rPr>
              <a:t>Qualité</a:t>
            </a:r>
            <a:r>
              <a:rPr sz="1400" b="0">
                <a:solidFill>
                  <a:srgbClr val="E1F5FE"/>
                </a:solidFill>
                <a:latin typeface="Roboto"/>
              </a:rPr>
              <a:t> du clustering : </a:t>
            </a:r>
            <a:r>
              <a:rPr sz="1400" b="1" err="1">
                <a:solidFill>
                  <a:srgbClr val="FFFFFF"/>
                </a:solidFill>
                <a:latin typeface="Roboto"/>
              </a:rPr>
              <a:t>cohésion</a:t>
            </a:r>
            <a:r>
              <a:rPr sz="1400" b="1">
                <a:solidFill>
                  <a:srgbClr val="FFFFFF"/>
                </a:solidFill>
                <a:latin typeface="Roboto"/>
              </a:rPr>
              <a:t> vs </a:t>
            </a:r>
            <a:r>
              <a:rPr sz="1400" b="1" err="1">
                <a:solidFill>
                  <a:srgbClr val="FFFFFF"/>
                </a:solidFill>
                <a:latin typeface="Roboto"/>
              </a:rPr>
              <a:t>séparation</a:t>
            </a:r>
            <a:r>
              <a:rPr sz="1400" b="0">
                <a:solidFill>
                  <a:srgbClr val="E1F5FE"/>
                </a:solidFill>
                <a:latin typeface="Roboto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5" y="4133850"/>
            <a:ext cx="3447964" cy="146756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0288D1">
                  <a:alpha val="20000"/>
                </a:srgbClr>
              </a:gs>
              <a:gs pos="100000">
                <a:srgbClr val="0288D1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544" y="4320316"/>
            <a:ext cx="2081092" cy="39645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0288D1"/>
                </a:solidFill>
                <a:latin typeface="Poppins"/>
              </a:rPr>
              <a:t>Validation k=3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0427" y="4799906"/>
            <a:ext cx="1845061" cy="48077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00BCD4"/>
                </a:solidFill>
                <a:latin typeface="Poppins"/>
              </a:rPr>
              <a:t>0.1366</a:t>
            </a:r>
            <a:endParaRPr sz="2000" b="1">
              <a:solidFill>
                <a:srgbClr val="00BCD4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839" y="4858256"/>
            <a:ext cx="1595772" cy="3640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E1F5FE"/>
                </a:solidFill>
                <a:latin typeface="Roboto"/>
              </a:rPr>
              <a:t>Score maximal 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108" y="1735103"/>
            <a:ext cx="7545107" cy="3920232"/>
          </a:xfrm>
          <a:prstGeom prst="roundRect">
            <a:avLst>
              <a:gd name="adj" fmla="val 6225"/>
            </a:avLst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Image 15" descr="The diagram displays a plot of silhouette score values on the y-axis against the number of clusters (k) on the x-axis, indicating the quality of clustering as k increases.&#10;&#10;Le contenu généré par l’IA peut être incorrect.">
            <a:extLst>
              <a:ext uri="{FF2B5EF4-FFF2-40B4-BE49-F238E27FC236}">
                <a16:creationId xmlns:a16="http://schemas.microsoft.com/office/drawing/2014/main" id="{3D33F2B0-918C-C879-E2B6-A4D1B82DC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958" y="1941784"/>
            <a:ext cx="7223775" cy="355397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F2EC7D-DCE0-78B1-ED76-709223F39A6B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0EEC6323-9CF7-5CA0-F2C7-79D103913789}"/>
              </a:ext>
            </a:extLst>
          </p:cNvPr>
          <p:cNvSpPr txBox="1"/>
          <p:nvPr/>
        </p:nvSpPr>
        <p:spPr>
          <a:xfrm>
            <a:off x="609584" y="183104"/>
            <a:ext cx="4253024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Méthode Silhouette</a:t>
            </a:r>
          </a:p>
        </p:txBody>
      </p:sp>
      <p:sp>
        <p:nvSpPr>
          <p:cNvPr id="21" name="Rounded Rectangle 37">
            <a:extLst>
              <a:ext uri="{FF2B5EF4-FFF2-40B4-BE49-F238E27FC236}">
                <a16:creationId xmlns:a16="http://schemas.microsoft.com/office/drawing/2014/main" id="{5EC14635-991F-7521-B8A7-90878B081254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507A7AA2-5656-96B6-2627-C5693B84F520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23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336146" y="5314208"/>
            <a:ext cx="1997774" cy="1310706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0BCD4">
                  <a:alpha val="15000"/>
                </a:srgbClr>
              </a:gs>
              <a:gs pos="100000">
                <a:srgbClr val="00BCD4">
                  <a:alpha val="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/>
          </a:p>
        </p:txBody>
      </p:sp>
      <p:sp>
        <p:nvSpPr>
          <p:cNvPr id="4" name="TextBox 3"/>
          <p:cNvSpPr txBox="1"/>
          <p:nvPr/>
        </p:nvSpPr>
        <p:spPr>
          <a:xfrm>
            <a:off x="2635642" y="5427639"/>
            <a:ext cx="1328679" cy="35573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2000" b="1">
                <a:solidFill>
                  <a:srgbClr val="00BCD4"/>
                </a:solidFill>
                <a:latin typeface="Poppins"/>
              </a:rPr>
              <a:t>Cluster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5642" y="5794080"/>
            <a:ext cx="1285842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400" b="0">
                <a:solidFill>
                  <a:srgbClr val="E1F5FE"/>
                </a:solidFill>
                <a:latin typeface="Roboto"/>
              </a:rPr>
              <a:t>642 employés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4496" y="6120768"/>
            <a:ext cx="1588135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B3E5FC"/>
                </a:solidFill>
                <a:latin typeface="Roboto"/>
              </a:rPr>
              <a:t>18.7% attrition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7763" y="5314208"/>
            <a:ext cx="2166937" cy="1310706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0288D1">
                  <a:alpha val="15000"/>
                </a:srgbClr>
              </a:gs>
              <a:gs pos="100000">
                <a:srgbClr val="0288D1">
                  <a:alpha val="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000"/>
          </a:p>
        </p:txBody>
      </p:sp>
      <p:sp>
        <p:nvSpPr>
          <p:cNvPr id="8" name="TextBox 7"/>
          <p:cNvSpPr txBox="1"/>
          <p:nvPr/>
        </p:nvSpPr>
        <p:spPr>
          <a:xfrm>
            <a:off x="5262583" y="5460188"/>
            <a:ext cx="1476337" cy="35573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2000" b="1">
                <a:solidFill>
                  <a:srgbClr val="0288D1"/>
                </a:solidFill>
                <a:latin typeface="Poppins"/>
              </a:rPr>
              <a:t>Cluster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5096" y="5844930"/>
            <a:ext cx="1792270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600" b="0">
                <a:solidFill>
                  <a:srgbClr val="E1F5FE"/>
                </a:solidFill>
                <a:latin typeface="Roboto"/>
              </a:rPr>
              <a:t>1 020 employés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7491" y="6158558"/>
            <a:ext cx="1506520" cy="28071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b="0">
                <a:solidFill>
                  <a:srgbClr val="B3E5FC"/>
                </a:solidFill>
                <a:latin typeface="Roboto"/>
              </a:rPr>
              <a:t>11.2% attrition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08900" y="5314208"/>
            <a:ext cx="2236787" cy="1310706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2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/>
          </a:p>
        </p:txBody>
      </p:sp>
      <p:sp>
        <p:nvSpPr>
          <p:cNvPr id="12" name="TextBox 11"/>
          <p:cNvSpPr txBox="1"/>
          <p:nvPr/>
        </p:nvSpPr>
        <p:spPr>
          <a:xfrm>
            <a:off x="8078927" y="5460188"/>
            <a:ext cx="1392155" cy="355738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2000" b="1">
                <a:solidFill>
                  <a:srgbClr val="FFFFFF"/>
                </a:solidFill>
                <a:latin typeface="Poppins"/>
              </a:rPr>
              <a:t>Cluster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5288" y="5794080"/>
            <a:ext cx="1593768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lang="fr-FR" sz="1400" b="0">
                <a:solidFill>
                  <a:srgbClr val="E1F5FE"/>
                </a:solidFill>
                <a:latin typeface="Roboto"/>
              </a:rPr>
              <a:t>2 748 employés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5240" y="6110064"/>
            <a:ext cx="1285842" cy="2775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200" b="0">
                <a:solidFill>
                  <a:srgbClr val="B3E5FC"/>
                </a:solidFill>
                <a:latin typeface="Roboto"/>
              </a:rPr>
              <a:t>17.4% attrition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CD4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34D4E2-7281-6CEF-42FA-997D2E419912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26" name="TextBox 1">
            <a:extLst>
              <a:ext uri="{FF2B5EF4-FFF2-40B4-BE49-F238E27FC236}">
                <a16:creationId xmlns:a16="http://schemas.microsoft.com/office/drawing/2014/main" id="{81D25770-DA3E-6DB8-578F-CB8D4FFC7F5D}"/>
              </a:ext>
            </a:extLst>
          </p:cNvPr>
          <p:cNvSpPr txBox="1"/>
          <p:nvPr/>
        </p:nvSpPr>
        <p:spPr>
          <a:xfrm>
            <a:off x="609584" y="183104"/>
            <a:ext cx="5474512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Nombre idéal de Clusters</a:t>
            </a:r>
          </a:p>
        </p:txBody>
      </p:sp>
      <p:pic>
        <p:nvPicPr>
          <p:cNvPr id="28" name="Image 27" descr="The image is a silhouette plot comparing cluster cohesion for k=3, with PCA 2D data on the axes, and includes a silhouette coefficient for each data point.&#10;&#10;Le contenu généré par l’IA peut être incorrect.">
            <a:extLst>
              <a:ext uri="{FF2B5EF4-FFF2-40B4-BE49-F238E27FC236}">
                <a16:creationId xmlns:a16="http://schemas.microsoft.com/office/drawing/2014/main" id="{2FF39860-AADF-FD73-5DE3-0D5647274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53" y="1107767"/>
            <a:ext cx="10275693" cy="3659330"/>
          </a:xfrm>
          <a:prstGeom prst="rect">
            <a:avLst/>
          </a:prstGeom>
        </p:spPr>
      </p:pic>
      <p:sp>
        <p:nvSpPr>
          <p:cNvPr id="32" name="Rounded Rectangle 37">
            <a:extLst>
              <a:ext uri="{FF2B5EF4-FFF2-40B4-BE49-F238E27FC236}">
                <a16:creationId xmlns:a16="http://schemas.microsoft.com/office/drawing/2014/main" id="{DF8E6E78-C89A-13BE-6C02-7B9ED59B6456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8">
            <a:extLst>
              <a:ext uri="{FF2B5EF4-FFF2-40B4-BE49-F238E27FC236}">
                <a16:creationId xmlns:a16="http://schemas.microsoft.com/office/drawing/2014/main" id="{9A24D9ED-5E41-D9E7-E9E8-8F686AA930C2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24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CCAF2665-44AD-068B-F9E5-DA1AFA147DDA}"/>
              </a:ext>
            </a:extLst>
          </p:cNvPr>
          <p:cNvSpPr txBox="1"/>
          <p:nvPr/>
        </p:nvSpPr>
        <p:spPr>
          <a:xfrm>
            <a:off x="5660502" y="3101627"/>
            <a:ext cx="870688" cy="8071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>
                <a:solidFill>
                  <a:srgbClr val="FFFFFF"/>
                </a:solidFill>
                <a:latin typeface="Poppins"/>
              </a:rPr>
              <a:t>06.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65D5CC-F7A1-4C76-0C1B-DCB829B1B032}"/>
              </a:ext>
            </a:extLst>
          </p:cNvPr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E86BC-E788-3272-B1FE-8664AC6DE959}"/>
              </a:ext>
            </a:extLst>
          </p:cNvPr>
          <p:cNvSpPr txBox="1"/>
          <p:nvPr/>
        </p:nvSpPr>
        <p:spPr>
          <a:xfrm>
            <a:off x="3305744" y="4035769"/>
            <a:ext cx="5570692" cy="6247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600" b="1">
                <a:solidFill>
                  <a:srgbClr val="0288D1"/>
                </a:solidFill>
                <a:latin typeface="Poppins"/>
              </a:rPr>
              <a:t>Modèles de </a:t>
            </a:r>
            <a:r>
              <a:rPr lang="fr-FR" sz="3600" b="1" err="1">
                <a:solidFill>
                  <a:srgbClr val="0288D1"/>
                </a:solidFill>
                <a:latin typeface="Poppins"/>
              </a:rPr>
              <a:t>Regression</a:t>
            </a:r>
            <a:endParaRPr lang="fr-FR" sz="3600" b="1">
              <a:solidFill>
                <a:srgbClr val="0288D1"/>
              </a:solidFill>
              <a:latin typeface="Poppins"/>
            </a:endParaRP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47F400ED-F1A6-10DE-7931-3DFF9110A7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09292" y="2056214"/>
            <a:ext cx="912504" cy="661579"/>
          </a:xfrm>
          <a:prstGeom prst="rect">
            <a:avLst/>
          </a:prstGeom>
        </p:spPr>
      </p:pic>
      <p:sp>
        <p:nvSpPr>
          <p:cNvPr id="20" name="Rounded Rectangle 37">
            <a:extLst>
              <a:ext uri="{FF2B5EF4-FFF2-40B4-BE49-F238E27FC236}">
                <a16:creationId xmlns:a16="http://schemas.microsoft.com/office/drawing/2014/main" id="{0ECAAE9C-0BB9-8299-698F-FF6166AE7AF3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38">
            <a:extLst>
              <a:ext uri="{FF2B5EF4-FFF2-40B4-BE49-F238E27FC236}">
                <a16:creationId xmlns:a16="http://schemas.microsoft.com/office/drawing/2014/main" id="{580DC619-B552-66F8-7D02-731A870390CA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25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434540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6ACA-0E6C-A715-F4C1-6F9AEFA2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ounded Rectangle 2">
            <a:extLst>
              <a:ext uri="{FF2B5EF4-FFF2-40B4-BE49-F238E27FC236}">
                <a16:creationId xmlns:a16="http://schemas.microsoft.com/office/drawing/2014/main" id="{936DC7D8-A1AA-F077-867C-483BEC8FE86C}"/>
              </a:ext>
            </a:extLst>
          </p:cNvPr>
          <p:cNvSpPr/>
          <p:nvPr/>
        </p:nvSpPr>
        <p:spPr>
          <a:xfrm>
            <a:off x="541170" y="2699862"/>
            <a:ext cx="3514717" cy="1563504"/>
          </a:xfrm>
          <a:prstGeom prst="roundRect">
            <a:avLst>
              <a:gd name="adj" fmla="val 13913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">
            <a:extLst>
              <a:ext uri="{FF2B5EF4-FFF2-40B4-BE49-F238E27FC236}">
                <a16:creationId xmlns:a16="http://schemas.microsoft.com/office/drawing/2014/main" id="{EF791FD4-3D6B-5B1C-53F2-17040E4D8D08}"/>
              </a:ext>
            </a:extLst>
          </p:cNvPr>
          <p:cNvSpPr/>
          <p:nvPr/>
        </p:nvSpPr>
        <p:spPr>
          <a:xfrm>
            <a:off x="541170" y="4584887"/>
            <a:ext cx="3514717" cy="1495000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0288D1">
                  <a:alpha val="20000"/>
                </a:srgbClr>
              </a:gs>
              <a:gs pos="100000">
                <a:srgbClr val="0288D1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D491D7-B26F-0A54-CB9B-8B325D7F7569}"/>
              </a:ext>
            </a:extLst>
          </p:cNvPr>
          <p:cNvSpPr txBox="1"/>
          <p:nvPr/>
        </p:nvSpPr>
        <p:spPr>
          <a:xfrm>
            <a:off x="609584" y="190084"/>
            <a:ext cx="4975978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Modèles</a:t>
            </a:r>
            <a:r>
              <a:rPr sz="3200" b="1">
                <a:solidFill>
                  <a:srgbClr val="FFFFFF"/>
                </a:solidFill>
                <a:latin typeface="Poppins"/>
              </a:rPr>
              <a:t> de </a:t>
            </a:r>
            <a:r>
              <a:rPr lang="fr-FR" sz="3200" b="1">
                <a:solidFill>
                  <a:srgbClr val="FFFFFF"/>
                </a:solidFill>
                <a:latin typeface="Poppins"/>
              </a:rPr>
              <a:t>Régression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BE1C8B9-C966-DB48-4A39-EEF2FAFAC6C2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E0DFCED-7855-4899-33A9-45182ADF0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632" y="1568165"/>
            <a:ext cx="6575096" cy="4393874"/>
          </a:xfrm>
          <a:prstGeom prst="rect">
            <a:avLst/>
          </a:prstGeom>
        </p:spPr>
      </p:pic>
      <p:sp>
        <p:nvSpPr>
          <p:cNvPr id="56" name="Rounded Rectangle 10">
            <a:extLst>
              <a:ext uri="{FF2B5EF4-FFF2-40B4-BE49-F238E27FC236}">
                <a16:creationId xmlns:a16="http://schemas.microsoft.com/office/drawing/2014/main" id="{20B81AEF-0201-B709-E290-62EF8ED046C2}"/>
              </a:ext>
            </a:extLst>
          </p:cNvPr>
          <p:cNvSpPr/>
          <p:nvPr/>
        </p:nvSpPr>
        <p:spPr>
          <a:xfrm>
            <a:off x="541170" y="1314966"/>
            <a:ext cx="3514717" cy="1063375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2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7DAC4E-EB9D-D9FF-D754-2C67443DB4A3}"/>
              </a:ext>
            </a:extLst>
          </p:cNvPr>
          <p:cNvSpPr txBox="1"/>
          <p:nvPr/>
        </p:nvSpPr>
        <p:spPr>
          <a:xfrm>
            <a:off x="675504" y="5049318"/>
            <a:ext cx="2781957" cy="84946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Les modèles de régression renvoient des valeurs continues</a:t>
            </a:r>
          </a:p>
        </p:txBody>
      </p:sp>
      <p:pic>
        <p:nvPicPr>
          <p:cNvPr id="57" name="Picture 56" descr="image.png">
            <a:extLst>
              <a:ext uri="{FF2B5EF4-FFF2-40B4-BE49-F238E27FC236}">
                <a16:creationId xmlns:a16="http://schemas.microsoft.com/office/drawing/2014/main" id="{40204201-C24C-C63A-9D28-7B66F5BCBC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504" y="1452871"/>
            <a:ext cx="347867" cy="291767"/>
          </a:xfrm>
          <a:prstGeom prst="rect">
            <a:avLst/>
          </a:prstGeom>
        </p:spPr>
      </p:pic>
      <p:pic>
        <p:nvPicPr>
          <p:cNvPr id="58" name="Picture 57" descr="image.png">
            <a:extLst>
              <a:ext uri="{FF2B5EF4-FFF2-40B4-BE49-F238E27FC236}">
                <a16:creationId xmlns:a16="http://schemas.microsoft.com/office/drawing/2014/main" id="{5105ACF4-D890-B42C-8E1D-67F915D2BA3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67" y="4730732"/>
            <a:ext cx="389013" cy="296188"/>
          </a:xfrm>
          <a:prstGeom prst="rect">
            <a:avLst/>
          </a:prstGeom>
        </p:spPr>
      </p:pic>
      <p:pic>
        <p:nvPicPr>
          <p:cNvPr id="59" name="Picture 58" descr="image.png">
            <a:extLst>
              <a:ext uri="{FF2B5EF4-FFF2-40B4-BE49-F238E27FC236}">
                <a16:creationId xmlns:a16="http://schemas.microsoft.com/office/drawing/2014/main" id="{706F58A5-78AD-59F0-A60C-9D6058E565F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153" y="2840876"/>
            <a:ext cx="389013" cy="291767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7FC88590-BB33-C768-BA4B-CAE9D69E9F84}"/>
              </a:ext>
            </a:extLst>
          </p:cNvPr>
          <p:cNvSpPr txBox="1"/>
          <p:nvPr/>
        </p:nvSpPr>
        <p:spPr>
          <a:xfrm>
            <a:off x="1172636" y="2779095"/>
            <a:ext cx="2277917" cy="39645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94" b="1" err="1">
                <a:solidFill>
                  <a:srgbClr val="00BCD4"/>
                </a:solidFill>
                <a:latin typeface="Poppins"/>
              </a:rPr>
              <a:t>Modèles</a:t>
            </a:r>
            <a:r>
              <a:rPr lang="en-US" sz="1794" b="1">
                <a:solidFill>
                  <a:srgbClr val="00BCD4"/>
                </a:solidFill>
                <a:latin typeface="Poppins"/>
              </a:rPr>
              <a:t> </a:t>
            </a:r>
            <a:r>
              <a:rPr lang="en-US" sz="1794" b="1" err="1">
                <a:solidFill>
                  <a:srgbClr val="00BCD4"/>
                </a:solidFill>
                <a:latin typeface="Poppins"/>
              </a:rPr>
              <a:t>testés</a:t>
            </a:r>
            <a:endParaRPr sz="1794" b="1">
              <a:solidFill>
                <a:srgbClr val="00BCD4"/>
              </a:solidFill>
              <a:latin typeface="Poppin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96ABBEB-321D-F1D1-5812-22B09C60675D}"/>
              </a:ext>
            </a:extLst>
          </p:cNvPr>
          <p:cNvSpPr txBox="1"/>
          <p:nvPr/>
        </p:nvSpPr>
        <p:spPr>
          <a:xfrm>
            <a:off x="1172636" y="4673696"/>
            <a:ext cx="2081092" cy="39645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94" b="1">
                <a:solidFill>
                  <a:srgbClr val="0288D1"/>
                </a:solidFill>
                <a:latin typeface="Poppins"/>
              </a:rPr>
              <a:t>Observation</a:t>
            </a:r>
            <a:endParaRPr sz="1794" b="1">
              <a:solidFill>
                <a:srgbClr val="0288D1"/>
              </a:solidFill>
              <a:latin typeface="Poppin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AC3A76-4ABC-B062-CB89-401141AB061A}"/>
              </a:ext>
            </a:extLst>
          </p:cNvPr>
          <p:cNvSpPr txBox="1"/>
          <p:nvPr/>
        </p:nvSpPr>
        <p:spPr>
          <a:xfrm>
            <a:off x="1172636" y="1400526"/>
            <a:ext cx="1075872" cy="3964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lang="en-US" sz="1794" b="1">
                <a:solidFill>
                  <a:srgbClr val="B3E5FC"/>
                </a:solidFill>
                <a:latin typeface="Poppins"/>
              </a:rPr>
              <a:t>Objectif</a:t>
            </a:r>
            <a:endParaRPr sz="1794" b="1">
              <a:solidFill>
                <a:srgbClr val="B3E5FC"/>
              </a:solidFill>
              <a:latin typeface="Poppin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821AA92-D0FC-3906-39B6-7C1B05390C75}"/>
              </a:ext>
            </a:extLst>
          </p:cNvPr>
          <p:cNvSpPr txBox="1"/>
          <p:nvPr/>
        </p:nvSpPr>
        <p:spPr>
          <a:xfrm>
            <a:off x="658829" y="1849324"/>
            <a:ext cx="175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Prédire l’attrition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FE88B43-99F1-B1D6-5EB2-3E042B178A7C}"/>
              </a:ext>
            </a:extLst>
          </p:cNvPr>
          <p:cNvSpPr txBox="1"/>
          <p:nvPr/>
        </p:nvSpPr>
        <p:spPr>
          <a:xfrm>
            <a:off x="222574" y="3168851"/>
            <a:ext cx="2874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Régression linéaire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err="1">
                <a:solidFill>
                  <a:schemeClr val="bg1"/>
                </a:solidFill>
                <a:latin typeface="Arial" panose="020B0604020202020204" pitchFamily="34" charset="0"/>
              </a:rPr>
              <a:t>ElasticNet</a:t>
            </a:r>
            <a:endParaRPr lang="fr-FR" altLang="fr-FR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err="1">
                <a:solidFill>
                  <a:schemeClr val="bg1"/>
                </a:solidFill>
                <a:latin typeface="Arial" panose="020B0604020202020204" pitchFamily="34" charset="0"/>
              </a:rPr>
              <a:t>Bayesian</a:t>
            </a: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 Ridge</a:t>
            </a:r>
            <a:endParaRPr lang="fr-FR" sz="1600"/>
          </a:p>
        </p:txBody>
      </p:sp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DC5E7863-F1B8-0650-5336-711FE3073E33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C30268A5-82F5-F4CE-1537-FE7E52994DB4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26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221674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E3FC-88BD-22D6-AE98-68D36F54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D12CD-839B-FD5F-F802-7E7CEF314B78}"/>
              </a:ext>
            </a:extLst>
          </p:cNvPr>
          <p:cNvSpPr txBox="1"/>
          <p:nvPr/>
        </p:nvSpPr>
        <p:spPr>
          <a:xfrm>
            <a:off x="609584" y="190084"/>
            <a:ext cx="4975978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Modèles</a:t>
            </a:r>
            <a:r>
              <a:rPr sz="3200" b="1">
                <a:solidFill>
                  <a:srgbClr val="FFFFFF"/>
                </a:solidFill>
                <a:latin typeface="Poppins"/>
              </a:rPr>
              <a:t> de</a:t>
            </a:r>
            <a:r>
              <a:rPr lang="fr-FR" sz="3200" b="1">
                <a:solidFill>
                  <a:srgbClr val="FFFFFF"/>
                </a:solidFill>
                <a:latin typeface="Poppins"/>
              </a:rPr>
              <a:t> Régression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907FA55-BA47-7BEB-0FC6-A3CD4947D1C0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24B593-A266-DEBE-9EF3-1363578A5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271150"/>
              </p:ext>
            </p:extLst>
          </p:nvPr>
        </p:nvGraphicFramePr>
        <p:xfrm>
          <a:off x="910892" y="2004060"/>
          <a:ext cx="10339736" cy="2849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74098">
                  <a:extLst>
                    <a:ext uri="{9D8B030D-6E8A-4147-A177-3AD203B41FA5}">
                      <a16:colId xmlns:a16="http://schemas.microsoft.com/office/drawing/2014/main" val="423895351"/>
                    </a:ext>
                  </a:extLst>
                </a:gridCol>
                <a:gridCol w="1456678">
                  <a:extLst>
                    <a:ext uri="{9D8B030D-6E8A-4147-A177-3AD203B41FA5}">
                      <a16:colId xmlns:a16="http://schemas.microsoft.com/office/drawing/2014/main" val="3774208419"/>
                    </a:ext>
                  </a:extLst>
                </a:gridCol>
                <a:gridCol w="1751589">
                  <a:extLst>
                    <a:ext uri="{9D8B030D-6E8A-4147-A177-3AD203B41FA5}">
                      <a16:colId xmlns:a16="http://schemas.microsoft.com/office/drawing/2014/main" val="1726622670"/>
                    </a:ext>
                  </a:extLst>
                </a:gridCol>
                <a:gridCol w="1549842">
                  <a:extLst>
                    <a:ext uri="{9D8B030D-6E8A-4147-A177-3AD203B41FA5}">
                      <a16:colId xmlns:a16="http://schemas.microsoft.com/office/drawing/2014/main" val="3991084178"/>
                    </a:ext>
                  </a:extLst>
                </a:gridCol>
                <a:gridCol w="2340077">
                  <a:extLst>
                    <a:ext uri="{9D8B030D-6E8A-4147-A177-3AD203B41FA5}">
                      <a16:colId xmlns:a16="http://schemas.microsoft.com/office/drawing/2014/main" val="2405311128"/>
                    </a:ext>
                  </a:extLst>
                </a:gridCol>
                <a:gridCol w="1455174">
                  <a:extLst>
                    <a:ext uri="{9D8B030D-6E8A-4147-A177-3AD203B41FA5}">
                      <a16:colId xmlns:a16="http://schemas.microsoft.com/office/drawing/2014/main" val="814231778"/>
                    </a:ext>
                  </a:extLst>
                </a:gridCol>
                <a:gridCol w="812278">
                  <a:extLst>
                    <a:ext uri="{9D8B030D-6E8A-4147-A177-3AD203B41FA5}">
                      <a16:colId xmlns:a16="http://schemas.microsoft.com/office/drawing/2014/main" val="32479392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  <a:endParaRPr lang="fr-FR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Attrition</a:t>
                      </a:r>
                      <a:endParaRPr lang="fr-FR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BusinessTravel</a:t>
                      </a:r>
                      <a:endParaRPr lang="fr-FR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Department</a:t>
                      </a:r>
                      <a:endParaRPr lang="fr-FR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DistanceFromHome</a:t>
                      </a:r>
                      <a:endParaRPr lang="fr-FR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2000" b="1" u="none" strike="noStrike">
                          <a:solidFill>
                            <a:schemeClr val="bg1"/>
                          </a:solidFill>
                          <a:effectLst/>
                        </a:rPr>
                        <a:t>Education</a:t>
                      </a:r>
                      <a:endParaRPr lang="fr-FR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20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66378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51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Travel_Rarely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Sales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1356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Yes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Travel_Frequently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Research &amp; Development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33870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32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Travel_Frequently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Research &amp; Development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17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65455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38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Non-Travel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Research &amp; Development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43475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32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No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Travel_Rarely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Research &amp; Development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5906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  <a:endParaRPr lang="fr-FR" sz="1400" b="0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70863734"/>
                  </a:ext>
                </a:extLst>
              </a:tr>
            </a:tbl>
          </a:graphicData>
        </a:graphic>
      </p:graphicFrame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79762CA1-6368-6FF4-92AB-1830B2ED318D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C7756999-90A3-9C5E-19F7-F542F49C99BA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27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7588990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CC3ADA0-8C52-DBEE-383C-204C5089BCE5}"/>
              </a:ext>
            </a:extLst>
          </p:cNvPr>
          <p:cNvSpPr txBox="1"/>
          <p:nvPr/>
        </p:nvSpPr>
        <p:spPr>
          <a:xfrm>
            <a:off x="5683746" y="3101627"/>
            <a:ext cx="824201" cy="8071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>
                <a:solidFill>
                  <a:srgbClr val="FFFFFF"/>
                </a:solidFill>
                <a:latin typeface="Poppins"/>
              </a:rPr>
              <a:t>07.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77C5B1-E873-838A-8431-ADB2E9E5576B}"/>
              </a:ext>
            </a:extLst>
          </p:cNvPr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1DA841-7CBC-2E5A-1C97-25DF55134EDA}"/>
              </a:ext>
            </a:extLst>
          </p:cNvPr>
          <p:cNvSpPr txBox="1"/>
          <p:nvPr/>
        </p:nvSpPr>
        <p:spPr>
          <a:xfrm>
            <a:off x="2985145" y="4035769"/>
            <a:ext cx="6211893" cy="6247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600" b="1">
                <a:solidFill>
                  <a:srgbClr val="0288D1"/>
                </a:solidFill>
                <a:latin typeface="Poppins"/>
              </a:rPr>
              <a:t>Modèles de Classification</a:t>
            </a:r>
          </a:p>
        </p:txBody>
      </p:sp>
      <p:pic>
        <p:nvPicPr>
          <p:cNvPr id="9" name="Picture 12" descr="image.png">
            <a:extLst>
              <a:ext uri="{FF2B5EF4-FFF2-40B4-BE49-F238E27FC236}">
                <a16:creationId xmlns:a16="http://schemas.microsoft.com/office/drawing/2014/main" id="{455F0A3F-A2D3-59E5-20B6-8D0B987D23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5320" y="2001133"/>
            <a:ext cx="700447" cy="604150"/>
          </a:xfrm>
          <a:prstGeom prst="rect">
            <a:avLst/>
          </a:prstGeom>
        </p:spPr>
      </p:pic>
      <p:sp>
        <p:nvSpPr>
          <p:cNvPr id="2" name="Rounded Rectangle 37">
            <a:extLst>
              <a:ext uri="{FF2B5EF4-FFF2-40B4-BE49-F238E27FC236}">
                <a16:creationId xmlns:a16="http://schemas.microsoft.com/office/drawing/2014/main" id="{4280E52A-3246-F325-AB78-1AD56DB2FB9A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38">
            <a:extLst>
              <a:ext uri="{FF2B5EF4-FFF2-40B4-BE49-F238E27FC236}">
                <a16:creationId xmlns:a16="http://schemas.microsoft.com/office/drawing/2014/main" id="{859761AF-D352-FCCB-EDDF-3937E2519DFE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28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4218986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A65D-E3B6-2700-33D4-E5945EF47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10">
            <a:extLst>
              <a:ext uri="{FF2B5EF4-FFF2-40B4-BE49-F238E27FC236}">
                <a16:creationId xmlns:a16="http://schemas.microsoft.com/office/drawing/2014/main" id="{237220C4-DF89-49FB-5359-AF4C0E604520}"/>
              </a:ext>
            </a:extLst>
          </p:cNvPr>
          <p:cNvSpPr/>
          <p:nvPr/>
        </p:nvSpPr>
        <p:spPr>
          <a:xfrm>
            <a:off x="1288260" y="2749766"/>
            <a:ext cx="4280600" cy="1972888"/>
          </a:xfrm>
          <a:prstGeom prst="roundRect">
            <a:avLst>
              <a:gd name="adj" fmla="val 10062"/>
            </a:avLst>
          </a:prstGeom>
          <a:gradFill rotWithShape="1">
            <a:gsLst>
              <a:gs pos="0">
                <a:srgbClr val="FFFFFF">
                  <a:alpha val="8000"/>
                </a:srgbClr>
              </a:gs>
              <a:gs pos="100000">
                <a:srgbClr val="FFFFFF">
                  <a:alpha val="2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DAE37A-C39C-FADA-9596-EE7332DB389A}"/>
              </a:ext>
            </a:extLst>
          </p:cNvPr>
          <p:cNvSpPr txBox="1"/>
          <p:nvPr/>
        </p:nvSpPr>
        <p:spPr>
          <a:xfrm>
            <a:off x="1405919" y="3280093"/>
            <a:ext cx="4280600" cy="13419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- Comparer les performances des modèles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- Identifier le meilleur compromis entre :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Précision globale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Détection des départs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>
                <a:solidFill>
                  <a:schemeClr val="bg1"/>
                </a:solidFill>
                <a:latin typeface="Arial" panose="020B0604020202020204" pitchFamily="34" charset="0"/>
              </a:rPr>
              <a:t>Robustesse et généralisation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C23FD8-3F0E-2F96-95A3-07E834A454C4}"/>
              </a:ext>
            </a:extLst>
          </p:cNvPr>
          <p:cNvSpPr txBox="1"/>
          <p:nvPr/>
        </p:nvSpPr>
        <p:spPr>
          <a:xfrm>
            <a:off x="609584" y="190084"/>
            <a:ext cx="5545044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Modèles</a:t>
            </a:r>
            <a:r>
              <a:rPr sz="3200" b="1">
                <a:solidFill>
                  <a:srgbClr val="FFFFFF"/>
                </a:solidFill>
                <a:latin typeface="Poppins"/>
              </a:rPr>
              <a:t> de Classification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7F3DCA-8489-B57C-94A9-C4F68C18D0E2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2DF2B29B-B6D7-1618-E725-852295EC35D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22594" y="2887671"/>
            <a:ext cx="347867" cy="291767"/>
          </a:xfrm>
          <a:prstGeom prst="rect">
            <a:avLst/>
          </a:prstGeom>
        </p:spPr>
      </p:pic>
      <p:pic>
        <p:nvPicPr>
          <p:cNvPr id="62" name="Picture 61" descr="image.png">
            <a:extLst>
              <a:ext uri="{FF2B5EF4-FFF2-40B4-BE49-F238E27FC236}">
                <a16:creationId xmlns:a16="http://schemas.microsoft.com/office/drawing/2014/main" id="{B982B3E7-9BD1-03D5-EE60-9816FF6B98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5157" y="2504794"/>
            <a:ext cx="389013" cy="291767"/>
          </a:xfrm>
          <a:prstGeom prst="rect">
            <a:avLst/>
          </a:prstGeom>
        </p:spPr>
      </p:pic>
      <p:sp>
        <p:nvSpPr>
          <p:cNvPr id="63" name="Rounded Rectangle 2">
            <a:extLst>
              <a:ext uri="{FF2B5EF4-FFF2-40B4-BE49-F238E27FC236}">
                <a16:creationId xmlns:a16="http://schemas.microsoft.com/office/drawing/2014/main" id="{D65A5F10-A8CF-C1FE-25AE-5F68129B51AF}"/>
              </a:ext>
            </a:extLst>
          </p:cNvPr>
          <p:cNvSpPr/>
          <p:nvPr/>
        </p:nvSpPr>
        <p:spPr>
          <a:xfrm>
            <a:off x="7180342" y="2363779"/>
            <a:ext cx="3839022" cy="2576581"/>
          </a:xfrm>
          <a:prstGeom prst="roundRect">
            <a:avLst>
              <a:gd name="adj" fmla="val 13913"/>
            </a:avLst>
          </a:prstGeom>
          <a:gradFill rotWithShape="1">
            <a:gsLst>
              <a:gs pos="0">
                <a:srgbClr val="00BCD4">
                  <a:alpha val="20000"/>
                </a:srgbClr>
              </a:gs>
              <a:gs pos="100000">
                <a:srgbClr val="00BCD4">
                  <a:alpha val="1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4C282F-F544-9784-824F-FD3B51274F1A}"/>
              </a:ext>
            </a:extLst>
          </p:cNvPr>
          <p:cNvSpPr txBox="1"/>
          <p:nvPr/>
        </p:nvSpPr>
        <p:spPr>
          <a:xfrm>
            <a:off x="7811808" y="2443013"/>
            <a:ext cx="2277917" cy="39645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94" b="1" err="1">
                <a:solidFill>
                  <a:srgbClr val="00BCD4"/>
                </a:solidFill>
                <a:latin typeface="Poppins"/>
              </a:rPr>
              <a:t>Modèles</a:t>
            </a:r>
            <a:r>
              <a:rPr lang="en-US" sz="1794" b="1">
                <a:solidFill>
                  <a:srgbClr val="00BCD4"/>
                </a:solidFill>
                <a:latin typeface="Poppins"/>
              </a:rPr>
              <a:t> </a:t>
            </a:r>
            <a:r>
              <a:rPr lang="en-US" sz="1794" b="1" err="1">
                <a:solidFill>
                  <a:srgbClr val="00BCD4"/>
                </a:solidFill>
                <a:latin typeface="Poppins"/>
              </a:rPr>
              <a:t>testés</a:t>
            </a:r>
            <a:endParaRPr sz="1794" b="1">
              <a:solidFill>
                <a:srgbClr val="00BCD4"/>
              </a:solidFill>
              <a:latin typeface="Poppin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FC8E4F-8215-B381-4C11-86D275C5E1EB}"/>
              </a:ext>
            </a:extLst>
          </p:cNvPr>
          <p:cNvSpPr txBox="1"/>
          <p:nvPr/>
        </p:nvSpPr>
        <p:spPr>
          <a:xfrm>
            <a:off x="1919726" y="2835326"/>
            <a:ext cx="2988254" cy="39645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1040"/>
              </a:spcAft>
            </a:pPr>
            <a:r>
              <a:rPr lang="en-US" sz="1794" b="1" err="1">
                <a:solidFill>
                  <a:srgbClr val="B3E5FC"/>
                </a:solidFill>
                <a:latin typeface="Poppins"/>
              </a:rPr>
              <a:t>Objectifs</a:t>
            </a:r>
            <a:r>
              <a:rPr lang="en-US" sz="1794" b="1">
                <a:solidFill>
                  <a:srgbClr val="B3E5FC"/>
                </a:solidFill>
                <a:latin typeface="Poppins"/>
              </a:rPr>
              <a:t> de </a:t>
            </a:r>
            <a:r>
              <a:rPr lang="en-US" sz="1794" b="1" err="1">
                <a:solidFill>
                  <a:srgbClr val="B3E5FC"/>
                </a:solidFill>
                <a:latin typeface="Poppins"/>
              </a:rPr>
              <a:t>cette</a:t>
            </a:r>
            <a:r>
              <a:rPr lang="en-US" sz="1794" b="1">
                <a:solidFill>
                  <a:srgbClr val="B3E5FC"/>
                </a:solidFill>
                <a:latin typeface="Poppins"/>
              </a:rPr>
              <a:t> phase</a:t>
            </a:r>
            <a:endParaRPr sz="1794" b="1">
              <a:solidFill>
                <a:srgbClr val="B3E5FC"/>
              </a:solidFill>
              <a:latin typeface="Poppin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60D47F-BBCB-18C3-4C73-E6B1BB5A8D07}"/>
              </a:ext>
            </a:extLst>
          </p:cNvPr>
          <p:cNvSpPr txBox="1"/>
          <p:nvPr/>
        </p:nvSpPr>
        <p:spPr>
          <a:xfrm>
            <a:off x="7335157" y="2906772"/>
            <a:ext cx="4280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b="1" err="1">
                <a:solidFill>
                  <a:schemeClr val="bg1"/>
                </a:solidFill>
                <a:latin typeface="Arial" panose="020B0604020202020204" pitchFamily="34" charset="0"/>
              </a:rPr>
              <a:t>LogisticRegression</a:t>
            </a:r>
            <a:endParaRPr lang="fr-FR" altLang="fr-FR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b="1">
                <a:solidFill>
                  <a:schemeClr val="bg1"/>
                </a:solidFill>
                <a:latin typeface="Arial" panose="020B0604020202020204" pitchFamily="34" charset="0"/>
              </a:rPr>
              <a:t>Perceptron</a:t>
            </a:r>
            <a:endParaRPr lang="fr-FR" altLang="fr-FR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b="1">
                <a:solidFill>
                  <a:schemeClr val="bg1"/>
                </a:solidFill>
                <a:latin typeface="Arial" panose="020B0604020202020204" pitchFamily="34" charset="0"/>
              </a:rPr>
              <a:t>SVC (Support </a:t>
            </a:r>
            <a:r>
              <a:rPr lang="fr-FR" altLang="fr-FR" sz="1600" b="1" err="1">
                <a:solidFill>
                  <a:schemeClr val="bg1"/>
                </a:solidFill>
                <a:latin typeface="Arial" panose="020B0604020202020204" pitchFamily="34" charset="0"/>
              </a:rPr>
              <a:t>Vector</a:t>
            </a:r>
            <a:r>
              <a:rPr lang="fr-FR" altLang="fr-FR" sz="1600" b="1">
                <a:solidFill>
                  <a:schemeClr val="bg1"/>
                </a:solidFill>
                <a:latin typeface="Arial" panose="020B0604020202020204" pitchFamily="34" charset="0"/>
              </a:rPr>
              <a:t> Classifier)</a:t>
            </a:r>
            <a:endParaRPr lang="fr-FR" altLang="fr-FR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b="1">
                <a:solidFill>
                  <a:schemeClr val="bg1"/>
                </a:solidFill>
                <a:latin typeface="Arial" panose="020B0604020202020204" pitchFamily="34" charset="0"/>
              </a:rPr>
              <a:t>KNN (K-</a:t>
            </a:r>
            <a:r>
              <a:rPr lang="fr-FR" altLang="fr-FR" sz="1600" b="1" err="1">
                <a:solidFill>
                  <a:schemeClr val="bg1"/>
                </a:solidFill>
                <a:latin typeface="Arial" panose="020B0604020202020204" pitchFamily="34" charset="0"/>
              </a:rPr>
              <a:t>Nearest</a:t>
            </a:r>
            <a:r>
              <a:rPr lang="fr-FR" altLang="fr-FR" sz="1600" b="1">
                <a:solidFill>
                  <a:schemeClr val="bg1"/>
                </a:solidFill>
                <a:latin typeface="Arial" panose="020B0604020202020204" pitchFamily="34" charset="0"/>
              </a:rPr>
              <a:t> Neighbors)</a:t>
            </a:r>
            <a:endParaRPr lang="fr-FR" altLang="fr-FR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b="1" err="1">
                <a:solidFill>
                  <a:schemeClr val="bg1"/>
                </a:solidFill>
                <a:latin typeface="Arial" panose="020B0604020202020204" pitchFamily="34" charset="0"/>
              </a:rPr>
              <a:t>NaiveBayes</a:t>
            </a:r>
            <a:endParaRPr lang="fr-FR" altLang="fr-FR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b="1" err="1">
                <a:solidFill>
                  <a:schemeClr val="bg1"/>
                </a:solidFill>
                <a:latin typeface="Arial" panose="020B0604020202020204" pitchFamily="34" charset="0"/>
              </a:rPr>
              <a:t>DecisionTree</a:t>
            </a:r>
            <a:endParaRPr lang="fr-FR" altLang="fr-FR" sz="160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fr-FR" altLang="fr-FR" sz="1600" b="1" err="1">
                <a:solidFill>
                  <a:schemeClr val="bg1"/>
                </a:solidFill>
                <a:latin typeface="Arial" panose="020B0604020202020204" pitchFamily="34" charset="0"/>
              </a:rPr>
              <a:t>RandomForest</a:t>
            </a:r>
            <a:endParaRPr lang="fr-FR" altLang="fr-FR" sz="16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DAD438D3-1D5D-E368-2EE7-C4E1A3829A47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F9E57A63-FE4D-7D9A-F77B-FFCCB503F2DD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29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417710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47634-2832-304C-9D22-9B060845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09A75A-005E-2CF1-7E66-9DC722411794}"/>
              </a:ext>
            </a:extLst>
          </p:cNvPr>
          <p:cNvSpPr txBox="1"/>
          <p:nvPr/>
        </p:nvSpPr>
        <p:spPr>
          <a:xfrm>
            <a:off x="609584" y="190084"/>
            <a:ext cx="5545044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Modèles</a:t>
            </a:r>
            <a:r>
              <a:rPr sz="3200" b="1">
                <a:solidFill>
                  <a:srgbClr val="FFFFFF"/>
                </a:solidFill>
                <a:latin typeface="Poppins"/>
              </a:rPr>
              <a:t> de Classification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85F0E79-7204-7A32-C90A-0C7787D61FCD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E9FA6-2E8D-28A8-5AE3-C49461107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90" y="1849078"/>
            <a:ext cx="4946681" cy="3563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78BE35-1BF3-668E-69C1-1A9B23B68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" y="1849078"/>
            <a:ext cx="5332624" cy="3563579"/>
          </a:xfrm>
          <a:prstGeom prst="rect">
            <a:avLst/>
          </a:prstGeom>
        </p:spPr>
      </p:pic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04740343-DAA9-025B-4E36-0CAA626E6CA6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38">
            <a:extLst>
              <a:ext uri="{FF2B5EF4-FFF2-40B4-BE49-F238E27FC236}">
                <a16:creationId xmlns:a16="http://schemas.microsoft.com/office/drawing/2014/main" id="{35C8C8F9-72C1-125D-5F5D-83D4F6D39047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30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268982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002A2-FC3F-6226-90C3-B0FA9AEC4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BC43F7-7EA3-2179-1DD9-235372ECF3B3}"/>
              </a:ext>
            </a:extLst>
          </p:cNvPr>
          <p:cNvSpPr txBox="1"/>
          <p:nvPr/>
        </p:nvSpPr>
        <p:spPr>
          <a:xfrm>
            <a:off x="609584" y="190084"/>
            <a:ext cx="5545044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Modèles</a:t>
            </a:r>
            <a:r>
              <a:rPr sz="3200" b="1">
                <a:solidFill>
                  <a:srgbClr val="FFFFFF"/>
                </a:solidFill>
                <a:latin typeface="Poppins"/>
              </a:rPr>
              <a:t> de Classification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3DDB7B-6203-0F99-9451-03FC2EFD9BF5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61AD54B-355C-8689-1E69-08D070458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23" y="1616179"/>
            <a:ext cx="5447081" cy="381295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8CF446D-3103-8340-9845-53155F581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96" y="1616179"/>
            <a:ext cx="5447081" cy="3812957"/>
          </a:xfrm>
          <a:prstGeom prst="rect">
            <a:avLst/>
          </a:prstGeom>
        </p:spPr>
      </p:pic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45A4DC6D-82AD-E83F-1271-8A4155043004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95872E36-0C24-8E3F-DA14-B5B4F1432746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31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537082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90084"/>
            <a:ext cx="5545044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Modèles</a:t>
            </a:r>
            <a:r>
              <a:rPr sz="3200" b="1">
                <a:solidFill>
                  <a:srgbClr val="FFFFFF"/>
                </a:solidFill>
                <a:latin typeface="Poppins"/>
              </a:rPr>
              <a:t> de Classification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5F9EAB-315C-99C1-2584-31F54072A297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26021F0-FC6D-B57A-02E8-5532652CE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997" y="1212824"/>
            <a:ext cx="6195261" cy="4956209"/>
          </a:xfrm>
          <a:prstGeom prst="rect">
            <a:avLst/>
          </a:prstGeom>
        </p:spPr>
      </p:pic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E899113F-D6F2-7998-E2EE-4116F356B737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0336CBD3-AC9E-4737-8589-5FB53E6AF56E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32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A7B76-1C84-12B6-915A-17D1562D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136C3C-1809-99F6-A618-CFA6B529A49B}"/>
              </a:ext>
            </a:extLst>
          </p:cNvPr>
          <p:cNvSpPr txBox="1"/>
          <p:nvPr/>
        </p:nvSpPr>
        <p:spPr>
          <a:xfrm>
            <a:off x="609584" y="190084"/>
            <a:ext cx="5825569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Comparaison des modèles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2F04B32-E710-55E1-7858-4E93029530AD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48" name="Rounded Rectangle 2">
            <a:extLst>
              <a:ext uri="{FF2B5EF4-FFF2-40B4-BE49-F238E27FC236}">
                <a16:creationId xmlns:a16="http://schemas.microsoft.com/office/drawing/2014/main" id="{1C464621-44FF-5036-429C-ACB0B4495776}"/>
              </a:ext>
            </a:extLst>
          </p:cNvPr>
          <p:cNvSpPr/>
          <p:nvPr/>
        </p:nvSpPr>
        <p:spPr>
          <a:xfrm>
            <a:off x="619109" y="1627184"/>
            <a:ext cx="10953476" cy="3790949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074D72A1-D3C2-73F1-282D-52FD4A401843}"/>
              </a:ext>
            </a:extLst>
          </p:cNvPr>
          <p:cNvSpPr/>
          <p:nvPr/>
        </p:nvSpPr>
        <p:spPr>
          <a:xfrm>
            <a:off x="619109" y="1627184"/>
            <a:ext cx="10953476" cy="3790949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966255C2-71A0-A219-FF89-AD3375CB05E9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38EB235F-C7DB-F4F6-C6CC-738E0EDD2FFA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33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18423325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62FE783-974F-73D9-B969-627E6C806CF1}"/>
              </a:ext>
            </a:extLst>
          </p:cNvPr>
          <p:cNvSpPr txBox="1"/>
          <p:nvPr/>
        </p:nvSpPr>
        <p:spPr>
          <a:xfrm>
            <a:off x="5658098" y="3101627"/>
            <a:ext cx="875497" cy="8071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600" b="1">
                <a:solidFill>
                  <a:srgbClr val="FFFFFF"/>
                </a:solidFill>
                <a:latin typeface="Poppins"/>
              </a:rPr>
              <a:t>08.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FBE48F-FDC6-51F7-4056-605B1965F993}"/>
              </a:ext>
            </a:extLst>
          </p:cNvPr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7B1AF2-DBBD-66BD-EA07-3AEF39C9F0D0}"/>
              </a:ext>
            </a:extLst>
          </p:cNvPr>
          <p:cNvSpPr txBox="1"/>
          <p:nvPr/>
        </p:nvSpPr>
        <p:spPr>
          <a:xfrm>
            <a:off x="5120341" y="4035769"/>
            <a:ext cx="1941494" cy="6247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600" b="1">
                <a:solidFill>
                  <a:srgbClr val="0288D1"/>
                </a:solidFill>
                <a:latin typeface="Poppins"/>
              </a:rPr>
              <a:t>Ethique</a:t>
            </a:r>
          </a:p>
        </p:txBody>
      </p:sp>
      <p:pic>
        <p:nvPicPr>
          <p:cNvPr id="11" name="Picture 18" descr="image.png">
            <a:extLst>
              <a:ext uri="{FF2B5EF4-FFF2-40B4-BE49-F238E27FC236}">
                <a16:creationId xmlns:a16="http://schemas.microsoft.com/office/drawing/2014/main" id="{37284678-4564-631B-B7FB-88589B54BD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0615" y="1960722"/>
            <a:ext cx="678467" cy="644561"/>
          </a:xfrm>
          <a:prstGeom prst="rect">
            <a:avLst/>
          </a:prstGeom>
        </p:spPr>
      </p:pic>
      <p:sp>
        <p:nvSpPr>
          <p:cNvPr id="2" name="Rounded Rectangle 37">
            <a:extLst>
              <a:ext uri="{FF2B5EF4-FFF2-40B4-BE49-F238E27FC236}">
                <a16:creationId xmlns:a16="http://schemas.microsoft.com/office/drawing/2014/main" id="{73C90B64-AC4F-6BE6-D27C-18F3BCE4BD7B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38">
            <a:extLst>
              <a:ext uri="{FF2B5EF4-FFF2-40B4-BE49-F238E27FC236}">
                <a16:creationId xmlns:a16="http://schemas.microsoft.com/office/drawing/2014/main" id="{5A8BB9F6-B359-1C72-49C2-879BA532486C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34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4047915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90084"/>
            <a:ext cx="1744324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Éthique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758EEF4-87EE-267B-0CAF-0B2B5F0F36FB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pic>
        <p:nvPicPr>
          <p:cNvPr id="60" name="Image 59" descr="Une image contenant texte, carte de visi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71225803-AD11-63BE-189B-6105218038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5" t="18999" r="3436" b="46107"/>
          <a:stretch>
            <a:fillRect/>
          </a:stretch>
        </p:blipFill>
        <p:spPr>
          <a:xfrm>
            <a:off x="290623" y="2126512"/>
            <a:ext cx="11610754" cy="1936883"/>
          </a:xfrm>
          <a:prstGeom prst="rect">
            <a:avLst/>
          </a:prstGeom>
        </p:spPr>
      </p:pic>
      <p:pic>
        <p:nvPicPr>
          <p:cNvPr id="61" name="Image 60" descr="Une image contenant texte, carte de visi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9779992A-729A-BAF3-59B7-CBC2485C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9" t="67935" r="3721" b="8708"/>
          <a:stretch>
            <a:fillRect/>
          </a:stretch>
        </p:blipFill>
        <p:spPr>
          <a:xfrm>
            <a:off x="290623" y="4042797"/>
            <a:ext cx="11610754" cy="1294166"/>
          </a:xfrm>
          <a:prstGeom prst="rect">
            <a:avLst/>
          </a:prstGeom>
        </p:spPr>
      </p:pic>
      <p:sp>
        <p:nvSpPr>
          <p:cNvPr id="3" name="Rounded Rectangle 37">
            <a:extLst>
              <a:ext uri="{FF2B5EF4-FFF2-40B4-BE49-F238E27FC236}">
                <a16:creationId xmlns:a16="http://schemas.microsoft.com/office/drawing/2014/main" id="{882D8B7E-10D4-95FC-258F-7B44FA4A7056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8">
            <a:extLst>
              <a:ext uri="{FF2B5EF4-FFF2-40B4-BE49-F238E27FC236}">
                <a16:creationId xmlns:a16="http://schemas.microsoft.com/office/drawing/2014/main" id="{3C21B583-0A1F-1A4E-4EE5-DF7CCAF9B594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35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ECA997D-D45A-8B7C-D1CD-6DD020F14D5B}"/>
              </a:ext>
            </a:extLst>
          </p:cNvPr>
          <p:cNvSpPr/>
          <p:nvPr/>
        </p:nvSpPr>
        <p:spPr>
          <a:xfrm>
            <a:off x="609584" y="1114425"/>
            <a:ext cx="5371965" cy="165735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31C36D48-E167-CC2A-174D-466019753571}"/>
              </a:ext>
            </a:extLst>
          </p:cNvPr>
          <p:cNvSpPr/>
          <p:nvPr/>
        </p:nvSpPr>
        <p:spPr>
          <a:xfrm rot="16200000">
            <a:off x="-153051" y="1877060"/>
            <a:ext cx="1657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35EF93B1-683E-0509-41BB-0802ED6C3E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278" y="1364045"/>
            <a:ext cx="342891" cy="2246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14BAA2-76B9-D406-5E3B-32458CC82B51}"/>
              </a:ext>
            </a:extLst>
          </p:cNvPr>
          <p:cNvSpPr txBox="1"/>
          <p:nvPr/>
        </p:nvSpPr>
        <p:spPr>
          <a:xfrm>
            <a:off x="1371565" y="1284720"/>
            <a:ext cx="1426929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Roboto"/>
              </a:rPr>
              <a:t>Transparence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AECDA-2E4C-173E-B16F-B579E9442E4A}"/>
              </a:ext>
            </a:extLst>
          </p:cNvPr>
          <p:cNvSpPr txBox="1"/>
          <p:nvPr/>
        </p:nvSpPr>
        <p:spPr>
          <a:xfrm>
            <a:off x="1371565" y="1707512"/>
            <a:ext cx="4381390" cy="6045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D1D5DB"/>
                </a:solidFill>
                <a:latin typeface="Roboto"/>
              </a:rPr>
              <a:t>Modèles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explicables</a:t>
            </a:r>
            <a:r>
              <a:rPr sz="1400" b="0">
                <a:solidFill>
                  <a:srgbClr val="D1D5DB"/>
                </a:solidFill>
                <a:latin typeface="Roboto"/>
              </a:rPr>
              <a:t>, documentation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complète</a:t>
            </a:r>
            <a:r>
              <a:rPr sz="1400" b="0">
                <a:solidFill>
                  <a:srgbClr val="D1D5DB"/>
                </a:solidFill>
                <a:latin typeface="Roboto"/>
              </a:rPr>
              <a:t>,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corrélation</a:t>
            </a:r>
            <a:r>
              <a:rPr sz="1400" b="0">
                <a:solidFill>
                  <a:srgbClr val="D1D5DB"/>
                </a:solidFill>
                <a:latin typeface="Roboto"/>
              </a:rPr>
              <a:t> ≠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causalité</a:t>
            </a:r>
            <a:endParaRPr sz="14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BC1501-EDC1-FA8E-073B-F0FDA8572244}"/>
              </a:ext>
            </a:extLst>
          </p:cNvPr>
          <p:cNvSpPr/>
          <p:nvPr/>
        </p:nvSpPr>
        <p:spPr>
          <a:xfrm>
            <a:off x="6210144" y="1114425"/>
            <a:ext cx="5371965" cy="165735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 Same Side Corner Rectangle 8">
            <a:extLst>
              <a:ext uri="{FF2B5EF4-FFF2-40B4-BE49-F238E27FC236}">
                <a16:creationId xmlns:a16="http://schemas.microsoft.com/office/drawing/2014/main" id="{F65E2879-F219-026E-49DF-917EF095B492}"/>
              </a:ext>
            </a:extLst>
          </p:cNvPr>
          <p:cNvSpPr/>
          <p:nvPr/>
        </p:nvSpPr>
        <p:spPr>
          <a:xfrm rot="16200000">
            <a:off x="5447509" y="1877060"/>
            <a:ext cx="1657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0B1A5C51-5B1C-F7D9-FE96-8927BC1BCF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6838" y="1316749"/>
            <a:ext cx="342891" cy="31925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6C5A4F-DFC3-ACE5-4E41-DF30F6E9D273}"/>
              </a:ext>
            </a:extLst>
          </p:cNvPr>
          <p:cNvSpPr txBox="1"/>
          <p:nvPr/>
        </p:nvSpPr>
        <p:spPr>
          <a:xfrm>
            <a:off x="6972125" y="1284720"/>
            <a:ext cx="1491049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Roboto"/>
              </a:rPr>
              <a:t>Discrimination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5182E-404C-C024-E65C-E53C40F571CE}"/>
              </a:ext>
            </a:extLst>
          </p:cNvPr>
          <p:cNvSpPr txBox="1"/>
          <p:nvPr/>
        </p:nvSpPr>
        <p:spPr>
          <a:xfrm>
            <a:off x="6972125" y="1722147"/>
            <a:ext cx="4381390" cy="86100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Audit fairness par sous-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groupes</a:t>
            </a:r>
            <a:r>
              <a:rPr sz="1400" b="0">
                <a:solidFill>
                  <a:srgbClr val="D1D5DB"/>
                </a:solidFill>
                <a:latin typeface="Roboto"/>
              </a:rPr>
              <a:t> (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célibataires</a:t>
            </a:r>
            <a:r>
              <a:rPr sz="1400" b="0">
                <a:solidFill>
                  <a:srgbClr val="D1D5DB"/>
                </a:solidFill>
                <a:latin typeface="Roboto"/>
              </a:rPr>
              <a:t> 25.5% vs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mariés</a:t>
            </a:r>
            <a:r>
              <a:rPr sz="1400" b="0">
                <a:solidFill>
                  <a:srgbClr val="D1D5DB"/>
                </a:solidFill>
                <a:latin typeface="Roboto"/>
              </a:rPr>
              <a:t> 12.5% attrition), tests avec/sans variables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sensibles</a:t>
            </a:r>
            <a:endParaRPr sz="14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36A1F7-E26E-E455-F125-A88CDFDF0BC4}"/>
              </a:ext>
            </a:extLst>
          </p:cNvPr>
          <p:cNvSpPr/>
          <p:nvPr/>
        </p:nvSpPr>
        <p:spPr>
          <a:xfrm>
            <a:off x="609584" y="3000375"/>
            <a:ext cx="5371965" cy="165735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>
            <a:extLst>
              <a:ext uri="{FF2B5EF4-FFF2-40B4-BE49-F238E27FC236}">
                <a16:creationId xmlns:a16="http://schemas.microsoft.com/office/drawing/2014/main" id="{94D4AB43-45D4-A890-B03C-819E056FB1B1}"/>
              </a:ext>
            </a:extLst>
          </p:cNvPr>
          <p:cNvSpPr/>
          <p:nvPr/>
        </p:nvSpPr>
        <p:spPr>
          <a:xfrm rot="16200000">
            <a:off x="-153051" y="3763010"/>
            <a:ext cx="1657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391ACEF2-A7C4-A4BD-972E-637F8BC70F5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278" y="3229303"/>
            <a:ext cx="342891" cy="266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FFFF5CB-A902-BA05-B90D-03505B8C1A9C}"/>
              </a:ext>
            </a:extLst>
          </p:cNvPr>
          <p:cNvSpPr txBox="1"/>
          <p:nvPr/>
        </p:nvSpPr>
        <p:spPr>
          <a:xfrm>
            <a:off x="1371565" y="3170669"/>
            <a:ext cx="1757148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err="1">
                <a:solidFill>
                  <a:srgbClr val="FFFFFF"/>
                </a:solidFill>
                <a:latin typeface="Roboto"/>
              </a:rPr>
              <a:t>Déshumanisation</a:t>
            </a:r>
            <a:endParaRPr sz="16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1D4B2A-790F-04CB-9E7E-70CF85DB7569}"/>
              </a:ext>
            </a:extLst>
          </p:cNvPr>
          <p:cNvSpPr txBox="1"/>
          <p:nvPr/>
        </p:nvSpPr>
        <p:spPr>
          <a:xfrm>
            <a:off x="1371565" y="3736338"/>
            <a:ext cx="4381390" cy="6045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D1D5DB"/>
                </a:solidFill>
                <a:latin typeface="Roboto"/>
              </a:rPr>
              <a:t>Outil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d'aide</a:t>
            </a:r>
            <a:r>
              <a:rPr sz="1400" b="0">
                <a:solidFill>
                  <a:srgbClr val="D1D5DB"/>
                </a:solidFill>
                <a:latin typeface="Roboto"/>
              </a:rPr>
              <a:t> à la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décision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uniquement</a:t>
            </a:r>
            <a:r>
              <a:rPr sz="1400" b="0">
                <a:solidFill>
                  <a:srgbClr val="D1D5DB"/>
                </a:solidFill>
                <a:latin typeface="Roboto"/>
              </a:rPr>
              <a:t>, revue humaine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obligatoire</a:t>
            </a:r>
            <a:r>
              <a:rPr sz="1400" b="0">
                <a:solidFill>
                  <a:srgbClr val="D1D5DB"/>
                </a:solidFill>
                <a:latin typeface="Roboto"/>
              </a:rPr>
              <a:t>,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aucun</a:t>
            </a:r>
            <a:r>
              <a:rPr sz="1400" b="0">
                <a:solidFill>
                  <a:srgbClr val="D1D5DB"/>
                </a:solidFill>
                <a:latin typeface="Roboto"/>
              </a:rPr>
              <a:t> scoring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individuel</a:t>
            </a:r>
            <a:r>
              <a:rPr sz="1400" b="0">
                <a:solidFill>
                  <a:srgbClr val="D1D5DB"/>
                </a:solidFill>
                <a:latin typeface="Roboto"/>
              </a:rPr>
              <a:t> communiqué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23B4F0F-DBB5-DB1B-1236-60F907391A00}"/>
              </a:ext>
            </a:extLst>
          </p:cNvPr>
          <p:cNvSpPr/>
          <p:nvPr/>
        </p:nvSpPr>
        <p:spPr>
          <a:xfrm>
            <a:off x="6210144" y="3000375"/>
            <a:ext cx="5371965" cy="1657350"/>
          </a:xfrm>
          <a:prstGeom prst="roundRect">
            <a:avLst>
              <a:gd name="adj" fmla="val 1379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 Same Side Corner Rectangle 18">
            <a:extLst>
              <a:ext uri="{FF2B5EF4-FFF2-40B4-BE49-F238E27FC236}">
                <a16:creationId xmlns:a16="http://schemas.microsoft.com/office/drawing/2014/main" id="{34DCD1DC-560D-F137-A4A1-753037B53E64}"/>
              </a:ext>
            </a:extLst>
          </p:cNvPr>
          <p:cNvSpPr/>
          <p:nvPr/>
        </p:nvSpPr>
        <p:spPr>
          <a:xfrm rot="16200000">
            <a:off x="5447509" y="3763010"/>
            <a:ext cx="1657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A4F037B6-F7C1-CFE2-28CC-430937C5FC7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6838" y="3202699"/>
            <a:ext cx="342891" cy="3192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4EB84B2-1EB4-8917-5AF8-AEC19023E272}"/>
              </a:ext>
            </a:extLst>
          </p:cNvPr>
          <p:cNvSpPr txBox="1"/>
          <p:nvPr/>
        </p:nvSpPr>
        <p:spPr>
          <a:xfrm>
            <a:off x="6972125" y="3170669"/>
            <a:ext cx="1308307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err="1">
                <a:solidFill>
                  <a:srgbClr val="FFFFFF"/>
                </a:solidFill>
                <a:latin typeface="Roboto"/>
              </a:rPr>
              <a:t>Sécurisation</a:t>
            </a:r>
            <a:endParaRPr sz="16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A66FCD-D91F-6009-6E46-62D7FF378E45}"/>
              </a:ext>
            </a:extLst>
          </p:cNvPr>
          <p:cNvSpPr txBox="1"/>
          <p:nvPr/>
        </p:nvSpPr>
        <p:spPr>
          <a:xfrm>
            <a:off x="6972125" y="3608098"/>
            <a:ext cx="4381390" cy="86100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Données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anonymisées</a:t>
            </a:r>
            <a:r>
              <a:rPr sz="1400" b="0">
                <a:solidFill>
                  <a:srgbClr val="D1D5DB"/>
                </a:solidFill>
                <a:latin typeface="Roboto"/>
              </a:rPr>
              <a:t> (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EmployeeID</a:t>
            </a:r>
            <a:r>
              <a:rPr sz="1400" b="0">
                <a:solidFill>
                  <a:srgbClr val="D1D5DB"/>
                </a:solidFill>
                <a:latin typeface="Roboto"/>
              </a:rPr>
              <a:t>),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accès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restreint</a:t>
            </a:r>
            <a:r>
              <a:rPr sz="1400" b="0">
                <a:solidFill>
                  <a:srgbClr val="D1D5DB"/>
                </a:solidFill>
                <a:latin typeface="Roboto"/>
              </a:rPr>
              <a:t>,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conforme</a:t>
            </a:r>
            <a:r>
              <a:rPr sz="1400" b="0">
                <a:solidFill>
                  <a:srgbClr val="D1D5DB"/>
                </a:solidFill>
                <a:latin typeface="Roboto"/>
              </a:rPr>
              <a:t> RGPD,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seuil</a:t>
            </a:r>
            <a:r>
              <a:rPr sz="1400" b="0">
                <a:solidFill>
                  <a:srgbClr val="D1D5DB"/>
                </a:solidFill>
                <a:latin typeface="Roboto"/>
              </a:rPr>
              <a:t> minimal 50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individus</a:t>
            </a:r>
            <a:r>
              <a:rPr sz="1400" b="0">
                <a:solidFill>
                  <a:srgbClr val="D1D5DB"/>
                </a:solidFill>
                <a:latin typeface="Roboto"/>
              </a:rPr>
              <a:t> par sous-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groupe</a:t>
            </a:r>
            <a:endParaRPr sz="14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B8E7A97-4C12-FD16-6B1D-5F37DEFFE0A1}"/>
              </a:ext>
            </a:extLst>
          </p:cNvPr>
          <p:cNvSpPr/>
          <p:nvPr/>
        </p:nvSpPr>
        <p:spPr>
          <a:xfrm>
            <a:off x="609584" y="4886325"/>
            <a:ext cx="10972525" cy="1085850"/>
          </a:xfrm>
          <a:prstGeom prst="roundRect">
            <a:avLst>
              <a:gd name="adj" fmla="val 2105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2F43DFFB-0AEA-3E21-158E-DDFE4B7254DF}"/>
              </a:ext>
            </a:extLst>
          </p:cNvPr>
          <p:cNvSpPr/>
          <p:nvPr/>
        </p:nvSpPr>
        <p:spPr>
          <a:xfrm rot="16200000">
            <a:off x="132699" y="5363210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56CD3AC6-8166-8773-E869-D81112EB99C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278" y="5125599"/>
            <a:ext cx="342891" cy="2453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FC1ECCF-65FD-E9A2-F5FA-DFB8D03D8AE9}"/>
              </a:ext>
            </a:extLst>
          </p:cNvPr>
          <p:cNvSpPr txBox="1"/>
          <p:nvPr/>
        </p:nvSpPr>
        <p:spPr>
          <a:xfrm>
            <a:off x="1371565" y="5056620"/>
            <a:ext cx="2188356" cy="38331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err="1">
                <a:solidFill>
                  <a:srgbClr val="FFFFFF"/>
                </a:solidFill>
                <a:latin typeface="Roboto"/>
              </a:rPr>
              <a:t>Coût</a:t>
            </a:r>
            <a:r>
              <a:rPr sz="1600" b="1">
                <a:solidFill>
                  <a:srgbClr val="FFFFFF"/>
                </a:solidFill>
                <a:latin typeface="Roboto"/>
              </a:rPr>
              <a:t> </a:t>
            </a:r>
            <a:r>
              <a:rPr sz="1600" b="1" err="1">
                <a:solidFill>
                  <a:srgbClr val="FFFFFF"/>
                </a:solidFill>
                <a:latin typeface="Roboto"/>
              </a:rPr>
              <a:t>environnemental</a:t>
            </a:r>
            <a:endParaRPr sz="1600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BD0BBA-2C4D-02E3-A4CA-FB976CC1FCFC}"/>
              </a:ext>
            </a:extLst>
          </p:cNvPr>
          <p:cNvSpPr txBox="1"/>
          <p:nvPr/>
        </p:nvSpPr>
        <p:spPr>
          <a:xfrm>
            <a:off x="1371565" y="5464777"/>
            <a:ext cx="6498830" cy="3480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D1D5DB"/>
                </a:solidFill>
                <a:latin typeface="Roboto"/>
              </a:rPr>
              <a:t>Modèles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légers</a:t>
            </a:r>
            <a:r>
              <a:rPr sz="1400" b="0">
                <a:solidFill>
                  <a:srgbClr val="D1D5DB"/>
                </a:solidFill>
                <a:latin typeface="Roboto"/>
              </a:rPr>
              <a:t> (scikit-learn), pas de deep learning,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empreinte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carbone</a:t>
            </a:r>
            <a:r>
              <a:rPr sz="1400" b="0">
                <a:solidFill>
                  <a:srgbClr val="D1D5DB"/>
                </a:solidFill>
                <a:latin typeface="Roboto"/>
              </a:rPr>
              <a:t> </a:t>
            </a:r>
            <a:r>
              <a:rPr sz="1400" b="0" err="1">
                <a:solidFill>
                  <a:srgbClr val="D1D5DB"/>
                </a:solidFill>
                <a:latin typeface="Roboto"/>
              </a:rPr>
              <a:t>minimale</a:t>
            </a:r>
            <a:endParaRPr sz="14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1EABA22-DF3C-4D8E-CCD1-A862866B4F96}"/>
              </a:ext>
            </a:extLst>
          </p:cNvPr>
          <p:cNvSpPr/>
          <p:nvPr/>
        </p:nvSpPr>
        <p:spPr>
          <a:xfrm>
            <a:off x="609584" y="6200775"/>
            <a:ext cx="10972525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E344264B-D73B-8A63-D3CA-5261BCBB16D2}"/>
              </a:ext>
            </a:extLst>
          </p:cNvPr>
          <p:cNvSpPr/>
          <p:nvPr/>
        </p:nvSpPr>
        <p:spPr>
          <a:xfrm rot="16200000">
            <a:off x="389874" y="642048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EC4B2BA5-FC25-8BFE-091C-1D26FA5968B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079" y="6399679"/>
            <a:ext cx="190495" cy="17369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A28A70D-0B8A-44A9-2F78-2594EF61C39A}"/>
              </a:ext>
            </a:extLst>
          </p:cNvPr>
          <p:cNvSpPr txBox="1"/>
          <p:nvPr/>
        </p:nvSpPr>
        <p:spPr>
          <a:xfrm>
            <a:off x="1104872" y="6326884"/>
            <a:ext cx="5221238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E5E7EB"/>
                </a:solidFill>
                <a:latin typeface="Roboto"/>
              </a:rPr>
              <a:t>Conformité</a:t>
            </a:r>
            <a:r>
              <a:rPr sz="1400" b="0">
                <a:solidFill>
                  <a:srgbClr val="E5E7EB"/>
                </a:solidFill>
                <a:latin typeface="Roboto"/>
              </a:rPr>
              <a:t> UE : 7 exigences </a:t>
            </a:r>
            <a:r>
              <a:rPr sz="1400" b="0" err="1">
                <a:solidFill>
                  <a:srgbClr val="E5E7EB"/>
                </a:solidFill>
                <a:latin typeface="Roboto"/>
              </a:rPr>
              <a:t>d'IA</a:t>
            </a:r>
            <a:r>
              <a:rPr sz="1400" b="0">
                <a:solidFill>
                  <a:srgbClr val="E5E7EB"/>
                </a:solidFill>
                <a:latin typeface="Roboto"/>
              </a:rPr>
              <a:t> </a:t>
            </a:r>
            <a:r>
              <a:rPr sz="1400" b="0" err="1">
                <a:solidFill>
                  <a:srgbClr val="E5E7EB"/>
                </a:solidFill>
                <a:latin typeface="Roboto"/>
              </a:rPr>
              <a:t>digne</a:t>
            </a:r>
            <a:r>
              <a:rPr sz="1400" b="0">
                <a:solidFill>
                  <a:srgbClr val="E5E7EB"/>
                </a:solidFill>
                <a:latin typeface="Roboto"/>
              </a:rPr>
              <a:t> de </a:t>
            </a:r>
            <a:r>
              <a:rPr sz="1400" b="0" err="1">
                <a:solidFill>
                  <a:srgbClr val="E5E7EB"/>
                </a:solidFill>
                <a:latin typeface="Roboto"/>
              </a:rPr>
              <a:t>confiance</a:t>
            </a:r>
            <a:r>
              <a:rPr sz="1400" b="0">
                <a:solidFill>
                  <a:srgbClr val="E5E7EB"/>
                </a:solidFill>
                <a:latin typeface="Roboto"/>
              </a:rPr>
              <a:t> </a:t>
            </a:r>
            <a:r>
              <a:rPr sz="1400" b="0" err="1">
                <a:solidFill>
                  <a:srgbClr val="E5E7EB"/>
                </a:solidFill>
                <a:latin typeface="Roboto"/>
              </a:rPr>
              <a:t>respectées</a:t>
            </a:r>
            <a:endParaRPr sz="1400" b="0">
              <a:solidFill>
                <a:srgbClr val="E5E7EB"/>
              </a:solidFill>
              <a:latin typeface="Roboto"/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6FEB23CF-AD0D-6C7A-74DA-8A099B909A57}"/>
              </a:ext>
            </a:extLst>
          </p:cNvPr>
          <p:cNvSpPr txBox="1"/>
          <p:nvPr/>
        </p:nvSpPr>
        <p:spPr>
          <a:xfrm>
            <a:off x="609584" y="190084"/>
            <a:ext cx="3624647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err="1">
                <a:solidFill>
                  <a:srgbClr val="FFFFFF"/>
                </a:solidFill>
                <a:latin typeface="Poppins"/>
              </a:rPr>
              <a:t>Éthique</a:t>
            </a:r>
            <a:r>
              <a:rPr lang="fr-FR" sz="3200" b="1">
                <a:solidFill>
                  <a:srgbClr val="FFFFFF"/>
                </a:solidFill>
                <a:latin typeface="Poppins"/>
              </a:rPr>
              <a:t> - Détails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EEEEA8-7821-1F06-4E61-5A90BBEC6566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2" name="Rounded Rectangle 37">
            <a:extLst>
              <a:ext uri="{FF2B5EF4-FFF2-40B4-BE49-F238E27FC236}">
                <a16:creationId xmlns:a16="http://schemas.microsoft.com/office/drawing/2014/main" id="{24BA7E6C-A4F9-3FF4-6CC4-BA33E9D64A36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8">
            <a:extLst>
              <a:ext uri="{FF2B5EF4-FFF2-40B4-BE49-F238E27FC236}">
                <a16:creationId xmlns:a16="http://schemas.microsoft.com/office/drawing/2014/main" id="{FFBF0572-DFA9-FCE0-7E6C-E3BA28335B2D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36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3539182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D97D5083-4B09-5F73-626F-2EC2B9122AE7}"/>
              </a:ext>
            </a:extLst>
          </p:cNvPr>
          <p:cNvSpPr txBox="1"/>
          <p:nvPr/>
        </p:nvSpPr>
        <p:spPr>
          <a:xfrm>
            <a:off x="5665311" y="3101627"/>
            <a:ext cx="861070" cy="8071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588" b="1">
                <a:solidFill>
                  <a:srgbClr val="FFFFFF"/>
                </a:solidFill>
                <a:latin typeface="Poppins"/>
              </a:rPr>
              <a:t>09</a:t>
            </a:r>
            <a:r>
              <a:rPr sz="3588" b="1">
                <a:solidFill>
                  <a:srgbClr val="FFFFFF"/>
                </a:solidFill>
                <a:latin typeface="Poppins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790512-E0F4-61B1-C9A7-DAC95CCCEA3A}"/>
              </a:ext>
            </a:extLst>
          </p:cNvPr>
          <p:cNvSpPr/>
          <p:nvPr/>
        </p:nvSpPr>
        <p:spPr>
          <a:xfrm>
            <a:off x="4876678" y="4876800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288D1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F722C-8F7E-96D5-E247-9EBF04FF451B}"/>
              </a:ext>
            </a:extLst>
          </p:cNvPr>
          <p:cNvSpPr txBox="1"/>
          <p:nvPr/>
        </p:nvSpPr>
        <p:spPr>
          <a:xfrm>
            <a:off x="4677111" y="4035769"/>
            <a:ext cx="2827954" cy="6247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030"/>
              </a:lnSpc>
              <a:spcBef>
                <a:spcPts val="0"/>
              </a:spcBef>
              <a:spcAft>
                <a:spcPts val="1560"/>
              </a:spcAft>
            </a:pPr>
            <a:r>
              <a:rPr lang="fr-FR" sz="3600" b="1">
                <a:solidFill>
                  <a:srgbClr val="0288D1"/>
                </a:solidFill>
                <a:latin typeface="Poppins"/>
              </a:rPr>
              <a:t>Conclusion</a:t>
            </a:r>
          </a:p>
        </p:txBody>
      </p:sp>
      <p:pic>
        <p:nvPicPr>
          <p:cNvPr id="13" name="Picture 30" descr="image.png">
            <a:extLst>
              <a:ext uri="{FF2B5EF4-FFF2-40B4-BE49-F238E27FC236}">
                <a16:creationId xmlns:a16="http://schemas.microsoft.com/office/drawing/2014/main" id="{265D4966-1012-4032-A2B2-E37DAD3481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88461" y="2001328"/>
            <a:ext cx="805252" cy="602857"/>
          </a:xfrm>
          <a:prstGeom prst="rect">
            <a:avLst/>
          </a:prstGeom>
        </p:spPr>
      </p:pic>
      <p:sp>
        <p:nvSpPr>
          <p:cNvPr id="2" name="Rounded Rectangle 37">
            <a:extLst>
              <a:ext uri="{FF2B5EF4-FFF2-40B4-BE49-F238E27FC236}">
                <a16:creationId xmlns:a16="http://schemas.microsoft.com/office/drawing/2014/main" id="{AC7B41C7-8BA5-438C-3D9B-0443CDFE61DA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38">
            <a:extLst>
              <a:ext uri="{FF2B5EF4-FFF2-40B4-BE49-F238E27FC236}">
                <a16:creationId xmlns:a16="http://schemas.microsoft.com/office/drawing/2014/main" id="{D5656451-96D0-E04B-7656-B8E87F3B59B7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37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528285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90084"/>
            <a:ext cx="5136278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Facteurs clés d'attrition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9B271B2-DB8A-F503-0208-DAE3C29B3870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48" name="Rounded Rectangle 2">
            <a:extLst>
              <a:ext uri="{FF2B5EF4-FFF2-40B4-BE49-F238E27FC236}">
                <a16:creationId xmlns:a16="http://schemas.microsoft.com/office/drawing/2014/main" id="{4FADAEB6-8583-B353-5530-C8997BD2587A}"/>
              </a:ext>
            </a:extLst>
          </p:cNvPr>
          <p:cNvSpPr/>
          <p:nvPr/>
        </p:nvSpPr>
        <p:spPr>
          <a:xfrm>
            <a:off x="619109" y="869782"/>
            <a:ext cx="10607691" cy="4908716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3">
            <a:extLst>
              <a:ext uri="{FF2B5EF4-FFF2-40B4-BE49-F238E27FC236}">
                <a16:creationId xmlns:a16="http://schemas.microsoft.com/office/drawing/2014/main" id="{067D5E4C-137D-7B05-B3EF-6EC3FCF89A46}"/>
              </a:ext>
            </a:extLst>
          </p:cNvPr>
          <p:cNvSpPr/>
          <p:nvPr/>
        </p:nvSpPr>
        <p:spPr>
          <a:xfrm>
            <a:off x="619109" y="869781"/>
            <a:ext cx="10607691" cy="4908717"/>
          </a:xfrm>
          <a:prstGeom prst="roundRect">
            <a:avLst>
              <a:gd name="adj" fmla="val 981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">
            <a:extLst>
              <a:ext uri="{FF2B5EF4-FFF2-40B4-BE49-F238E27FC236}">
                <a16:creationId xmlns:a16="http://schemas.microsoft.com/office/drawing/2014/main" id="{7BACE767-28C8-345F-19B2-6E9BD3B3D7C0}"/>
              </a:ext>
            </a:extLst>
          </p:cNvPr>
          <p:cNvSpPr/>
          <p:nvPr/>
        </p:nvSpPr>
        <p:spPr>
          <a:xfrm>
            <a:off x="609584" y="5988218"/>
            <a:ext cx="11198987" cy="685800"/>
          </a:xfrm>
          <a:prstGeom prst="roundRect">
            <a:avLst>
              <a:gd name="adj" fmla="val 22222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 Same Side Corner Rectangle 5">
            <a:extLst>
              <a:ext uri="{FF2B5EF4-FFF2-40B4-BE49-F238E27FC236}">
                <a16:creationId xmlns:a16="http://schemas.microsoft.com/office/drawing/2014/main" id="{210052E1-CD41-1F3A-7BB6-5E116F41D569}"/>
              </a:ext>
            </a:extLst>
          </p:cNvPr>
          <p:cNvSpPr/>
          <p:nvPr/>
        </p:nvSpPr>
        <p:spPr>
          <a:xfrm rot="16200000">
            <a:off x="332724" y="6265078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" name="Picture 6" descr="image.png">
            <a:extLst>
              <a:ext uri="{FF2B5EF4-FFF2-40B4-BE49-F238E27FC236}">
                <a16:creationId xmlns:a16="http://schemas.microsoft.com/office/drawing/2014/main" id="{2B155100-7FAB-68C1-CD7C-B2BDEA9B18D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8179" y="6249875"/>
            <a:ext cx="190495" cy="162485"/>
          </a:xfrm>
          <a:prstGeom prst="rect">
            <a:avLst/>
          </a:prstGeom>
        </p:spPr>
      </p:pic>
      <p:sp>
        <p:nvSpPr>
          <p:cNvPr id="53" name="TextBox 7">
            <a:extLst>
              <a:ext uri="{FF2B5EF4-FFF2-40B4-BE49-F238E27FC236}">
                <a16:creationId xmlns:a16="http://schemas.microsoft.com/office/drawing/2014/main" id="{0C4C83E4-5146-FE8F-136C-636DF53347C7}"/>
              </a:ext>
            </a:extLst>
          </p:cNvPr>
          <p:cNvSpPr txBox="1"/>
          <p:nvPr/>
        </p:nvSpPr>
        <p:spPr>
          <a:xfrm>
            <a:off x="1028674" y="6159260"/>
            <a:ext cx="76969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1D5DB"/>
                </a:solidFill>
                <a:latin typeface="Roboto"/>
              </a:rPr>
              <a:t>Top 3 :</a:t>
            </a:r>
          </a:p>
        </p:txBody>
      </p:sp>
      <p:sp>
        <p:nvSpPr>
          <p:cNvPr id="54" name="TextBox 8">
            <a:extLst>
              <a:ext uri="{FF2B5EF4-FFF2-40B4-BE49-F238E27FC236}">
                <a16:creationId xmlns:a16="http://schemas.microsoft.com/office/drawing/2014/main" id="{B87F8BF7-8F95-BDB9-5C44-DD0D3EFD8A4F}"/>
              </a:ext>
            </a:extLst>
          </p:cNvPr>
          <p:cNvSpPr txBox="1"/>
          <p:nvPr/>
        </p:nvSpPr>
        <p:spPr>
          <a:xfrm>
            <a:off x="1705687" y="6172084"/>
            <a:ext cx="579671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FFFFFF"/>
                </a:solidFill>
                <a:latin typeface="Roboto"/>
              </a:rPr>
              <a:t>YearsWithCurrManager</a:t>
            </a:r>
            <a:r>
              <a:rPr sz="1400" b="0">
                <a:solidFill>
                  <a:srgbClr val="FFFFFF"/>
                </a:solidFill>
                <a:latin typeface="Roboto"/>
              </a:rPr>
              <a:t> (−), </a:t>
            </a:r>
            <a:r>
              <a:rPr sz="1400" b="0" err="1">
                <a:solidFill>
                  <a:srgbClr val="FFFFFF"/>
                </a:solidFill>
                <a:latin typeface="Roboto"/>
              </a:rPr>
              <a:t>avg_work_hours</a:t>
            </a:r>
            <a:r>
              <a:rPr sz="1400" b="0">
                <a:solidFill>
                  <a:srgbClr val="FFFFFF"/>
                </a:solidFill>
                <a:latin typeface="Roboto"/>
              </a:rPr>
              <a:t> (+), </a:t>
            </a:r>
            <a:r>
              <a:rPr sz="1400" b="0" err="1">
                <a:solidFill>
                  <a:srgbClr val="FFFFFF"/>
                </a:solidFill>
                <a:latin typeface="Roboto"/>
              </a:rPr>
              <a:t>TotalWorkingYears</a:t>
            </a:r>
            <a:r>
              <a:rPr sz="1400" b="0">
                <a:solidFill>
                  <a:srgbClr val="FFFFFF"/>
                </a:solidFill>
                <a:latin typeface="Roboto"/>
              </a:rPr>
              <a:t> (−)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BC5D1CB-EBBB-50DE-361C-D15764D76CF4}"/>
              </a:ext>
            </a:extLst>
          </p:cNvPr>
          <p:cNvSpPr/>
          <p:nvPr/>
        </p:nvSpPr>
        <p:spPr>
          <a:xfrm>
            <a:off x="7502402" y="6172084"/>
            <a:ext cx="9524" cy="3048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10">
            <a:extLst>
              <a:ext uri="{FF2B5EF4-FFF2-40B4-BE49-F238E27FC236}">
                <a16:creationId xmlns:a16="http://schemas.microsoft.com/office/drawing/2014/main" id="{88EBBF77-350C-3F11-7FDB-7922C99956D9}"/>
              </a:ext>
            </a:extLst>
          </p:cNvPr>
          <p:cNvSpPr/>
          <p:nvPr/>
        </p:nvSpPr>
        <p:spPr>
          <a:xfrm>
            <a:off x="7675184" y="6241052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11">
            <a:extLst>
              <a:ext uri="{FF2B5EF4-FFF2-40B4-BE49-F238E27FC236}">
                <a16:creationId xmlns:a16="http://schemas.microsoft.com/office/drawing/2014/main" id="{DB4A9071-963E-6B5C-02ED-69767E9C593B}"/>
              </a:ext>
            </a:extLst>
          </p:cNvPr>
          <p:cNvSpPr txBox="1"/>
          <p:nvPr/>
        </p:nvSpPr>
        <p:spPr>
          <a:xfrm>
            <a:off x="7821520" y="6155979"/>
            <a:ext cx="2053704" cy="3031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1D5DB"/>
                </a:solidFill>
                <a:latin typeface="Roboto"/>
              </a:rPr>
              <a:t>Rouge = </a:t>
            </a:r>
            <a:r>
              <a:rPr sz="1200" b="0" err="1">
                <a:solidFill>
                  <a:srgbClr val="D1D5DB"/>
                </a:solidFill>
                <a:latin typeface="Roboto"/>
              </a:rPr>
              <a:t>augmente</a:t>
            </a:r>
            <a:r>
              <a:rPr sz="1200" b="0">
                <a:solidFill>
                  <a:srgbClr val="D1D5DB"/>
                </a:solidFill>
                <a:latin typeface="Roboto"/>
              </a:rPr>
              <a:t> le </a:t>
            </a:r>
            <a:r>
              <a:rPr sz="1200" b="0" err="1">
                <a:solidFill>
                  <a:srgbClr val="D1D5DB"/>
                </a:solidFill>
                <a:latin typeface="Roboto"/>
              </a:rPr>
              <a:t>risque</a:t>
            </a:r>
            <a:endParaRPr sz="12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58" name="Rounded Rectangle 12">
            <a:extLst>
              <a:ext uri="{FF2B5EF4-FFF2-40B4-BE49-F238E27FC236}">
                <a16:creationId xmlns:a16="http://schemas.microsoft.com/office/drawing/2014/main" id="{13568BFB-97FE-DE8F-209F-5FBEB6E12211}"/>
              </a:ext>
            </a:extLst>
          </p:cNvPr>
          <p:cNvSpPr/>
          <p:nvPr/>
        </p:nvSpPr>
        <p:spPr>
          <a:xfrm>
            <a:off x="9856175" y="6249875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9" name="TextBox 13">
            <a:extLst>
              <a:ext uri="{FF2B5EF4-FFF2-40B4-BE49-F238E27FC236}">
                <a16:creationId xmlns:a16="http://schemas.microsoft.com/office/drawing/2014/main" id="{B339E92B-D98E-582F-12DB-2DF00578088C}"/>
              </a:ext>
            </a:extLst>
          </p:cNvPr>
          <p:cNvSpPr txBox="1"/>
          <p:nvPr/>
        </p:nvSpPr>
        <p:spPr>
          <a:xfrm>
            <a:off x="10008571" y="6173724"/>
            <a:ext cx="1622495" cy="30316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1D5DB"/>
                </a:solidFill>
                <a:latin typeface="Roboto"/>
              </a:rPr>
              <a:t>Bleu = </a:t>
            </a:r>
            <a:r>
              <a:rPr sz="1200" b="0" err="1">
                <a:solidFill>
                  <a:srgbClr val="D1D5DB"/>
                </a:solidFill>
                <a:latin typeface="Roboto"/>
              </a:rPr>
              <a:t>réduit</a:t>
            </a:r>
            <a:r>
              <a:rPr sz="1200" b="0">
                <a:solidFill>
                  <a:srgbClr val="D1D5DB"/>
                </a:solidFill>
                <a:latin typeface="Roboto"/>
              </a:rPr>
              <a:t> le </a:t>
            </a:r>
            <a:r>
              <a:rPr sz="1200" b="0" err="1">
                <a:solidFill>
                  <a:srgbClr val="D1D5DB"/>
                </a:solidFill>
                <a:latin typeface="Roboto"/>
              </a:rPr>
              <a:t>risque</a:t>
            </a:r>
            <a:endParaRPr sz="12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64" name="Rounded Rectangle 37">
            <a:extLst>
              <a:ext uri="{FF2B5EF4-FFF2-40B4-BE49-F238E27FC236}">
                <a16:creationId xmlns:a16="http://schemas.microsoft.com/office/drawing/2014/main" id="{2BE5E0F7-DB96-056C-78A8-AD7D8BD25AA2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38">
            <a:extLst>
              <a:ext uri="{FF2B5EF4-FFF2-40B4-BE49-F238E27FC236}">
                <a16:creationId xmlns:a16="http://schemas.microsoft.com/office/drawing/2014/main" id="{4FB6BA28-5581-940B-3BBB-F6CC8E70D82B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38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89F8-B9F3-961D-9507-25B10B179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95971D-E728-2FE4-7D08-86E4A30F5670}"/>
              </a:ext>
            </a:extLst>
          </p:cNvPr>
          <p:cNvSpPr txBox="1"/>
          <p:nvPr/>
        </p:nvSpPr>
        <p:spPr>
          <a:xfrm>
            <a:off x="609584" y="190084"/>
            <a:ext cx="2116220" cy="47577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3200" b="1">
                <a:solidFill>
                  <a:srgbClr val="FFFFFF"/>
                </a:solidFill>
                <a:latin typeface="Poppins"/>
              </a:rPr>
              <a:t>Synthèse</a:t>
            </a:r>
            <a:endParaRPr sz="3200" b="1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39DEE49-84F1-AD10-5027-623CE2D67ED1}"/>
              </a:ext>
            </a:extLst>
          </p:cNvPr>
          <p:cNvSpPr/>
          <p:nvPr/>
        </p:nvSpPr>
        <p:spPr>
          <a:xfrm>
            <a:off x="0" y="688967"/>
            <a:ext cx="12161520" cy="0"/>
          </a:xfrm>
          <a:prstGeom prst="rect">
            <a:avLst/>
          </a:prstGeom>
          <a:solidFill>
            <a:srgbClr val="20555F"/>
          </a:solidFill>
          <a:ln>
            <a:solidFill>
              <a:srgbClr val="20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>
              <a:ln>
                <a:solidFill>
                  <a:srgbClr val="20555F"/>
                </a:solidFill>
              </a:ln>
              <a:solidFill>
                <a:srgbClr val="20555F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C3BC25-FCDF-BF28-8E25-FF69CE1CE287}"/>
              </a:ext>
            </a:extLst>
          </p:cNvPr>
          <p:cNvSpPr/>
          <p:nvPr/>
        </p:nvSpPr>
        <p:spPr>
          <a:xfrm>
            <a:off x="619109" y="962028"/>
            <a:ext cx="3457488" cy="5800352"/>
          </a:xfrm>
          <a:prstGeom prst="roundRect">
            <a:avLst>
              <a:gd name="adj" fmla="val 8815"/>
            </a:avLst>
          </a:prstGeom>
          <a:gradFill rotWithShape="1">
            <a:gsLst>
              <a:gs pos="0">
                <a:srgbClr val="14B8A6">
                  <a:alpha val="20000"/>
                </a:srgbClr>
              </a:gs>
              <a:gs pos="100000">
                <a:srgbClr val="0D9488">
                  <a:alpha val="10000"/>
                </a:srgbClr>
              </a:gs>
            </a:gsLst>
            <a:lin ang="8100000" scaled="0"/>
          </a:gradFill>
          <a:ln w="1651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DAD0C470-6FDE-0457-13B1-8A46A30586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228" y="1252168"/>
            <a:ext cx="304792" cy="257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DCE058-6AED-17BC-BE13-B2D8DB1CC121}"/>
              </a:ext>
            </a:extLst>
          </p:cNvPr>
          <p:cNvSpPr txBox="1"/>
          <p:nvPr/>
        </p:nvSpPr>
        <p:spPr>
          <a:xfrm>
            <a:off x="1276318" y="1186645"/>
            <a:ext cx="1760354" cy="3889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 err="1">
                <a:solidFill>
                  <a:srgbClr val="FFFFFF"/>
                </a:solidFill>
                <a:latin typeface="Roboto Slab"/>
              </a:rPr>
              <a:t>RandomForest</a:t>
            </a:r>
            <a:endParaRPr b="1">
              <a:solidFill>
                <a:srgbClr val="FFFFFF"/>
              </a:solidFill>
              <a:latin typeface="Roboto Slab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7FE37D7-2A06-B474-990A-7A63FAA699BE}"/>
              </a:ext>
            </a:extLst>
          </p:cNvPr>
          <p:cNvSpPr/>
          <p:nvPr/>
        </p:nvSpPr>
        <p:spPr>
          <a:xfrm>
            <a:off x="828960" y="1669669"/>
            <a:ext cx="296220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7598E27E-CAB4-028E-1C66-858425C55EAF}"/>
              </a:ext>
            </a:extLst>
          </p:cNvPr>
          <p:cNvSpPr/>
          <p:nvPr/>
        </p:nvSpPr>
        <p:spPr>
          <a:xfrm rot="16200000">
            <a:off x="430815" y="2067814"/>
            <a:ext cx="8953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6B602-92F0-1236-EEA2-C16CC7A20675}"/>
              </a:ext>
            </a:extLst>
          </p:cNvPr>
          <p:cNvSpPr txBox="1"/>
          <p:nvPr/>
        </p:nvSpPr>
        <p:spPr>
          <a:xfrm>
            <a:off x="1009931" y="1740277"/>
            <a:ext cx="89152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Accuracy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C6A804-E92D-9CEB-C180-CEC8195F75DA}"/>
              </a:ext>
            </a:extLst>
          </p:cNvPr>
          <p:cNvSpPr txBox="1"/>
          <p:nvPr/>
        </p:nvSpPr>
        <p:spPr>
          <a:xfrm>
            <a:off x="1009931" y="2036596"/>
            <a:ext cx="784125" cy="428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5EEAD4"/>
                </a:solidFill>
                <a:latin typeface="Roboto"/>
              </a:rPr>
              <a:t>91.6%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B82671D-1B40-D636-9B54-20F6705C0980}"/>
              </a:ext>
            </a:extLst>
          </p:cNvPr>
          <p:cNvSpPr/>
          <p:nvPr/>
        </p:nvSpPr>
        <p:spPr>
          <a:xfrm>
            <a:off x="828960" y="2679318"/>
            <a:ext cx="296220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7B446F7D-F516-D11D-1E8D-FA90B484016B}"/>
              </a:ext>
            </a:extLst>
          </p:cNvPr>
          <p:cNvSpPr/>
          <p:nvPr/>
        </p:nvSpPr>
        <p:spPr>
          <a:xfrm rot="16200000">
            <a:off x="430815" y="3077463"/>
            <a:ext cx="8953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F86B84-F2FF-479A-6033-D232A3FDA1E2}"/>
              </a:ext>
            </a:extLst>
          </p:cNvPr>
          <p:cNvSpPr txBox="1"/>
          <p:nvPr/>
        </p:nvSpPr>
        <p:spPr>
          <a:xfrm>
            <a:off x="1009931" y="2749926"/>
            <a:ext cx="89313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Precision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93843F-68BD-4616-7CD2-573F98E8F1A4}"/>
              </a:ext>
            </a:extLst>
          </p:cNvPr>
          <p:cNvSpPr txBox="1"/>
          <p:nvPr/>
        </p:nvSpPr>
        <p:spPr>
          <a:xfrm>
            <a:off x="1009931" y="3046247"/>
            <a:ext cx="784125" cy="428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5EEAD4"/>
                </a:solidFill>
                <a:latin typeface="Roboto"/>
              </a:rPr>
              <a:t>75.2%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9359DE-17BF-BC22-2C94-497817D09B32}"/>
              </a:ext>
            </a:extLst>
          </p:cNvPr>
          <p:cNvSpPr/>
          <p:nvPr/>
        </p:nvSpPr>
        <p:spPr>
          <a:xfrm>
            <a:off x="828960" y="3688969"/>
            <a:ext cx="296220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872DBB33-6F81-CAD9-6054-F57C5E45A64D}"/>
              </a:ext>
            </a:extLst>
          </p:cNvPr>
          <p:cNvSpPr/>
          <p:nvPr/>
        </p:nvSpPr>
        <p:spPr>
          <a:xfrm rot="16200000">
            <a:off x="430815" y="4087114"/>
            <a:ext cx="8953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C8B1FB-2766-14FB-51DF-864A6D33C810}"/>
              </a:ext>
            </a:extLst>
          </p:cNvPr>
          <p:cNvSpPr txBox="1"/>
          <p:nvPr/>
        </p:nvSpPr>
        <p:spPr>
          <a:xfrm>
            <a:off x="1009931" y="3759577"/>
            <a:ext cx="63184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Recall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9BD310-4A7E-E70C-7FFB-86A33E8F79F1}"/>
              </a:ext>
            </a:extLst>
          </p:cNvPr>
          <p:cNvSpPr txBox="1"/>
          <p:nvPr/>
        </p:nvSpPr>
        <p:spPr>
          <a:xfrm>
            <a:off x="1009931" y="4055896"/>
            <a:ext cx="784125" cy="428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5EEAD4"/>
                </a:solidFill>
                <a:latin typeface="Roboto"/>
              </a:rPr>
              <a:t>71.4%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94DAE7C-9302-54BA-8A4F-40A3A34B1681}"/>
              </a:ext>
            </a:extLst>
          </p:cNvPr>
          <p:cNvSpPr/>
          <p:nvPr/>
        </p:nvSpPr>
        <p:spPr>
          <a:xfrm>
            <a:off x="828960" y="4698618"/>
            <a:ext cx="296220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>
            <a:extLst>
              <a:ext uri="{FF2B5EF4-FFF2-40B4-BE49-F238E27FC236}">
                <a16:creationId xmlns:a16="http://schemas.microsoft.com/office/drawing/2014/main" id="{3F358091-08EE-CE9F-D3DA-C1702109D720}"/>
              </a:ext>
            </a:extLst>
          </p:cNvPr>
          <p:cNvSpPr/>
          <p:nvPr/>
        </p:nvSpPr>
        <p:spPr>
          <a:xfrm rot="16200000">
            <a:off x="430815" y="5096763"/>
            <a:ext cx="8953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81640B-9B1C-CD55-F747-957195C41504}"/>
              </a:ext>
            </a:extLst>
          </p:cNvPr>
          <p:cNvSpPr txBox="1"/>
          <p:nvPr/>
        </p:nvSpPr>
        <p:spPr>
          <a:xfrm>
            <a:off x="1009931" y="4769226"/>
            <a:ext cx="84343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F1-score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4A831F-7737-AC9F-EFC9-7F84344714E2}"/>
              </a:ext>
            </a:extLst>
          </p:cNvPr>
          <p:cNvSpPr txBox="1"/>
          <p:nvPr/>
        </p:nvSpPr>
        <p:spPr>
          <a:xfrm>
            <a:off x="1009931" y="5065547"/>
            <a:ext cx="784125" cy="428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5EEAD4"/>
                </a:solidFill>
                <a:latin typeface="Roboto"/>
              </a:rPr>
              <a:t>73.3%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A2D544-75FD-9BA5-10E7-178975558B42}"/>
              </a:ext>
            </a:extLst>
          </p:cNvPr>
          <p:cNvSpPr/>
          <p:nvPr/>
        </p:nvSpPr>
        <p:spPr>
          <a:xfrm>
            <a:off x="828960" y="5708269"/>
            <a:ext cx="2962200" cy="895350"/>
          </a:xfrm>
          <a:prstGeom prst="roundRect">
            <a:avLst>
              <a:gd name="adj" fmla="val 170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 Same Side Corner Rectangle 23">
            <a:extLst>
              <a:ext uri="{FF2B5EF4-FFF2-40B4-BE49-F238E27FC236}">
                <a16:creationId xmlns:a16="http://schemas.microsoft.com/office/drawing/2014/main" id="{2D9577B8-881C-CC59-16E7-0396EAAE1BAF}"/>
              </a:ext>
            </a:extLst>
          </p:cNvPr>
          <p:cNvSpPr/>
          <p:nvPr/>
        </p:nvSpPr>
        <p:spPr>
          <a:xfrm rot="16200000">
            <a:off x="430815" y="6106414"/>
            <a:ext cx="8953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9A3CB8-B386-C7EF-ACC8-73CD5F06EA05}"/>
              </a:ext>
            </a:extLst>
          </p:cNvPr>
          <p:cNvSpPr txBox="1"/>
          <p:nvPr/>
        </p:nvSpPr>
        <p:spPr>
          <a:xfrm>
            <a:off x="1009931" y="5778877"/>
            <a:ext cx="498791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0">
                <a:solidFill>
                  <a:srgbClr val="D1D5DB"/>
                </a:solidFill>
                <a:latin typeface="Roboto"/>
              </a:rPr>
              <a:t>AUC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15481B-E4FC-A02D-4FAC-6A7E5632EE3D}"/>
              </a:ext>
            </a:extLst>
          </p:cNvPr>
          <p:cNvSpPr txBox="1"/>
          <p:nvPr/>
        </p:nvSpPr>
        <p:spPr>
          <a:xfrm>
            <a:off x="1009931" y="6075197"/>
            <a:ext cx="747256" cy="42819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5EEAD4"/>
                </a:solidFill>
                <a:latin typeface="Roboto"/>
              </a:rPr>
              <a:t>0.952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DF7362E-0BC7-3B5F-5B58-D93943A87EBF}"/>
              </a:ext>
            </a:extLst>
          </p:cNvPr>
          <p:cNvSpPr/>
          <p:nvPr/>
        </p:nvSpPr>
        <p:spPr>
          <a:xfrm>
            <a:off x="4371865" y="962021"/>
            <a:ext cx="3457488" cy="5800359"/>
          </a:xfrm>
          <a:prstGeom prst="roundRect">
            <a:avLst>
              <a:gd name="adj" fmla="val 8815"/>
            </a:avLst>
          </a:prstGeom>
          <a:gradFill rotWithShape="1">
            <a:gsLst>
              <a:gs pos="0">
                <a:srgbClr val="F97316">
                  <a:alpha val="20000"/>
                </a:srgbClr>
              </a:gs>
              <a:gs pos="100000">
                <a:srgbClr val="EA580C">
                  <a:alpha val="10000"/>
                </a:srgbClr>
              </a:gs>
            </a:gsLst>
            <a:lin ang="8100000" scaled="0"/>
          </a:gradFill>
          <a:ln w="1651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B07016A6-EEAA-53E2-224E-8E83CE035F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9509" y="1263891"/>
            <a:ext cx="304792" cy="23446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5926192-4DBE-A0ED-34D8-A896D5C02544}"/>
              </a:ext>
            </a:extLst>
          </p:cNvPr>
          <p:cNvSpPr txBox="1"/>
          <p:nvPr/>
        </p:nvSpPr>
        <p:spPr>
          <a:xfrm>
            <a:off x="5038599" y="1186645"/>
            <a:ext cx="1965538" cy="3889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Roboto Slab"/>
              </a:rPr>
              <a:t>Impact Business</a:t>
            </a:r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6F7D349E-8AA8-C92A-6216-71C85095B6E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509" y="1883089"/>
            <a:ext cx="228594" cy="1771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814A4A0-0D27-210D-EBCF-CE12236104DC}"/>
              </a:ext>
            </a:extLst>
          </p:cNvPr>
          <p:cNvSpPr txBox="1"/>
          <p:nvPr/>
        </p:nvSpPr>
        <p:spPr>
          <a:xfrm>
            <a:off x="4962400" y="1823019"/>
            <a:ext cx="2076146" cy="3544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Roboto"/>
              </a:rPr>
              <a:t>Aide à la </a:t>
            </a:r>
            <a:r>
              <a:rPr sz="1600" b="0" err="1">
                <a:solidFill>
                  <a:srgbClr val="FFFFFF"/>
                </a:solidFill>
                <a:latin typeface="Roboto"/>
              </a:rPr>
              <a:t>décision</a:t>
            </a:r>
            <a:r>
              <a:rPr sz="1600" b="0">
                <a:solidFill>
                  <a:srgbClr val="FFFFFF"/>
                </a:solidFill>
                <a:latin typeface="Roboto"/>
              </a:rPr>
              <a:t> RH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9D5B07-877D-5408-CACB-99FF12898EDB}"/>
              </a:ext>
            </a:extLst>
          </p:cNvPr>
          <p:cNvSpPr txBox="1"/>
          <p:nvPr/>
        </p:nvSpPr>
        <p:spPr>
          <a:xfrm>
            <a:off x="4962400" y="2099430"/>
            <a:ext cx="2752613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9CA3AF"/>
                </a:solidFill>
                <a:latin typeface="Roboto"/>
              </a:rPr>
              <a:t>Outil</a:t>
            </a:r>
            <a:r>
              <a:rPr sz="1400" b="0">
                <a:solidFill>
                  <a:srgbClr val="9CA3AF"/>
                </a:solidFill>
                <a:latin typeface="Roboto"/>
              </a:rPr>
              <a:t> </a:t>
            </a:r>
            <a:r>
              <a:rPr sz="1400" b="0" err="1">
                <a:solidFill>
                  <a:srgbClr val="9CA3AF"/>
                </a:solidFill>
                <a:latin typeface="Roboto"/>
              </a:rPr>
              <a:t>prédictif</a:t>
            </a:r>
            <a:r>
              <a:rPr sz="1400" b="0">
                <a:solidFill>
                  <a:srgbClr val="9CA3AF"/>
                </a:solidFill>
                <a:latin typeface="Roboto"/>
              </a:rPr>
              <a:t> pour les managers</a:t>
            </a:r>
          </a:p>
        </p:txBody>
      </p:sp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776EFED8-F24F-5CFE-F016-3CD97555DC6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509" y="2575557"/>
            <a:ext cx="228594" cy="12572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B7F996D-6526-1E52-F3BB-16A50066EE33}"/>
              </a:ext>
            </a:extLst>
          </p:cNvPr>
          <p:cNvSpPr txBox="1"/>
          <p:nvPr/>
        </p:nvSpPr>
        <p:spPr>
          <a:xfrm>
            <a:off x="4962400" y="2489769"/>
            <a:ext cx="2440027" cy="3544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err="1">
                <a:solidFill>
                  <a:srgbClr val="FFFFFF"/>
                </a:solidFill>
                <a:latin typeface="Roboto"/>
              </a:rPr>
              <a:t>Réduction</a:t>
            </a:r>
            <a:r>
              <a:rPr sz="1600" b="0">
                <a:solidFill>
                  <a:srgbClr val="FFFFFF"/>
                </a:solidFill>
                <a:latin typeface="Roboto"/>
              </a:rPr>
              <a:t> </a:t>
            </a:r>
            <a:r>
              <a:rPr sz="1600" b="0" err="1">
                <a:solidFill>
                  <a:srgbClr val="FFFFFF"/>
                </a:solidFill>
                <a:latin typeface="Roboto"/>
              </a:rPr>
              <a:t>coûts</a:t>
            </a:r>
            <a:r>
              <a:rPr sz="1600" b="0">
                <a:solidFill>
                  <a:srgbClr val="FFFFFF"/>
                </a:solidFill>
                <a:latin typeface="Roboto"/>
              </a:rPr>
              <a:t> turnover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B23A34-6F8A-E019-3C7F-26AF1D1CA85D}"/>
              </a:ext>
            </a:extLst>
          </p:cNvPr>
          <p:cNvSpPr txBox="1"/>
          <p:nvPr/>
        </p:nvSpPr>
        <p:spPr>
          <a:xfrm>
            <a:off x="4962400" y="2766180"/>
            <a:ext cx="294657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CA3AF"/>
                </a:solidFill>
                <a:latin typeface="Roboto"/>
              </a:rPr>
              <a:t>Identification </a:t>
            </a:r>
            <a:r>
              <a:rPr sz="1400" b="0" err="1">
                <a:solidFill>
                  <a:srgbClr val="9CA3AF"/>
                </a:solidFill>
                <a:latin typeface="Roboto"/>
              </a:rPr>
              <a:t>proac</a:t>
            </a:r>
            <a:r>
              <a:rPr lang="fr-FR" sz="1400" b="0" err="1">
                <a:solidFill>
                  <a:srgbClr val="9CA3AF"/>
                </a:solidFill>
                <a:latin typeface="Roboto"/>
              </a:rPr>
              <a:t>tive</a:t>
            </a:r>
            <a:r>
              <a:rPr lang="fr-FR" sz="1400" b="0">
                <a:solidFill>
                  <a:srgbClr val="9CA3AF"/>
                </a:solidFill>
                <a:latin typeface="Roboto"/>
              </a:rPr>
              <a:t> </a:t>
            </a:r>
            <a:r>
              <a:rPr sz="1400" b="0">
                <a:solidFill>
                  <a:srgbClr val="9CA3AF"/>
                </a:solidFill>
                <a:latin typeface="Roboto"/>
              </a:rPr>
              <a:t>des </a:t>
            </a:r>
            <a:r>
              <a:rPr sz="1400" b="0" err="1">
                <a:solidFill>
                  <a:srgbClr val="9CA3AF"/>
                </a:solidFill>
                <a:latin typeface="Roboto"/>
              </a:rPr>
              <a:t>risques</a:t>
            </a:r>
            <a:endParaRPr sz="1400" b="0">
              <a:solidFill>
                <a:srgbClr val="9CA3AF"/>
              </a:solidFill>
              <a:latin typeface="Roboto"/>
            </a:endParaRPr>
          </a:p>
        </p:txBody>
      </p:sp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0BA07CD5-D627-23F7-6D93-1E6EA9A187D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19509" y="3280233"/>
            <a:ext cx="228594" cy="4987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AE0E08C-5E85-C3DA-0FAD-93B3975BEE4A}"/>
              </a:ext>
            </a:extLst>
          </p:cNvPr>
          <p:cNvSpPr txBox="1"/>
          <p:nvPr/>
        </p:nvSpPr>
        <p:spPr>
          <a:xfrm>
            <a:off x="4962400" y="3156518"/>
            <a:ext cx="2638799" cy="35445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Roboto"/>
              </a:rPr>
              <a:t>Actions </a:t>
            </a:r>
            <a:r>
              <a:rPr sz="1600" b="0" err="1">
                <a:solidFill>
                  <a:srgbClr val="FFFFFF"/>
                </a:solidFill>
                <a:latin typeface="Roboto"/>
              </a:rPr>
              <a:t>préventives</a:t>
            </a:r>
            <a:r>
              <a:rPr sz="1600" b="0">
                <a:solidFill>
                  <a:srgbClr val="FFFFFF"/>
                </a:solidFill>
                <a:latin typeface="Roboto"/>
              </a:rPr>
              <a:t> </a:t>
            </a:r>
            <a:r>
              <a:rPr sz="1600" b="0" err="1">
                <a:solidFill>
                  <a:srgbClr val="FFFFFF"/>
                </a:solidFill>
                <a:latin typeface="Roboto"/>
              </a:rPr>
              <a:t>ciblées</a:t>
            </a:r>
            <a:endParaRPr sz="1600" b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4736D4-A6C6-A66C-5DC7-5528C3715FA6}"/>
              </a:ext>
            </a:extLst>
          </p:cNvPr>
          <p:cNvSpPr txBox="1"/>
          <p:nvPr/>
        </p:nvSpPr>
        <p:spPr>
          <a:xfrm>
            <a:off x="4962400" y="3432930"/>
            <a:ext cx="249773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9CA3AF"/>
                </a:solidFill>
                <a:latin typeface="Roboto"/>
              </a:rPr>
              <a:t>Stratégies</a:t>
            </a:r>
            <a:r>
              <a:rPr sz="1400" b="0">
                <a:solidFill>
                  <a:srgbClr val="9CA3AF"/>
                </a:solidFill>
                <a:latin typeface="Roboto"/>
              </a:rPr>
              <a:t> RH </a:t>
            </a:r>
            <a:r>
              <a:rPr sz="1400" b="0" err="1">
                <a:solidFill>
                  <a:srgbClr val="9CA3AF"/>
                </a:solidFill>
                <a:latin typeface="Roboto"/>
              </a:rPr>
              <a:t>personnalisées</a:t>
            </a:r>
            <a:endParaRPr sz="1400" b="0">
              <a:solidFill>
                <a:srgbClr val="9CA3AF"/>
              </a:solidFill>
              <a:latin typeface="Roboto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0303336-F260-D97D-CC00-71E1951AB664}"/>
              </a:ext>
            </a:extLst>
          </p:cNvPr>
          <p:cNvSpPr/>
          <p:nvPr/>
        </p:nvSpPr>
        <p:spPr>
          <a:xfrm>
            <a:off x="8124621" y="962022"/>
            <a:ext cx="3457488" cy="5800363"/>
          </a:xfrm>
          <a:prstGeom prst="roundRect">
            <a:avLst>
              <a:gd name="adj" fmla="val 8815"/>
            </a:avLst>
          </a:prstGeom>
          <a:gradFill rotWithShape="1">
            <a:gsLst>
              <a:gs pos="0">
                <a:srgbClr val="A855F7">
                  <a:alpha val="20000"/>
                </a:srgbClr>
              </a:gs>
              <a:gs pos="100000">
                <a:srgbClr val="9333EA">
                  <a:alpha val="10000"/>
                </a:srgbClr>
              </a:gs>
            </a:gsLst>
            <a:lin ang="8100000" scaled="0"/>
          </a:gradFill>
          <a:ln w="1651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99EE22DA-B426-668E-AD35-7C36D7EAAB7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72265" y="1263891"/>
            <a:ext cx="304792" cy="23446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5735FFB9-9D2C-30C4-B247-B5C3A9C17D54}"/>
              </a:ext>
            </a:extLst>
          </p:cNvPr>
          <p:cNvSpPr txBox="1"/>
          <p:nvPr/>
        </p:nvSpPr>
        <p:spPr>
          <a:xfrm>
            <a:off x="8791355" y="1186645"/>
            <a:ext cx="2140266" cy="38895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Roboto Slab"/>
              </a:rPr>
              <a:t>Pipeline </a:t>
            </a:r>
            <a:r>
              <a:rPr lang="fr-FR" b="1" err="1">
                <a:solidFill>
                  <a:srgbClr val="FFFFFF"/>
                </a:solidFill>
                <a:latin typeface="Roboto Slab"/>
              </a:rPr>
              <a:t>Compl</a:t>
            </a:r>
            <a:r>
              <a:rPr lang="fr-FR" b="1">
                <a:solidFill>
                  <a:srgbClr val="FFFFFF"/>
                </a:solidFill>
                <a:latin typeface="Roboto Slab"/>
              </a:rPr>
              <a:t>ète</a:t>
            </a:r>
            <a:endParaRPr b="1">
              <a:solidFill>
                <a:srgbClr val="FFFFFF"/>
              </a:solidFill>
              <a:latin typeface="Roboto Slab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3AF2A84-7BA8-2F67-0D47-AAEB624832B6}"/>
              </a:ext>
            </a:extLst>
          </p:cNvPr>
          <p:cNvSpPr/>
          <p:nvPr/>
        </p:nvSpPr>
        <p:spPr>
          <a:xfrm>
            <a:off x="8372265" y="1781171"/>
            <a:ext cx="1085822" cy="333375"/>
          </a:xfrm>
          <a:prstGeom prst="roundRect">
            <a:avLst>
              <a:gd name="adj" fmla="val 57137142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2D4B0B-7DF6-8022-68FD-029182D032A6}"/>
              </a:ext>
            </a:extLst>
          </p:cNvPr>
          <p:cNvSpPr txBox="1"/>
          <p:nvPr/>
        </p:nvSpPr>
        <p:spPr>
          <a:xfrm>
            <a:off x="8372265" y="1783454"/>
            <a:ext cx="1050224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Roboto"/>
              </a:rPr>
              <a:t>Exploration</a:t>
            </a:r>
          </a:p>
        </p:txBody>
      </p:sp>
      <p:pic>
        <p:nvPicPr>
          <p:cNvPr id="44" name="Picture 43" descr="image.png">
            <a:extLst>
              <a:ext uri="{FF2B5EF4-FFF2-40B4-BE49-F238E27FC236}">
                <a16:creationId xmlns:a16="http://schemas.microsoft.com/office/drawing/2014/main" id="{947ACF3A-05AC-452F-5C16-236474608B2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534286" y="1873060"/>
            <a:ext cx="190495" cy="140073"/>
          </a:xfrm>
          <a:prstGeom prst="rect">
            <a:avLst/>
          </a:prstGeom>
        </p:spPr>
      </p:pic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A8E946B7-7C69-9B93-778C-327282525755}"/>
              </a:ext>
            </a:extLst>
          </p:cNvPr>
          <p:cNvSpPr/>
          <p:nvPr/>
        </p:nvSpPr>
        <p:spPr>
          <a:xfrm>
            <a:off x="9800979" y="1781171"/>
            <a:ext cx="1114397" cy="333375"/>
          </a:xfrm>
          <a:prstGeom prst="roundRect">
            <a:avLst>
              <a:gd name="adj" fmla="val 57137142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3C42AB-D1F3-F65A-6F3F-8E7F224E90F2}"/>
              </a:ext>
            </a:extLst>
          </p:cNvPr>
          <p:cNvSpPr txBox="1"/>
          <p:nvPr/>
        </p:nvSpPr>
        <p:spPr>
          <a:xfrm>
            <a:off x="9800979" y="1783454"/>
            <a:ext cx="1079078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err="1">
                <a:solidFill>
                  <a:srgbClr val="E5E7EB"/>
                </a:solidFill>
                <a:latin typeface="Roboto"/>
              </a:rPr>
              <a:t>Préparation</a:t>
            </a:r>
            <a:endParaRPr sz="1400" b="0">
              <a:solidFill>
                <a:srgbClr val="E5E7EB"/>
              </a:solidFill>
              <a:latin typeface="Roboto"/>
            </a:endParaRPr>
          </a:p>
        </p:txBody>
      </p:sp>
      <p:sp>
        <p:nvSpPr>
          <p:cNvPr id="48" name="Rounded Rectangle 46">
            <a:extLst>
              <a:ext uri="{FF2B5EF4-FFF2-40B4-BE49-F238E27FC236}">
                <a16:creationId xmlns:a16="http://schemas.microsoft.com/office/drawing/2014/main" id="{B2D709E0-074F-65AD-D56B-36FD46C6384D}"/>
              </a:ext>
            </a:extLst>
          </p:cNvPr>
          <p:cNvSpPr/>
          <p:nvPr/>
        </p:nvSpPr>
        <p:spPr>
          <a:xfrm>
            <a:off x="8372265" y="2228847"/>
            <a:ext cx="1000099" cy="333375"/>
          </a:xfrm>
          <a:prstGeom prst="roundRect">
            <a:avLst>
              <a:gd name="adj" fmla="val 57137142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7">
            <a:extLst>
              <a:ext uri="{FF2B5EF4-FFF2-40B4-BE49-F238E27FC236}">
                <a16:creationId xmlns:a16="http://schemas.microsoft.com/office/drawing/2014/main" id="{4C604F3A-F4D9-2A96-4060-8B9F2C96DFBB}"/>
              </a:ext>
            </a:extLst>
          </p:cNvPr>
          <p:cNvSpPr txBox="1"/>
          <p:nvPr/>
        </p:nvSpPr>
        <p:spPr>
          <a:xfrm>
            <a:off x="8372265" y="2231130"/>
            <a:ext cx="958852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Roboto"/>
              </a:rPr>
              <a:t>Clustering</a:t>
            </a:r>
          </a:p>
        </p:txBody>
      </p:sp>
      <p:pic>
        <p:nvPicPr>
          <p:cNvPr id="50" name="Picture 48" descr="image.png">
            <a:extLst>
              <a:ext uri="{FF2B5EF4-FFF2-40B4-BE49-F238E27FC236}">
                <a16:creationId xmlns:a16="http://schemas.microsoft.com/office/drawing/2014/main" id="{7CB4114C-4F00-047C-AFA3-C7A93A66ED4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458088" y="2330260"/>
            <a:ext cx="190495" cy="140073"/>
          </a:xfrm>
          <a:prstGeom prst="rect">
            <a:avLst/>
          </a:prstGeom>
        </p:spPr>
      </p:pic>
      <p:sp>
        <p:nvSpPr>
          <p:cNvPr id="51" name="Rounded Rectangle 49">
            <a:extLst>
              <a:ext uri="{FF2B5EF4-FFF2-40B4-BE49-F238E27FC236}">
                <a16:creationId xmlns:a16="http://schemas.microsoft.com/office/drawing/2014/main" id="{136D2269-67DE-C57F-823B-0901A72F3953}"/>
              </a:ext>
            </a:extLst>
          </p:cNvPr>
          <p:cNvSpPr/>
          <p:nvPr/>
        </p:nvSpPr>
        <p:spPr>
          <a:xfrm>
            <a:off x="9724781" y="2228847"/>
            <a:ext cx="1266793" cy="333375"/>
          </a:xfrm>
          <a:prstGeom prst="roundRect">
            <a:avLst>
              <a:gd name="adj" fmla="val 57137142"/>
            </a:avLst>
          </a:prstGeom>
          <a:solidFill>
            <a:srgbClr val="14B8A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0">
            <a:extLst>
              <a:ext uri="{FF2B5EF4-FFF2-40B4-BE49-F238E27FC236}">
                <a16:creationId xmlns:a16="http://schemas.microsoft.com/office/drawing/2014/main" id="{675BE04C-9B55-36E5-91BB-8E8A6C463CF4}"/>
              </a:ext>
            </a:extLst>
          </p:cNvPr>
          <p:cNvSpPr txBox="1"/>
          <p:nvPr/>
        </p:nvSpPr>
        <p:spPr>
          <a:xfrm>
            <a:off x="9724781" y="2231130"/>
            <a:ext cx="1237775" cy="32880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5E7EB"/>
                </a:solidFill>
                <a:latin typeface="Roboto"/>
              </a:rPr>
              <a:t>Classification</a:t>
            </a:r>
          </a:p>
        </p:txBody>
      </p:sp>
      <p:sp>
        <p:nvSpPr>
          <p:cNvPr id="53" name="Rounded Rectangle 51">
            <a:extLst>
              <a:ext uri="{FF2B5EF4-FFF2-40B4-BE49-F238E27FC236}">
                <a16:creationId xmlns:a16="http://schemas.microsoft.com/office/drawing/2014/main" id="{4E216D5B-9AAC-974B-18E1-D1848EA23961}"/>
              </a:ext>
            </a:extLst>
          </p:cNvPr>
          <p:cNvSpPr/>
          <p:nvPr/>
        </p:nvSpPr>
        <p:spPr>
          <a:xfrm>
            <a:off x="8372265" y="2790821"/>
            <a:ext cx="2962200" cy="942975"/>
          </a:xfrm>
          <a:prstGeom prst="roundRect">
            <a:avLst>
              <a:gd name="adj" fmla="val 1616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2">
            <a:extLst>
              <a:ext uri="{FF2B5EF4-FFF2-40B4-BE49-F238E27FC236}">
                <a16:creationId xmlns:a16="http://schemas.microsoft.com/office/drawing/2014/main" id="{5ACE6F32-309C-0E50-A94D-3D72EAA4F469}"/>
              </a:ext>
            </a:extLst>
          </p:cNvPr>
          <p:cNvSpPr txBox="1"/>
          <p:nvPr/>
        </p:nvSpPr>
        <p:spPr>
          <a:xfrm>
            <a:off x="8524661" y="2899531"/>
            <a:ext cx="189660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600" b="0" err="1">
                <a:solidFill>
                  <a:srgbClr val="D1D5DB"/>
                </a:solidFill>
                <a:latin typeface="Roboto"/>
              </a:rPr>
              <a:t>Employés</a:t>
            </a:r>
            <a:r>
              <a:rPr sz="1600" b="0">
                <a:solidFill>
                  <a:srgbClr val="D1D5DB"/>
                </a:solidFill>
                <a:latin typeface="Roboto"/>
              </a:rPr>
              <a:t> </a:t>
            </a:r>
            <a:r>
              <a:rPr sz="1600" b="0" err="1">
                <a:solidFill>
                  <a:srgbClr val="D1D5DB"/>
                </a:solidFill>
                <a:latin typeface="Roboto"/>
              </a:rPr>
              <a:t>analysés</a:t>
            </a:r>
            <a:endParaRPr sz="16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55" name="TextBox 53">
            <a:extLst>
              <a:ext uri="{FF2B5EF4-FFF2-40B4-BE49-F238E27FC236}">
                <a16:creationId xmlns:a16="http://schemas.microsoft.com/office/drawing/2014/main" id="{8C4130F9-1E9C-AD34-6FA2-6DBEC436ADC9}"/>
              </a:ext>
            </a:extLst>
          </p:cNvPr>
          <p:cNvSpPr txBox="1"/>
          <p:nvPr/>
        </p:nvSpPr>
        <p:spPr>
          <a:xfrm>
            <a:off x="8524661" y="3191181"/>
            <a:ext cx="737638" cy="4089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Roboto"/>
              </a:rPr>
              <a:t>4 410</a:t>
            </a:r>
          </a:p>
        </p:txBody>
      </p:sp>
      <p:sp>
        <p:nvSpPr>
          <p:cNvPr id="56" name="Rounded Rectangle 54">
            <a:extLst>
              <a:ext uri="{FF2B5EF4-FFF2-40B4-BE49-F238E27FC236}">
                <a16:creationId xmlns:a16="http://schemas.microsoft.com/office/drawing/2014/main" id="{CE17B0C0-C393-E0A5-FEC1-F1B0B9D7B1D5}"/>
              </a:ext>
            </a:extLst>
          </p:cNvPr>
          <p:cNvSpPr/>
          <p:nvPr/>
        </p:nvSpPr>
        <p:spPr>
          <a:xfrm>
            <a:off x="8372265" y="3848096"/>
            <a:ext cx="2962200" cy="942975"/>
          </a:xfrm>
          <a:prstGeom prst="roundRect">
            <a:avLst>
              <a:gd name="adj" fmla="val 1616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5">
            <a:extLst>
              <a:ext uri="{FF2B5EF4-FFF2-40B4-BE49-F238E27FC236}">
                <a16:creationId xmlns:a16="http://schemas.microsoft.com/office/drawing/2014/main" id="{BB212FE3-6F69-992C-7879-89AFF5526674}"/>
              </a:ext>
            </a:extLst>
          </p:cNvPr>
          <p:cNvSpPr txBox="1"/>
          <p:nvPr/>
        </p:nvSpPr>
        <p:spPr>
          <a:xfrm>
            <a:off x="8524661" y="3956806"/>
            <a:ext cx="1670586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600" b="0" err="1">
                <a:solidFill>
                  <a:srgbClr val="D1D5DB"/>
                </a:solidFill>
                <a:latin typeface="Roboto"/>
              </a:rPr>
              <a:t>Colonnes</a:t>
            </a:r>
            <a:r>
              <a:rPr sz="1600" b="0">
                <a:solidFill>
                  <a:srgbClr val="D1D5DB"/>
                </a:solidFill>
                <a:latin typeface="Roboto"/>
              </a:rPr>
              <a:t> finales</a:t>
            </a:r>
          </a:p>
        </p:txBody>
      </p:sp>
      <p:sp>
        <p:nvSpPr>
          <p:cNvPr id="58" name="TextBox 56">
            <a:extLst>
              <a:ext uri="{FF2B5EF4-FFF2-40B4-BE49-F238E27FC236}">
                <a16:creationId xmlns:a16="http://schemas.microsoft.com/office/drawing/2014/main" id="{9938EDB7-EAA6-F9E2-EDEB-13C4180EB797}"/>
              </a:ext>
            </a:extLst>
          </p:cNvPr>
          <p:cNvSpPr txBox="1"/>
          <p:nvPr/>
        </p:nvSpPr>
        <p:spPr>
          <a:xfrm>
            <a:off x="8524661" y="4248455"/>
            <a:ext cx="413831" cy="4089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Roboto"/>
              </a:rPr>
              <a:t>46</a:t>
            </a:r>
            <a:endParaRPr sz="1554" b="1">
              <a:solidFill>
                <a:srgbClr val="FFFFFF"/>
              </a:solidFill>
              <a:latin typeface="Roboto"/>
            </a:endParaRPr>
          </a:p>
        </p:txBody>
      </p:sp>
      <p:sp>
        <p:nvSpPr>
          <p:cNvPr id="59" name="Rounded Rectangle 57">
            <a:extLst>
              <a:ext uri="{FF2B5EF4-FFF2-40B4-BE49-F238E27FC236}">
                <a16:creationId xmlns:a16="http://schemas.microsoft.com/office/drawing/2014/main" id="{9A994549-C94A-D3DA-A822-AEA43C827ED3}"/>
              </a:ext>
            </a:extLst>
          </p:cNvPr>
          <p:cNvSpPr/>
          <p:nvPr/>
        </p:nvSpPr>
        <p:spPr>
          <a:xfrm>
            <a:off x="8372265" y="4905372"/>
            <a:ext cx="2962200" cy="942975"/>
          </a:xfrm>
          <a:prstGeom prst="roundRect">
            <a:avLst>
              <a:gd name="adj" fmla="val 16161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8">
            <a:extLst>
              <a:ext uri="{FF2B5EF4-FFF2-40B4-BE49-F238E27FC236}">
                <a16:creationId xmlns:a16="http://schemas.microsoft.com/office/drawing/2014/main" id="{9BD64B8D-B383-4E09-9A14-0ADAB1CAA6F2}"/>
              </a:ext>
            </a:extLst>
          </p:cNvPr>
          <p:cNvSpPr txBox="1"/>
          <p:nvPr/>
        </p:nvSpPr>
        <p:spPr>
          <a:xfrm>
            <a:off x="8524661" y="5014081"/>
            <a:ext cx="1899815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600" b="0" err="1">
                <a:solidFill>
                  <a:srgbClr val="D1D5DB"/>
                </a:solidFill>
                <a:latin typeface="Roboto"/>
              </a:rPr>
              <a:t>Modèles</a:t>
            </a:r>
            <a:r>
              <a:rPr sz="1600" b="0">
                <a:solidFill>
                  <a:srgbClr val="D1D5DB"/>
                </a:solidFill>
                <a:latin typeface="Roboto"/>
              </a:rPr>
              <a:t> </a:t>
            </a:r>
            <a:r>
              <a:rPr sz="1600" b="0" err="1">
                <a:solidFill>
                  <a:srgbClr val="D1D5DB"/>
                </a:solidFill>
                <a:latin typeface="Roboto"/>
              </a:rPr>
              <a:t>comparés</a:t>
            </a:r>
            <a:endParaRPr sz="1600" b="0">
              <a:solidFill>
                <a:srgbClr val="D1D5DB"/>
              </a:solidFill>
              <a:latin typeface="Roboto"/>
            </a:endParaRPr>
          </a:p>
        </p:txBody>
      </p:sp>
      <p:sp>
        <p:nvSpPr>
          <p:cNvPr id="61" name="TextBox 59">
            <a:extLst>
              <a:ext uri="{FF2B5EF4-FFF2-40B4-BE49-F238E27FC236}">
                <a16:creationId xmlns:a16="http://schemas.microsoft.com/office/drawing/2014/main" id="{1D08D523-C239-0FE6-A341-E3B64D888E8A}"/>
              </a:ext>
            </a:extLst>
          </p:cNvPr>
          <p:cNvSpPr txBox="1"/>
          <p:nvPr/>
        </p:nvSpPr>
        <p:spPr>
          <a:xfrm>
            <a:off x="8524661" y="5305730"/>
            <a:ext cx="280782" cy="4089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66" name="Rounded Rectangle 37">
            <a:extLst>
              <a:ext uri="{FF2B5EF4-FFF2-40B4-BE49-F238E27FC236}">
                <a16:creationId xmlns:a16="http://schemas.microsoft.com/office/drawing/2014/main" id="{280FAA3D-985E-3B1C-2E8D-598C5140C130}"/>
              </a:ext>
            </a:extLst>
          </p:cNvPr>
          <p:cNvSpPr/>
          <p:nvPr/>
        </p:nvSpPr>
        <p:spPr>
          <a:xfrm>
            <a:off x="11592183" y="6269798"/>
            <a:ext cx="420590" cy="424880"/>
          </a:xfrm>
          <a:prstGeom prst="roundRect">
            <a:avLst>
              <a:gd name="adj" fmla="val 50000"/>
            </a:avLst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38">
            <a:extLst>
              <a:ext uri="{FF2B5EF4-FFF2-40B4-BE49-F238E27FC236}">
                <a16:creationId xmlns:a16="http://schemas.microsoft.com/office/drawing/2014/main" id="{699A61BE-9D87-0106-BEF0-A828513FBF08}"/>
              </a:ext>
            </a:extLst>
          </p:cNvPr>
          <p:cNvSpPr txBox="1"/>
          <p:nvPr/>
        </p:nvSpPr>
        <p:spPr>
          <a:xfrm>
            <a:off x="11610471" y="6242366"/>
            <a:ext cx="420590" cy="42488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674" b="1">
                <a:solidFill>
                  <a:srgbClr val="FFFFFF"/>
                </a:solidFill>
                <a:latin typeface="Roboto Slab"/>
              </a:rPr>
              <a:t>39</a:t>
            </a:r>
            <a:endParaRPr sz="1674" b="1">
              <a:solidFill>
                <a:srgbClr val="FFFFFF"/>
              </a:solidFill>
              <a:latin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62069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486258-365F-41D9-9C32-345D03D8218D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5ebccb-a3a5-46e6-9cf1-2caf1cc7f79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6D96EBC154B548B37B66905BC8013B" ma:contentTypeVersion="17" ma:contentTypeDescription="Crée un document." ma:contentTypeScope="" ma:versionID="87df5e453feea5a899e340ca27b89c3a">
  <xsd:schema xmlns:xsd="http://www.w3.org/2001/XMLSchema" xmlns:xs="http://www.w3.org/2001/XMLSchema" xmlns:p="http://schemas.microsoft.com/office/2006/metadata/properties" xmlns:ns3="105ebccb-a3a5-46e6-9cf1-2caf1cc7f79d" xmlns:ns4="2f3603e6-7258-4cc9-9231-e4997ee3b391" targetNamespace="http://schemas.microsoft.com/office/2006/metadata/properties" ma:root="true" ma:fieldsID="a3ad40fbb86c9b1cc2433e065bc4ec5d" ns3:_="" ns4:_="">
    <xsd:import namespace="105ebccb-a3a5-46e6-9cf1-2caf1cc7f79d"/>
    <xsd:import namespace="2f3603e6-7258-4cc9-9231-e4997ee3b39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5ebccb-a3a5-46e6-9cf1-2caf1cc7f7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3603e6-7258-4cc9-9231-e4997ee3b391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3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A496D3-104F-43B5-8AA0-8D6D570908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BE11B-E310-4D95-B768-DCF3B1CAECC6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2f3603e6-7258-4cc9-9231-e4997ee3b391"/>
    <ds:schemaRef ds:uri="105ebccb-a3a5-46e6-9cf1-2caf1cc7f79d"/>
  </ds:schemaRefs>
</ds:datastoreItem>
</file>

<file path=customXml/itemProps3.xml><?xml version="1.0" encoding="utf-8"?>
<ds:datastoreItem xmlns:ds="http://schemas.openxmlformats.org/officeDocument/2006/customXml" ds:itemID="{70F39601-357D-4B8E-B0F7-829A9744B790}">
  <ds:schemaRefs>
    <ds:schemaRef ds:uri="105ebccb-a3a5-46e6-9cf1-2caf1cc7f79d"/>
    <ds:schemaRef ds:uri="2f3603e6-7258-4cc9-9231-e4997ee3b3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1923</Words>
  <Application>Microsoft Office PowerPoint</Application>
  <PresentationFormat>Grand écran</PresentationFormat>
  <Paragraphs>482</Paragraphs>
  <Slides>39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39</vt:i4>
      </vt:variant>
    </vt:vector>
  </HeadingPairs>
  <TitlesOfParts>
    <vt:vector size="48" baseType="lpstr">
      <vt:lpstr>Aptos</vt:lpstr>
      <vt:lpstr>Aptos Narrow</vt:lpstr>
      <vt:lpstr>Arial</vt:lpstr>
      <vt:lpstr>Calibri</vt:lpstr>
      <vt:lpstr>Poppins</vt:lpstr>
      <vt:lpstr>Roboto</vt:lpstr>
      <vt:lpstr>Roboto Slab</vt:lpstr>
      <vt:lpstr>Segoe WPC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Rayan GOUADFEL</dc:creator>
  <cp:keywords/>
  <dc:description>generated using python-pptx</dc:description>
  <cp:lastModifiedBy>GOUADFEL RAYAN</cp:lastModifiedBy>
  <cp:revision>1</cp:revision>
  <dcterms:created xsi:type="dcterms:W3CDTF">2013-01-27T09:14:16Z</dcterms:created>
  <dcterms:modified xsi:type="dcterms:W3CDTF">2026-02-27T08:09:51Z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0x010100656D96EBC154B548B37B66905BC8013B</vt:lpwstr>
  </property>
</Properties>
</file>